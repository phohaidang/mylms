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56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4281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các em nhen! Sáu chương vừa qua, chúng ta chủ yếu làm việc với số — int, float, mảng số, con trỏ trỏ tới số. Nhưng trong thực tế, phần lớn dữ liệu mà chúng ta tương tác hàng ngày lại là chữ: tên người, mật khẩu, tin nhắn, email, bài đăng Facebook. Vậy câu hỏi đầu tiên tôi muốn hỏi lớp mình là: Khi các em gõ mật khẩu Wi-Fi và bấm "Kết nối", ứng dụng làm gì để biết mật khẩu đúng hay sai? Nó phải so sánh từng ký tự mà các em gõ với chuỗi mật khẩu đã lưu, đúng không? Đó chính là xử lý chuỗi ký tự — và đó là nội dung chương hôm nay!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lộ trình 5 phần mà chúng ta sẽ đi qua trong buổi hôm nay. Bắt đầu từ thực tế đời sống, rồi đi vào bản chất kỹ thuật, thực hành, và kết thúc bằng câu cầu nối sang chương tiếp theo.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em có biết mỗi ngày Google xử lý khoảng 8.5 tỷ truy vấn tìm kiếm không? Mỗi truy vấn đó là một chuỗi ký tự mà hệ thống phải phân tích, so sánh với hàng tỷ trang web. Hay gần hơn, mỗi lần các em gõ prompt cho ChatGPT, mỗi lần đăng nhập ứng dụng ngân hàng bằng tên và mật khẩu — tất cả đều là xử lý chuỗi ký tự.</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điều nhiều em sẽ bất ngờ: Ngôn ngữ C không hề có kiểu dữ liệu chuỗi sẵn như Python hay Java đâu! Trong C, một chuỗi ký tự thực chất chỉ là một mảng char kết thúc bằng ký tự đặc biệt '\0' (NULL). Điều này có nghĩa là các em không thể viết str1 = str2 để sao chép chuỗi, không thể dùng dấu == để so sánh hai chuỗi. Và nếu quên ký tự '\0' — đó là một trong những lỗi bảo mật nguy hiểm nhất trong lịch sử lập trình, gọi là buffer overflow.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câu hỏi này sẽ dẫn dắt toàn bộ buổi học hôm nay. Và câu trả lời gói gọn trong một dòng: Thư viện string.h chính là bộ công cụ vàng giúp các em làm chủ mọi thao tác với chuỗi. Hãy cùng tôi khám phá từng công cụ một nhen!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Hãy nhớ lại Chương 5, chúng ta đã học mảng 1 chiều rồi đúng không? Chuỗi ký tự chính là mảng 1 chiều mà mỗi phần tử là một ký tự (char). Điểm khác biệt duy nhất là: phần tử cuối cùng luôn phải là ký tự đặc biệt '\0', đóng vai trò như dấu chấm hết của chuỗi. Máy tính đọc từng ký tự trong mảng cho đến khi gặp '\0' thì dừng lại.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3 cách đều tạo ra cùng một chuỗi "HELLO" trong bộ nhớ. Cách 1 khá dài dòng vì phải liệt kê từng ký tự, nhưng nó giúp các em hiểu rõ bản chất. Trong thực tế, tôi khuyên các em dùng cách 2 hoặc cách 3. Cách 2 an toàn hơn vì các em kiểm soát được kích thước mảng.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hay gây nhầm lẫn nè các em. Hãy tưởng tượng các em thuê một căn phòng 30m² nhưng chỉ bày đồ 4m². strlen cho biết diện tích đồ đạc (4), còn sizeof cho biết diện tích cả căn phòng (30). Nhớ phân biệt rõ nhé!</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Và đây là lý do tại sao tôi nói mọi thứ trong lập trình đều kết nối với nhau. Chuỗi đứng trên vai hai người khổng lồ: Mảng (Chương 5) và Con Trỏ (Chương 6). Nếu các em đã hiểu mảng, thì chuỗi chỉ là mảng mà phần tử kiểu char. Nếu đã hiểu con trỏ, thì tên mảng chính là con trỏ.</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Hàm scanf với format "%s" là cách đơn giản nhất để nhập chuỗi, nhưng nó có một nhược điểm chí mạng: nó dừng lại ngay khi gặp dấu cách! Nếu em nhập "Nguyen Van A", biến str chỉ nhận được "Nguyen" thôi, phần "Van A" bị bỏ lại trong bộ đệm.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fgets là lựa chọn an toàn nhất để nhập chuỗi trong C. Nó có 3 tham số: biến chuỗi, kích thước tối đa, và luồng đầu vào (stdin là bàn phím). Điểm mạnh là nó đọc cả dấu cách, và quan trọng nhất là nó giới hạn số ký tự đọc vào, tránh tràn bộ nhớ. Tuy nhiên fgets giữ lại ký tự xuống dòng '\n' ở cuối chuỗi.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Tôi tóm gọn lại để lớp mình dễ nhớ: scanf như xe máy — nhanh gọn nhưng chỉ chở được 1 người (1 từ). fgets như xe bus — chậm hơn một chút nhưng chở được cả nhóm (cả câu có dấu cách). Trong bài tập và dự án thực tế, tôi khuyên các em luôn dùng fgets cho chuỗi nhen!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xuất chuỗi đơn giản hơn nhập nhiều. printf là hàm quen thuộc nhất rồi, chỉ cần dùng "%s" để xuất chuỗi. fputs thì tương tự nhưng đơn giản hơn, không hỗ trợ format. Bây giờ lớp mình code thử luôn nhen!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quan trọng nhất của chương hôm nay. Thư viện string.h cung cấp một bộ công cụ hoàn chỉnh để làm mọi thứ với chuỗi. Tôi chia thành 5 nhóm để các em dễ nhớ: Đo (strlen), Sánh (strcmp), Nối (strcat), Chép (strcpy), Tìm (strchr/strstr). Nhớ 5 từ này: Đo-Sánh-Nối-Chép-Tìm nhen!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sai lầm kinh điển nhất của sinh viên mới học C: Viết if (str1 == str2) để so sánh hai chuỗi. Dòng code này không hề so sánh nội dung chuỗi mà so sánh địa chỉ bộ nhớ! Phải dùng strcmp. Nếu strcmp trả về 0, hai chuỗi giống nhau.</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strcat giống như nối hai đoàn tàu lại — đoàn tàu str2 được gắn vào cuối str1. Nhưng bến (bộ nhớ str1) phải đủ chỗ để chứa cả hai đoàn tàu. strcpy thì xóa trắng str1 rồi copy toàn bộ str2 vào. Nhớ quy tắc: đích trước, nguồn sau.</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Tìm kiếm là một trong những thao tác phổ biến nhất khi xử lý chuỗi. strchr tìm một ký tự, strstr tìm cả chuỗi con. Ví dụ thực tế: Muốn kiểm tra email hợp lệ, cần tìm ký tự '@' bằng strchr. Muốn tìm từ "error" trong file log, dùng strstr.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Ngoài string.h, chúng ta còn có 2 thư viện hỗ trợ rất mạnh. ctype.h làm việc với từng ký tự đơn lẻ — kiểm tra nó là chữ hay số, chuyển hoa thành thường. stdlib.h thì chuyển đổi chuỗi sang số — ví dụ người dùng nhập "123" (chuỗi), dùng atoi để chuyển sang số nguyên 123.</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Bây giờ chúng ta thực hành luôn nhen! Ba bài này tương ứng với bài 1, 2, 3 trong sách. Tôi cho các em 15 phút. Bài 1 là quan trọng nhất vì nó giúp các em hiểu sâu bản chất chuỗi — duyệt từng ký tự cho đến khi gặp '\0'.</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nhóm bài thử thách dành cho các em muốn thử sức. Bài 7 áp dụng kỹ thuật rất hay: dùng mảng 255 phần tử để đếm tần suất xuất hiện của từng ký tự. Bài 8 kết hợp giải thuật sắp xếp với chuỗi. Ai giải được cả 3 bài này, tôi sẽ cộng điểm thưởng nhen!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tổng kết cả chương. Chuỗi = Mảng char + '\0'. Nhập dùng fgets (an toàn). Xử lý dùng string.h với 5 nhóm hàm: Đo-Sánh-Nối-Chép-Tìm. Và nhớ 5 lỗi kinh điển cần tránh — đặc biệt lỗi số 2 (dùng == so sánh chuỗi) là lỗi phổ biến nhất trong các bài kiểm tra!</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ra về, tôi để lại cho lớp mình một câu hỏi: Hôm nay chúng ta đã biết cách lưu tên sinh viên bằng chuỗi, lưu điểm bằng float, lưu tuổi bằng int. Nhưng nếu muốn gom tất cả thông tin của MỘT sinh viên vào MỘT biến duy nhất thì sao? Câu trả lời sẽ nằm ở Chương 8 — Kiểu Cấu Trúc (struct). Hẹn gặp lại lớp mình nhen!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Thế là chúng ta đã hoàn thành Chương 7 về Kiểu Chuỗi Ký Tự rồi nhen. Nhớ làm bài tập về nhà và ôn lại 5 lỗi kinh điển. Hẹn gặp lại lớp mình ở Chương 8 nhen!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55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457200" y="914400"/>
            <a:ext cx="8229600" cy="365760"/>
          </a:xfrm>
          <a:prstGeom prst="rect">
            <a:avLst/>
          </a:prstGeom>
          <a:noFill/>
          <a:ln/>
        </p:spPr>
        <p:txBody>
          <a:bodyPr wrap="square" rtlCol="0" anchor="ctr"/>
          <a:lstStyle/>
          <a:p>
            <a:pPr marL="0" indent="0" algn="ctr">
              <a:buNone/>
            </a:pPr>
            <a:r>
              <a:rPr lang="en-US" sz="1200" b="1" kern="0" spc="300" dirty="0">
                <a:solidFill>
                  <a:srgbClr val="F9A825"/>
                </a:solidFill>
                <a:latin typeface="Calibri" pitchFamily="34" charset="0"/>
                <a:ea typeface="Calibri" pitchFamily="34" charset="-122"/>
                <a:cs typeface="Calibri" pitchFamily="34" charset="-120"/>
              </a:rPr>
              <a:t>CƠ SỞ LẬP TRÌNH (ITS318) — CHƯƠNG 7</a:t>
            </a:r>
            <a:endParaRPr lang="en-US" sz="1200" dirty="0"/>
          </a:p>
        </p:txBody>
      </p:sp>
      <p:sp>
        <p:nvSpPr>
          <p:cNvPr id="4" name="Shape 2"/>
          <p:cNvSpPr/>
          <p:nvPr/>
        </p:nvSpPr>
        <p:spPr>
          <a:xfrm>
            <a:off x="2286000" y="1463040"/>
            <a:ext cx="4572000" cy="18288"/>
          </a:xfrm>
          <a:prstGeom prst="rect">
            <a:avLst/>
          </a:prstGeom>
          <a:solidFill>
            <a:srgbClr val="F9A825"/>
          </a:solidFill>
          <a:ln/>
        </p:spPr>
      </p:sp>
      <p:sp>
        <p:nvSpPr>
          <p:cNvPr id="5" name="Text 3"/>
          <p:cNvSpPr/>
          <p:nvPr/>
        </p:nvSpPr>
        <p:spPr>
          <a:xfrm>
            <a:off x="457200" y="1645920"/>
            <a:ext cx="8229600" cy="1097280"/>
          </a:xfrm>
          <a:prstGeom prst="rect">
            <a:avLst/>
          </a:prstGeom>
          <a:noFill/>
          <a:ln/>
        </p:spPr>
        <p:txBody>
          <a:bodyPr wrap="square"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KIỂU CHUỖI KÝ TỰ</a:t>
            </a:r>
            <a:endParaRPr lang="en-US" sz="3400" dirty="0"/>
          </a:p>
        </p:txBody>
      </p:sp>
      <p:sp>
        <p:nvSpPr>
          <p:cNvPr id="6" name="Text 4"/>
          <p:cNvSpPr/>
          <p:nvPr/>
        </p:nvSpPr>
        <p:spPr>
          <a:xfrm>
            <a:off x="914400" y="2834640"/>
            <a:ext cx="7315200" cy="457200"/>
          </a:xfrm>
          <a:prstGeom prst="rect">
            <a:avLst/>
          </a:prstGeom>
          <a:noFill/>
          <a:ln/>
        </p:spPr>
        <p:txBody>
          <a:bodyPr wrap="square" rtlCol="0" anchor="ctr"/>
          <a:lstStyle/>
          <a:p>
            <a:pPr marL="0" indent="0" algn="ctr">
              <a:buNone/>
            </a:pPr>
            <a:r>
              <a:rPr lang="en-US" sz="1600" i="1" dirty="0">
                <a:solidFill>
                  <a:srgbClr val="CCCCCC"/>
                </a:solidFill>
                <a:latin typeface="Georgia" pitchFamily="34" charset="0"/>
                <a:ea typeface="Georgia" pitchFamily="34" charset="-122"/>
                <a:cs typeface="Georgia" pitchFamily="34" charset="-120"/>
              </a:rPr>
              <a:t>Khi Máy Tính Bắt Đầu "Đọc Chữ"</a:t>
            </a:r>
            <a:endParaRPr lang="en-US" sz="1600" dirty="0"/>
          </a:p>
        </p:txBody>
      </p:sp>
      <p:sp>
        <p:nvSpPr>
          <p:cNvPr id="7" name="Text 5"/>
          <p:cNvSpPr/>
          <p:nvPr/>
        </p:nvSpPr>
        <p:spPr>
          <a:xfrm>
            <a:off x="457200" y="3566160"/>
            <a:ext cx="8229600" cy="320040"/>
          </a:xfrm>
          <a:prstGeom prst="rect">
            <a:avLst/>
          </a:prstGeom>
          <a:noFill/>
          <a:ln/>
        </p:spPr>
        <p:txBody>
          <a:bodyPr wrap="square" rtlCol="0" anchor="ctr"/>
          <a:lstStyle/>
          <a:p>
            <a:pPr algn="ctr"/>
            <a:r>
              <a:rPr lang="en-US" sz="1400" b="1" dirty="0">
                <a:solidFill>
                  <a:srgbClr val="F9A825"/>
                </a:solidFill>
                <a:latin typeface="Calibri" pitchFamily="34" charset="0"/>
                <a:ea typeface="Calibri" pitchFamily="34" charset="-122"/>
                <a:cs typeface="Calibri" pitchFamily="34" charset="-120"/>
              </a:rPr>
              <a:t>Giảng viên</a:t>
            </a:r>
            <a:r>
              <a:rPr lang="en-US" sz="1400" b="1">
                <a:solidFill>
                  <a:srgbClr val="F9A825"/>
                </a:solidFill>
                <a:latin typeface="Calibri" pitchFamily="34" charset="0"/>
                <a:ea typeface="Calibri" pitchFamily="34" charset="-122"/>
                <a:cs typeface="Calibri" pitchFamily="34" charset="-120"/>
              </a:rPr>
              <a:t>: Phó Hải Đăng</a:t>
            </a:r>
            <a:endParaRPr lang="en-US" sz="1400" dirty="0"/>
          </a:p>
        </p:txBody>
      </p:sp>
      <p:sp>
        <p:nvSpPr>
          <p:cNvPr id="8" name="Shape 6"/>
          <p:cNvSpPr/>
          <p:nvPr/>
        </p:nvSpPr>
        <p:spPr>
          <a:xfrm>
            <a:off x="0" y="4617720"/>
            <a:ext cx="9144000" cy="525780"/>
          </a:xfrm>
          <a:prstGeom prst="rect">
            <a:avLst/>
          </a:prstGeom>
          <a:solidFill>
            <a:srgbClr val="111A40"/>
          </a:solidFill>
          <a:ln/>
        </p:spPr>
      </p:sp>
      <p:sp>
        <p:nvSpPr>
          <p:cNvPr id="9" name="Text 7"/>
          <p:cNvSpPr/>
          <p:nvPr/>
        </p:nvSpPr>
        <p:spPr>
          <a:xfrm>
            <a:off x="457200" y="4663440"/>
            <a:ext cx="8229600" cy="411480"/>
          </a:xfrm>
          <a:prstGeom prst="rect">
            <a:avLst/>
          </a:prstGeom>
          <a:noFill/>
          <a:ln/>
        </p:spPr>
        <p:txBody>
          <a:bodyPr wrap="square" rtlCol="0" anchor="ctr"/>
          <a:lstStyle/>
          <a:p>
            <a:pPr marL="0" indent="0" algn="ctr">
              <a:buNone/>
            </a:pPr>
            <a:r>
              <a:rPr lang="en-US" sz="1000" dirty="0">
                <a:solidFill>
                  <a:srgbClr val="888888"/>
                </a:solidFill>
                <a:latin typeface="Calibri" pitchFamily="34" charset="0"/>
                <a:ea typeface="Calibri" pitchFamily="34" charset="-122"/>
                <a:cs typeface="Calibri" pitchFamily="34" charset="-120"/>
              </a:rPr>
              <a:t>Khoa Hệ thống thông tin quản lý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4" name="Shape 2"/>
          <p:cNvSpPr/>
          <p:nvPr/>
        </p:nvSpPr>
        <p:spPr>
          <a:xfrm>
            <a:off x="0" y="4800600"/>
            <a:ext cx="9144000" cy="342900"/>
          </a:xfrm>
          <a:prstGeom prst="rect">
            <a:avLst/>
          </a:prstGeom>
          <a:solidFill>
            <a:srgbClr val="1B2558"/>
          </a:solidFill>
          <a:ln/>
        </p:spPr>
      </p:sp>
      <p:sp>
        <p:nvSpPr>
          <p:cNvPr id="5" name="Text 3"/>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a:t>
            </a:r>
            <a:endParaRPr lang="en-US" sz="1000" dirty="0"/>
          </a:p>
        </p:txBody>
      </p:sp>
      <p:sp>
        <p:nvSpPr>
          <p:cNvPr id="6" name="Text 4"/>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7" name="Text 5"/>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Hành Trình Buổi Học Hôm Nay</a:t>
            </a:r>
            <a:endParaRPr lang="en-US" sz="2200" dirty="0"/>
          </a:p>
        </p:txBody>
      </p:sp>
      <p:sp>
        <p:nvSpPr>
          <p:cNvPr id="8" name="Shape 6"/>
          <p:cNvSpPr/>
          <p:nvPr/>
        </p:nvSpPr>
        <p:spPr>
          <a:xfrm>
            <a:off x="640080" y="1289304"/>
            <a:ext cx="384048" cy="384048"/>
          </a:xfrm>
          <a:prstGeom prst="ellipse">
            <a:avLst/>
          </a:prstGeom>
          <a:solidFill>
            <a:srgbClr val="C62828"/>
          </a:solidFill>
          <a:ln/>
        </p:spPr>
      </p:sp>
      <p:sp>
        <p:nvSpPr>
          <p:cNvPr id="9" name="Text 7"/>
          <p:cNvSpPr/>
          <p:nvPr/>
        </p:nvSpPr>
        <p:spPr>
          <a:xfrm>
            <a:off x="640080" y="1289304"/>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0" name="Text 8"/>
          <p:cNvSpPr/>
          <p:nvPr/>
        </p:nvSpPr>
        <p:spPr>
          <a:xfrm>
            <a:off x="1188720" y="1234440"/>
            <a:ext cx="3200400" cy="320040"/>
          </a:xfrm>
          <a:prstGeom prst="rect">
            <a:avLst/>
          </a:prstGeom>
          <a:noFill/>
          <a:ln/>
        </p:spPr>
        <p:txBody>
          <a:bodyPr wrap="square" rtlCol="0" anchor="ctr"/>
          <a:lstStyle/>
          <a:p>
            <a:pPr marL="0" indent="0">
              <a:buNone/>
            </a:pPr>
            <a:r>
              <a:rPr lang="en-US" sz="1500" b="1" dirty="0">
                <a:solidFill>
                  <a:srgbClr val="1B2558"/>
                </a:solidFill>
                <a:latin typeface="Georgia" pitchFamily="34" charset="0"/>
                <a:ea typeface="Georgia" pitchFamily="34" charset="-122"/>
                <a:cs typeface="Georgia" pitchFamily="34" charset="-120"/>
              </a:rPr>
              <a:t>SCQA Hook</a:t>
            </a:r>
            <a:endParaRPr lang="en-US" sz="1500" dirty="0"/>
          </a:p>
        </p:txBody>
      </p:sp>
      <p:sp>
        <p:nvSpPr>
          <p:cNvPr id="11" name="Text 9"/>
          <p:cNvSpPr/>
          <p:nvPr/>
        </p:nvSpPr>
        <p:spPr>
          <a:xfrm>
            <a:off x="1188720" y="1508760"/>
            <a:ext cx="6858000" cy="274320"/>
          </a:xfrm>
          <a:prstGeom prst="rect">
            <a:avLst/>
          </a:prstGeom>
          <a:noFill/>
          <a:ln/>
        </p:spPr>
        <p:txBody>
          <a:bodyPr wrap="square" rtlCol="0" anchor="ctr"/>
          <a:lstStyle/>
          <a:p>
            <a:pPr marL="0" indent="0">
              <a:buNone/>
            </a:pPr>
            <a:r>
              <a:rPr lang="en-US" sz="1000" dirty="0">
                <a:solidFill>
                  <a:srgbClr val="757575"/>
                </a:solidFill>
                <a:latin typeface="Calibri" pitchFamily="34" charset="0"/>
                <a:ea typeface="Calibri" pitchFamily="34" charset="-122"/>
                <a:cs typeface="Calibri" pitchFamily="34" charset="-120"/>
              </a:rPr>
              <a:t>Từ bài toán mật khẩu Wi-Fi đến xử lý chuỗi</a:t>
            </a:r>
            <a:endParaRPr lang="en-US" sz="1000" dirty="0"/>
          </a:p>
        </p:txBody>
      </p:sp>
      <p:sp>
        <p:nvSpPr>
          <p:cNvPr id="12" name="Shape 10"/>
          <p:cNvSpPr/>
          <p:nvPr/>
        </p:nvSpPr>
        <p:spPr>
          <a:xfrm>
            <a:off x="640080" y="1828800"/>
            <a:ext cx="7863840" cy="9144"/>
          </a:xfrm>
          <a:prstGeom prst="rect">
            <a:avLst/>
          </a:prstGeom>
          <a:solidFill>
            <a:srgbClr val="E0E0E0"/>
          </a:solidFill>
          <a:ln/>
        </p:spPr>
      </p:sp>
      <p:sp>
        <p:nvSpPr>
          <p:cNvPr id="13" name="Shape 11"/>
          <p:cNvSpPr/>
          <p:nvPr/>
        </p:nvSpPr>
        <p:spPr>
          <a:xfrm>
            <a:off x="640080" y="1947672"/>
            <a:ext cx="384048" cy="384048"/>
          </a:xfrm>
          <a:prstGeom prst="ellipse">
            <a:avLst/>
          </a:prstGeom>
          <a:solidFill>
            <a:srgbClr val="1B2558"/>
          </a:solidFill>
          <a:ln/>
        </p:spPr>
      </p:sp>
      <p:sp>
        <p:nvSpPr>
          <p:cNvPr id="14" name="Text 12"/>
          <p:cNvSpPr/>
          <p:nvPr/>
        </p:nvSpPr>
        <p:spPr>
          <a:xfrm>
            <a:off x="640080" y="1947672"/>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5" name="Text 13"/>
          <p:cNvSpPr/>
          <p:nvPr/>
        </p:nvSpPr>
        <p:spPr>
          <a:xfrm>
            <a:off x="1188720" y="1892808"/>
            <a:ext cx="3200400" cy="320040"/>
          </a:xfrm>
          <a:prstGeom prst="rect">
            <a:avLst/>
          </a:prstGeom>
          <a:noFill/>
          <a:ln/>
        </p:spPr>
        <p:txBody>
          <a:bodyPr wrap="square" rtlCol="0" anchor="ctr"/>
          <a:lstStyle/>
          <a:p>
            <a:pPr marL="0" indent="0">
              <a:buNone/>
            </a:pPr>
            <a:r>
              <a:rPr lang="en-US" sz="1500" b="1" dirty="0">
                <a:solidFill>
                  <a:srgbClr val="1B2558"/>
                </a:solidFill>
                <a:latin typeface="Georgia" pitchFamily="34" charset="0"/>
                <a:ea typeface="Georgia" pitchFamily="34" charset="-122"/>
                <a:cs typeface="Georgia" pitchFamily="34" charset="-120"/>
              </a:rPr>
              <a:t>Khai Báo &amp; Bản Chất</a:t>
            </a:r>
            <a:endParaRPr lang="en-US" sz="1500" dirty="0"/>
          </a:p>
        </p:txBody>
      </p:sp>
      <p:sp>
        <p:nvSpPr>
          <p:cNvPr id="16" name="Text 14"/>
          <p:cNvSpPr/>
          <p:nvPr/>
        </p:nvSpPr>
        <p:spPr>
          <a:xfrm>
            <a:off x="1188720" y="2167128"/>
            <a:ext cx="6858000" cy="274320"/>
          </a:xfrm>
          <a:prstGeom prst="rect">
            <a:avLst/>
          </a:prstGeom>
          <a:noFill/>
          <a:ln/>
        </p:spPr>
        <p:txBody>
          <a:bodyPr wrap="square" rtlCol="0" anchor="ctr"/>
          <a:lstStyle/>
          <a:p>
            <a:pPr marL="0" indent="0">
              <a:buNone/>
            </a:pPr>
            <a:r>
              <a:rPr lang="en-US" sz="1000" dirty="0">
                <a:solidFill>
                  <a:srgbClr val="757575"/>
                </a:solidFill>
                <a:latin typeface="Calibri" pitchFamily="34" charset="0"/>
                <a:ea typeface="Calibri" pitchFamily="34" charset="-122"/>
                <a:cs typeface="Calibri" pitchFamily="34" charset="-120"/>
              </a:rPr>
              <a:t>Chuỗi = Mảng ký tự + ký tự kết thúc '\0'</a:t>
            </a:r>
            <a:endParaRPr lang="en-US" sz="1000" dirty="0"/>
          </a:p>
        </p:txBody>
      </p:sp>
      <p:sp>
        <p:nvSpPr>
          <p:cNvPr id="17" name="Shape 15"/>
          <p:cNvSpPr/>
          <p:nvPr/>
        </p:nvSpPr>
        <p:spPr>
          <a:xfrm>
            <a:off x="640080" y="2487168"/>
            <a:ext cx="7863840" cy="9144"/>
          </a:xfrm>
          <a:prstGeom prst="rect">
            <a:avLst/>
          </a:prstGeom>
          <a:solidFill>
            <a:srgbClr val="E0E0E0"/>
          </a:solidFill>
          <a:ln/>
        </p:spPr>
      </p:sp>
      <p:sp>
        <p:nvSpPr>
          <p:cNvPr id="18" name="Shape 16"/>
          <p:cNvSpPr/>
          <p:nvPr/>
        </p:nvSpPr>
        <p:spPr>
          <a:xfrm>
            <a:off x="640080" y="2606040"/>
            <a:ext cx="384048" cy="384048"/>
          </a:xfrm>
          <a:prstGeom prst="ellipse">
            <a:avLst/>
          </a:prstGeom>
          <a:solidFill>
            <a:srgbClr val="1B2558"/>
          </a:solidFill>
          <a:ln/>
        </p:spPr>
      </p:sp>
      <p:sp>
        <p:nvSpPr>
          <p:cNvPr id="19" name="Text 17"/>
          <p:cNvSpPr/>
          <p:nvPr/>
        </p:nvSpPr>
        <p:spPr>
          <a:xfrm>
            <a:off x="640080" y="260604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0" name="Text 18"/>
          <p:cNvSpPr/>
          <p:nvPr/>
        </p:nvSpPr>
        <p:spPr>
          <a:xfrm>
            <a:off x="1188720" y="2551176"/>
            <a:ext cx="3200400" cy="320040"/>
          </a:xfrm>
          <a:prstGeom prst="rect">
            <a:avLst/>
          </a:prstGeom>
          <a:noFill/>
          <a:ln/>
        </p:spPr>
        <p:txBody>
          <a:bodyPr wrap="square" rtlCol="0" anchor="ctr"/>
          <a:lstStyle/>
          <a:p>
            <a:pPr marL="0" indent="0">
              <a:buNone/>
            </a:pPr>
            <a:r>
              <a:rPr lang="en-US" sz="1500" b="1" dirty="0">
                <a:solidFill>
                  <a:srgbClr val="1B2558"/>
                </a:solidFill>
                <a:latin typeface="Georgia" pitchFamily="34" charset="0"/>
                <a:ea typeface="Georgia" pitchFamily="34" charset="-122"/>
                <a:cs typeface="Georgia" pitchFamily="34" charset="-120"/>
              </a:rPr>
              <a:t>Nhập / Xuất Chuỗi</a:t>
            </a:r>
            <a:endParaRPr lang="en-US" sz="1500" dirty="0"/>
          </a:p>
        </p:txBody>
      </p:sp>
      <p:sp>
        <p:nvSpPr>
          <p:cNvPr id="21" name="Text 19"/>
          <p:cNvSpPr/>
          <p:nvPr/>
        </p:nvSpPr>
        <p:spPr>
          <a:xfrm>
            <a:off x="1188720" y="2825496"/>
            <a:ext cx="6858000" cy="274320"/>
          </a:xfrm>
          <a:prstGeom prst="rect">
            <a:avLst/>
          </a:prstGeom>
          <a:noFill/>
          <a:ln/>
        </p:spPr>
        <p:txBody>
          <a:bodyPr wrap="square" rtlCol="0" anchor="ctr"/>
          <a:lstStyle/>
          <a:p>
            <a:pPr marL="0" indent="0">
              <a:buNone/>
            </a:pPr>
            <a:r>
              <a:rPr lang="en-US" sz="1000" dirty="0">
                <a:solidFill>
                  <a:srgbClr val="757575"/>
                </a:solidFill>
                <a:latin typeface="Calibri" pitchFamily="34" charset="0"/>
                <a:ea typeface="Calibri" pitchFamily="34" charset="-122"/>
                <a:cs typeface="Calibri" pitchFamily="34" charset="-120"/>
              </a:rPr>
              <a:t>scanf vs fgets — chọn vũ khí phù hợp</a:t>
            </a:r>
            <a:endParaRPr lang="en-US" sz="1000" dirty="0"/>
          </a:p>
        </p:txBody>
      </p:sp>
      <p:sp>
        <p:nvSpPr>
          <p:cNvPr id="22" name="Shape 20"/>
          <p:cNvSpPr/>
          <p:nvPr/>
        </p:nvSpPr>
        <p:spPr>
          <a:xfrm>
            <a:off x="640080" y="3145536"/>
            <a:ext cx="7863840" cy="9144"/>
          </a:xfrm>
          <a:prstGeom prst="rect">
            <a:avLst/>
          </a:prstGeom>
          <a:solidFill>
            <a:srgbClr val="E0E0E0"/>
          </a:solidFill>
          <a:ln/>
        </p:spPr>
      </p:sp>
      <p:sp>
        <p:nvSpPr>
          <p:cNvPr id="23" name="Shape 21"/>
          <p:cNvSpPr/>
          <p:nvPr/>
        </p:nvSpPr>
        <p:spPr>
          <a:xfrm>
            <a:off x="640080" y="3264408"/>
            <a:ext cx="384048" cy="384048"/>
          </a:xfrm>
          <a:prstGeom prst="ellipse">
            <a:avLst/>
          </a:prstGeom>
          <a:solidFill>
            <a:srgbClr val="1B2558"/>
          </a:solidFill>
          <a:ln/>
        </p:spPr>
      </p:sp>
      <p:sp>
        <p:nvSpPr>
          <p:cNvPr id="24" name="Text 22"/>
          <p:cNvSpPr/>
          <p:nvPr/>
        </p:nvSpPr>
        <p:spPr>
          <a:xfrm>
            <a:off x="640080" y="3264408"/>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5" name="Text 23"/>
          <p:cNvSpPr/>
          <p:nvPr/>
        </p:nvSpPr>
        <p:spPr>
          <a:xfrm>
            <a:off x="1188720" y="3209544"/>
            <a:ext cx="3200400" cy="320040"/>
          </a:xfrm>
          <a:prstGeom prst="rect">
            <a:avLst/>
          </a:prstGeom>
          <a:noFill/>
          <a:ln/>
        </p:spPr>
        <p:txBody>
          <a:bodyPr wrap="square" rtlCol="0" anchor="ctr"/>
          <a:lstStyle/>
          <a:p>
            <a:pPr marL="0" indent="0">
              <a:buNone/>
            </a:pPr>
            <a:r>
              <a:rPr lang="en-US" sz="1500" b="1" dirty="0">
                <a:solidFill>
                  <a:srgbClr val="1B2558"/>
                </a:solidFill>
                <a:latin typeface="Georgia" pitchFamily="34" charset="0"/>
                <a:ea typeface="Georgia" pitchFamily="34" charset="-122"/>
                <a:cs typeface="Georgia" pitchFamily="34" charset="-120"/>
              </a:rPr>
              <a:t>Thư Viện string.h</a:t>
            </a:r>
            <a:endParaRPr lang="en-US" sz="1500" dirty="0"/>
          </a:p>
        </p:txBody>
      </p:sp>
      <p:sp>
        <p:nvSpPr>
          <p:cNvPr id="26" name="Text 24"/>
          <p:cNvSpPr/>
          <p:nvPr/>
        </p:nvSpPr>
        <p:spPr>
          <a:xfrm>
            <a:off x="1188720" y="3483864"/>
            <a:ext cx="6858000" cy="274320"/>
          </a:xfrm>
          <a:prstGeom prst="rect">
            <a:avLst/>
          </a:prstGeom>
          <a:noFill/>
          <a:ln/>
        </p:spPr>
        <p:txBody>
          <a:bodyPr wrap="square" rtlCol="0" anchor="ctr"/>
          <a:lstStyle/>
          <a:p>
            <a:pPr marL="0" indent="0">
              <a:buNone/>
            </a:pPr>
            <a:r>
              <a:rPr lang="en-US" sz="1000" dirty="0">
                <a:solidFill>
                  <a:srgbClr val="757575"/>
                </a:solidFill>
                <a:latin typeface="Calibri" pitchFamily="34" charset="0"/>
                <a:ea typeface="Calibri" pitchFamily="34" charset="-122"/>
                <a:cs typeface="Calibri" pitchFamily="34" charset="-120"/>
              </a:rPr>
              <a:t>Bộ công cụ vàng: Đo - Sánh - Nối - Chép - Tìm</a:t>
            </a:r>
            <a:endParaRPr lang="en-US" sz="1000" dirty="0"/>
          </a:p>
        </p:txBody>
      </p:sp>
      <p:sp>
        <p:nvSpPr>
          <p:cNvPr id="27" name="Shape 25"/>
          <p:cNvSpPr/>
          <p:nvPr/>
        </p:nvSpPr>
        <p:spPr>
          <a:xfrm>
            <a:off x="640080" y="3803904"/>
            <a:ext cx="7863840" cy="9144"/>
          </a:xfrm>
          <a:prstGeom prst="rect">
            <a:avLst/>
          </a:prstGeom>
          <a:solidFill>
            <a:srgbClr val="E0E0E0"/>
          </a:solidFill>
          <a:ln/>
        </p:spPr>
      </p:sp>
      <p:sp>
        <p:nvSpPr>
          <p:cNvPr id="28" name="Shape 26"/>
          <p:cNvSpPr/>
          <p:nvPr/>
        </p:nvSpPr>
        <p:spPr>
          <a:xfrm>
            <a:off x="640080" y="3922776"/>
            <a:ext cx="384048" cy="384048"/>
          </a:xfrm>
          <a:prstGeom prst="ellipse">
            <a:avLst/>
          </a:prstGeom>
          <a:solidFill>
            <a:srgbClr val="1B2558"/>
          </a:solidFill>
          <a:ln/>
        </p:spPr>
      </p:sp>
      <p:sp>
        <p:nvSpPr>
          <p:cNvPr id="29" name="Text 27"/>
          <p:cNvSpPr/>
          <p:nvPr/>
        </p:nvSpPr>
        <p:spPr>
          <a:xfrm>
            <a:off x="640080" y="3922776"/>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30" name="Text 28"/>
          <p:cNvSpPr/>
          <p:nvPr/>
        </p:nvSpPr>
        <p:spPr>
          <a:xfrm>
            <a:off x="1188720" y="3867912"/>
            <a:ext cx="3200400" cy="320040"/>
          </a:xfrm>
          <a:prstGeom prst="rect">
            <a:avLst/>
          </a:prstGeom>
          <a:noFill/>
          <a:ln/>
        </p:spPr>
        <p:txBody>
          <a:bodyPr wrap="square" rtlCol="0" anchor="ctr"/>
          <a:lstStyle/>
          <a:p>
            <a:pPr marL="0" indent="0">
              <a:buNone/>
            </a:pPr>
            <a:r>
              <a:rPr lang="en-US" sz="1500" b="1" dirty="0">
                <a:solidFill>
                  <a:srgbClr val="1B2558"/>
                </a:solidFill>
                <a:latin typeface="Georgia" pitchFamily="34" charset="0"/>
                <a:ea typeface="Georgia" pitchFamily="34" charset="-122"/>
                <a:cs typeface="Georgia" pitchFamily="34" charset="-120"/>
              </a:rPr>
              <a:t>Thực Hành &amp; Cầu Nối</a:t>
            </a:r>
            <a:endParaRPr lang="en-US" sz="1500" dirty="0"/>
          </a:p>
        </p:txBody>
      </p:sp>
      <p:sp>
        <p:nvSpPr>
          <p:cNvPr id="31" name="Text 29"/>
          <p:cNvSpPr/>
          <p:nvPr/>
        </p:nvSpPr>
        <p:spPr>
          <a:xfrm>
            <a:off x="1188720" y="4142232"/>
            <a:ext cx="6858000" cy="274320"/>
          </a:xfrm>
          <a:prstGeom prst="rect">
            <a:avLst/>
          </a:prstGeom>
          <a:noFill/>
          <a:ln/>
        </p:spPr>
        <p:txBody>
          <a:bodyPr wrap="square" rtlCol="0" anchor="ctr"/>
          <a:lstStyle/>
          <a:p>
            <a:pPr marL="0" indent="0">
              <a:buNone/>
            </a:pPr>
            <a:r>
              <a:rPr lang="en-US" sz="1000" dirty="0">
                <a:solidFill>
                  <a:srgbClr val="757575"/>
                </a:solidFill>
                <a:latin typeface="Calibri" pitchFamily="34" charset="0"/>
                <a:ea typeface="Calibri" pitchFamily="34" charset="-122"/>
                <a:cs typeface="Calibri" pitchFamily="34" charset="-120"/>
              </a:rPr>
              <a:t>Lab 3 mức + tổng kết + bridge sang Chương 8</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55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457200" y="914400"/>
            <a:ext cx="8229600" cy="1097280"/>
          </a:xfrm>
          <a:prstGeom prst="rect">
            <a:avLst/>
          </a:prstGeom>
          <a:noFill/>
          <a:ln/>
        </p:spPr>
        <p:txBody>
          <a:bodyPr wrap="square" rtlCol="0" anchor="ctr"/>
          <a:lstStyle/>
          <a:p>
            <a:pPr marL="0" indent="0" algn="ctr">
              <a:buNone/>
            </a:pPr>
            <a:r>
              <a:rPr lang="en-US" sz="7200" b="1" dirty="0">
                <a:solidFill>
                  <a:srgbClr val="F9A825"/>
                </a:solidFill>
                <a:latin typeface="Georgia" pitchFamily="34" charset="0"/>
                <a:ea typeface="Georgia" pitchFamily="34" charset="-122"/>
                <a:cs typeface="Georgia" pitchFamily="34" charset="-120"/>
              </a:rPr>
              <a:t>01</a:t>
            </a:r>
            <a:endParaRPr lang="en-US" sz="7200" dirty="0"/>
          </a:p>
        </p:txBody>
      </p:sp>
      <p:sp>
        <p:nvSpPr>
          <p:cNvPr id="4" name="Shape 2"/>
          <p:cNvSpPr/>
          <p:nvPr/>
        </p:nvSpPr>
        <p:spPr>
          <a:xfrm>
            <a:off x="3200400" y="2103120"/>
            <a:ext cx="2743200" cy="27432"/>
          </a:xfrm>
          <a:prstGeom prst="rect">
            <a:avLst/>
          </a:prstGeom>
          <a:solidFill>
            <a:srgbClr val="F9A825"/>
          </a:solidFill>
          <a:ln/>
        </p:spPr>
      </p:sp>
      <p:sp>
        <p:nvSpPr>
          <p:cNvPr id="5" name="Text 3"/>
          <p:cNvSpPr/>
          <p:nvPr/>
        </p:nvSpPr>
        <p:spPr>
          <a:xfrm>
            <a:off x="457200" y="2286000"/>
            <a:ext cx="8229600" cy="914400"/>
          </a:xfrm>
          <a:prstGeom prst="rect">
            <a:avLst/>
          </a:prstGeom>
          <a:noFill/>
          <a:ln/>
        </p:spPr>
        <p:txBody>
          <a:bodyPr wrap="square" rtlCol="0" anchor="ctr"/>
          <a:lstStyle/>
          <a:p>
            <a:pPr marL="0" indent="0" algn="ctr">
              <a:buNone/>
            </a:pPr>
            <a:r>
              <a:rPr lang="en-US" sz="2600" b="1" kern="0" spc="300" dirty="0">
                <a:solidFill>
                  <a:srgbClr val="FFFFFF"/>
                </a:solidFill>
                <a:latin typeface="Georgia" pitchFamily="34" charset="0"/>
                <a:ea typeface="Georgia" pitchFamily="34" charset="-122"/>
                <a:cs typeface="Georgia" pitchFamily="34" charset="-120"/>
              </a:rPr>
              <a:t>SCQA HOOK</a:t>
            </a:r>
            <a:endParaRPr lang="en-US" sz="2600" dirty="0"/>
          </a:p>
        </p:txBody>
      </p:sp>
      <p:sp>
        <p:nvSpPr>
          <p:cNvPr id="6" name="Text 4"/>
          <p:cNvSpPr/>
          <p:nvPr/>
        </p:nvSpPr>
        <p:spPr>
          <a:xfrm>
            <a:off x="914400" y="3291840"/>
            <a:ext cx="7315200" cy="548640"/>
          </a:xfrm>
          <a:prstGeom prst="rect">
            <a:avLst/>
          </a:prstGeom>
          <a:noFill/>
          <a:ln/>
        </p:spPr>
        <p:txBody>
          <a:bodyPr wrap="square" rtlCol="0" anchor="ctr"/>
          <a:lstStyle/>
          <a:p>
            <a:pPr marL="0" indent="0" algn="ctr">
              <a:buNone/>
            </a:pPr>
            <a:r>
              <a:rPr lang="en-US" sz="1300" i="1" dirty="0">
                <a:solidFill>
                  <a:srgbClr val="AAAAAA"/>
                </a:solidFill>
                <a:latin typeface="Calibri" pitchFamily="34" charset="0"/>
                <a:ea typeface="Calibri" pitchFamily="34" charset="-122"/>
                <a:cs typeface="Calibri" pitchFamily="34" charset="-120"/>
              </a:rPr>
              <a:t>Khởi động từ bài toán thực tế</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I: SCQA HOOK</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3</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Thế Giới Của "Chữ" — Từ Mật Khẩu Đến Chatbot</a:t>
            </a:r>
            <a:endParaRPr lang="en-US" sz="2200" dirty="0"/>
          </a:p>
        </p:txBody>
      </p:sp>
      <p:sp>
        <p:nvSpPr>
          <p:cNvPr id="9" name="Shape 7"/>
          <p:cNvSpPr/>
          <p:nvPr/>
        </p:nvSpPr>
        <p:spPr>
          <a:xfrm>
            <a:off x="457200" y="1234440"/>
            <a:ext cx="2560320" cy="3383280"/>
          </a:xfrm>
          <a:prstGeom prst="roundRect">
            <a:avLst>
              <a:gd name="adj" fmla="val 1786"/>
            </a:avLst>
          </a:prstGeom>
          <a:solidFill>
            <a:srgbClr val="E3F2FD"/>
          </a:solidFill>
          <a:ln/>
          <a:effectLst>
            <a:outerShdw blurRad="50800" dist="25400" dir="8100000" algn="bl" rotWithShape="0">
              <a:srgbClr val="000000">
                <a:alpha val="10000"/>
              </a:srgbClr>
            </a:outerShdw>
          </a:effectLst>
        </p:spPr>
      </p:sp>
      <p:sp>
        <p:nvSpPr>
          <p:cNvPr id="10" name="Shape 8"/>
          <p:cNvSpPr/>
          <p:nvPr/>
        </p:nvSpPr>
        <p:spPr>
          <a:xfrm>
            <a:off x="457200" y="1234440"/>
            <a:ext cx="54864" cy="3383280"/>
          </a:xfrm>
          <a:prstGeom prst="rect">
            <a:avLst/>
          </a:prstGeom>
          <a:solidFill>
            <a:srgbClr val="1565C0"/>
          </a:solidFill>
          <a:ln/>
        </p:spPr>
      </p:sp>
      <p:sp>
        <p:nvSpPr>
          <p:cNvPr id="11" name="Shape 9"/>
          <p:cNvSpPr/>
          <p:nvPr/>
        </p:nvSpPr>
        <p:spPr>
          <a:xfrm>
            <a:off x="640080" y="1417320"/>
            <a:ext cx="384048" cy="384048"/>
          </a:xfrm>
          <a:prstGeom prst="ellipse">
            <a:avLst/>
          </a:prstGeom>
          <a:solidFill>
            <a:srgbClr val="1565C0"/>
          </a:solidFill>
          <a:ln/>
        </p:spPr>
      </p:sp>
      <p:sp>
        <p:nvSpPr>
          <p:cNvPr id="12" name="Text 10"/>
          <p:cNvSpPr/>
          <p:nvPr/>
        </p:nvSpPr>
        <p:spPr>
          <a:xfrm>
            <a:off x="640080" y="141732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1115568" y="1417320"/>
            <a:ext cx="1645920" cy="384048"/>
          </a:xfrm>
          <a:prstGeom prst="rect">
            <a:avLst/>
          </a:prstGeom>
          <a:noFill/>
          <a:ln/>
        </p:spPr>
        <p:txBody>
          <a:bodyPr wrap="square" rtlCol="0" anchor="ctr"/>
          <a:lstStyle/>
          <a:p>
            <a:pPr marL="0" indent="0">
              <a:buNone/>
            </a:pPr>
            <a:r>
              <a:rPr lang="en-US" sz="1400" b="1" dirty="0">
                <a:solidFill>
                  <a:srgbClr val="1565C0"/>
                </a:solidFill>
                <a:latin typeface="Georgia" pitchFamily="34" charset="0"/>
                <a:ea typeface="Georgia" pitchFamily="34" charset="-122"/>
                <a:cs typeface="Georgia" pitchFamily="34" charset="-120"/>
              </a:rPr>
              <a:t>Ngân Hàng</a:t>
            </a:r>
            <a:endParaRPr lang="en-US" sz="1400" dirty="0"/>
          </a:p>
        </p:txBody>
      </p:sp>
      <p:sp>
        <p:nvSpPr>
          <p:cNvPr id="14" name="Text 12"/>
          <p:cNvSpPr/>
          <p:nvPr/>
        </p:nvSpPr>
        <p:spPr>
          <a:xfrm>
            <a:off x="640080" y="1965960"/>
            <a:ext cx="2194560" cy="2468880"/>
          </a:xfrm>
          <a:prstGeom prst="rect">
            <a:avLst/>
          </a:prstGeom>
          <a:noFill/>
          <a:ln/>
        </p:spPr>
        <p:txBody>
          <a:bodyPr wrap="square" rtlCol="0" anchor="ctr"/>
          <a:lstStyle/>
          <a:p>
            <a:pPr marL="0" indent="0">
              <a:lnSpc>
                <a:spcPct val="130000"/>
              </a:lnSpc>
              <a:buNone/>
            </a:pPr>
            <a:r>
              <a:rPr lang="en-US" dirty="0">
                <a:solidFill>
                  <a:srgbClr val="212121"/>
                </a:solidFill>
                <a:latin typeface="Calibri" pitchFamily="34" charset="0"/>
                <a:ea typeface="Calibri" pitchFamily="34" charset="-122"/>
                <a:cs typeface="Calibri" pitchFamily="34" charset="-120"/>
              </a:rPr>
              <a:t>Xác thực tên chủ tài khoản, CMND/CCCD, mã OTP — tất cả đều là chuỗi ký tự</a:t>
            </a:r>
            <a:endParaRPr lang="en-US" dirty="0"/>
          </a:p>
        </p:txBody>
      </p:sp>
      <p:sp>
        <p:nvSpPr>
          <p:cNvPr id="15" name="Shape 13"/>
          <p:cNvSpPr/>
          <p:nvPr/>
        </p:nvSpPr>
        <p:spPr>
          <a:xfrm>
            <a:off x="3291840" y="1234440"/>
            <a:ext cx="2560320" cy="3383280"/>
          </a:xfrm>
          <a:prstGeom prst="roundRect">
            <a:avLst>
              <a:gd name="adj" fmla="val 1786"/>
            </a:avLst>
          </a:prstGeom>
          <a:solidFill>
            <a:srgbClr val="E8F5E9"/>
          </a:solidFill>
          <a:ln/>
          <a:effectLst>
            <a:outerShdw blurRad="50800" dist="25400" dir="8100000" algn="bl" rotWithShape="0">
              <a:srgbClr val="000000">
                <a:alpha val="10000"/>
              </a:srgbClr>
            </a:outerShdw>
          </a:effectLst>
        </p:spPr>
      </p:sp>
      <p:sp>
        <p:nvSpPr>
          <p:cNvPr id="16" name="Shape 14"/>
          <p:cNvSpPr/>
          <p:nvPr/>
        </p:nvSpPr>
        <p:spPr>
          <a:xfrm>
            <a:off x="3291840" y="1234440"/>
            <a:ext cx="54864" cy="3383280"/>
          </a:xfrm>
          <a:prstGeom prst="rect">
            <a:avLst/>
          </a:prstGeom>
          <a:solidFill>
            <a:srgbClr val="2E7D32"/>
          </a:solidFill>
          <a:ln/>
        </p:spPr>
      </p:sp>
      <p:sp>
        <p:nvSpPr>
          <p:cNvPr id="17" name="Shape 15"/>
          <p:cNvSpPr/>
          <p:nvPr/>
        </p:nvSpPr>
        <p:spPr>
          <a:xfrm>
            <a:off x="3474720" y="1417320"/>
            <a:ext cx="384048" cy="384048"/>
          </a:xfrm>
          <a:prstGeom prst="ellipse">
            <a:avLst/>
          </a:prstGeom>
          <a:solidFill>
            <a:srgbClr val="2E7D32"/>
          </a:solidFill>
          <a:ln/>
        </p:spPr>
      </p:sp>
      <p:sp>
        <p:nvSpPr>
          <p:cNvPr id="18" name="Text 16"/>
          <p:cNvSpPr/>
          <p:nvPr/>
        </p:nvSpPr>
        <p:spPr>
          <a:xfrm>
            <a:off x="3474720" y="141732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9" name="Text 17"/>
          <p:cNvSpPr/>
          <p:nvPr/>
        </p:nvSpPr>
        <p:spPr>
          <a:xfrm>
            <a:off x="3950208" y="1417320"/>
            <a:ext cx="1645920" cy="384048"/>
          </a:xfrm>
          <a:prstGeom prst="rect">
            <a:avLst/>
          </a:prstGeom>
          <a:noFill/>
          <a:ln/>
        </p:spPr>
        <p:txBody>
          <a:bodyPr wrap="square" rtlCol="0" anchor="ctr"/>
          <a:lstStyle/>
          <a:p>
            <a:pPr marL="0" indent="0">
              <a:buNone/>
            </a:pPr>
            <a:r>
              <a:rPr lang="en-US" sz="1400" b="1" dirty="0">
                <a:solidFill>
                  <a:srgbClr val="2E7D32"/>
                </a:solidFill>
                <a:latin typeface="Georgia" pitchFamily="34" charset="0"/>
                <a:ea typeface="Georgia" pitchFamily="34" charset="-122"/>
                <a:cs typeface="Georgia" pitchFamily="34" charset="-120"/>
              </a:rPr>
              <a:t>Tìm Kiếm</a:t>
            </a:r>
            <a:endParaRPr lang="en-US" sz="1400" dirty="0"/>
          </a:p>
        </p:txBody>
      </p:sp>
      <p:sp>
        <p:nvSpPr>
          <p:cNvPr id="20" name="Text 18"/>
          <p:cNvSpPr/>
          <p:nvPr/>
        </p:nvSpPr>
        <p:spPr>
          <a:xfrm>
            <a:off x="3474720" y="1965960"/>
            <a:ext cx="2194560" cy="2468880"/>
          </a:xfrm>
          <a:prstGeom prst="rect">
            <a:avLst/>
          </a:prstGeom>
          <a:noFill/>
          <a:ln/>
        </p:spPr>
        <p:txBody>
          <a:bodyPr wrap="square" rtlCol="0" anchor="ctr"/>
          <a:lstStyle/>
          <a:p>
            <a:pPr marL="0" indent="0">
              <a:lnSpc>
                <a:spcPct val="130000"/>
              </a:lnSpc>
              <a:buNone/>
            </a:pPr>
            <a:r>
              <a:rPr lang="en-US" dirty="0">
                <a:solidFill>
                  <a:srgbClr val="212121"/>
                </a:solidFill>
                <a:latin typeface="Calibri" pitchFamily="34" charset="0"/>
                <a:ea typeface="Calibri" pitchFamily="34" charset="-122"/>
                <a:cs typeface="Calibri" pitchFamily="34" charset="-120"/>
              </a:rPr>
              <a:t>Google xử lý 8.5 tỷ truy vấn/ngày — mỗi truy vấn là một chuỗi cần phân tích</a:t>
            </a:r>
            <a:endParaRPr lang="en-US" dirty="0"/>
          </a:p>
        </p:txBody>
      </p:sp>
      <p:sp>
        <p:nvSpPr>
          <p:cNvPr id="21" name="Shape 19"/>
          <p:cNvSpPr/>
          <p:nvPr/>
        </p:nvSpPr>
        <p:spPr>
          <a:xfrm>
            <a:off x="6126480" y="1234440"/>
            <a:ext cx="2560320" cy="3383280"/>
          </a:xfrm>
          <a:prstGeom prst="roundRect">
            <a:avLst>
              <a:gd name="adj" fmla="val 1786"/>
            </a:avLst>
          </a:prstGeom>
          <a:solidFill>
            <a:srgbClr val="FFF3E0"/>
          </a:solidFill>
          <a:ln/>
          <a:effectLst>
            <a:outerShdw blurRad="50800" dist="25400" dir="8100000" algn="bl" rotWithShape="0">
              <a:srgbClr val="000000">
                <a:alpha val="10000"/>
              </a:srgbClr>
            </a:outerShdw>
          </a:effectLst>
        </p:spPr>
      </p:sp>
      <p:sp>
        <p:nvSpPr>
          <p:cNvPr id="22" name="Shape 20"/>
          <p:cNvSpPr/>
          <p:nvPr/>
        </p:nvSpPr>
        <p:spPr>
          <a:xfrm>
            <a:off x="6126480" y="1234440"/>
            <a:ext cx="54864" cy="3383280"/>
          </a:xfrm>
          <a:prstGeom prst="rect">
            <a:avLst/>
          </a:prstGeom>
          <a:solidFill>
            <a:srgbClr val="E65100"/>
          </a:solidFill>
          <a:ln/>
        </p:spPr>
      </p:sp>
      <p:sp>
        <p:nvSpPr>
          <p:cNvPr id="23" name="Shape 21"/>
          <p:cNvSpPr/>
          <p:nvPr/>
        </p:nvSpPr>
        <p:spPr>
          <a:xfrm>
            <a:off x="6309360" y="1417320"/>
            <a:ext cx="384048" cy="384048"/>
          </a:xfrm>
          <a:prstGeom prst="ellipse">
            <a:avLst/>
          </a:prstGeom>
          <a:solidFill>
            <a:srgbClr val="E65100"/>
          </a:solidFill>
          <a:ln/>
        </p:spPr>
      </p:sp>
      <p:sp>
        <p:nvSpPr>
          <p:cNvPr id="24" name="Text 22"/>
          <p:cNvSpPr/>
          <p:nvPr/>
        </p:nvSpPr>
        <p:spPr>
          <a:xfrm>
            <a:off x="6309360" y="141732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5" name="Text 23"/>
          <p:cNvSpPr/>
          <p:nvPr/>
        </p:nvSpPr>
        <p:spPr>
          <a:xfrm>
            <a:off x="6784848" y="1417320"/>
            <a:ext cx="1645920" cy="384048"/>
          </a:xfrm>
          <a:prstGeom prst="rect">
            <a:avLst/>
          </a:prstGeom>
          <a:noFill/>
          <a:ln/>
        </p:spPr>
        <p:txBody>
          <a:bodyPr wrap="square" rtlCol="0" anchor="ctr"/>
          <a:lstStyle/>
          <a:p>
            <a:pPr marL="0" indent="0">
              <a:buNone/>
            </a:pPr>
            <a:r>
              <a:rPr lang="en-US" sz="1400" b="1" dirty="0">
                <a:solidFill>
                  <a:srgbClr val="E65100"/>
                </a:solidFill>
                <a:latin typeface="Georgia" pitchFamily="34" charset="0"/>
                <a:ea typeface="Georgia" pitchFamily="34" charset="-122"/>
                <a:cs typeface="Georgia" pitchFamily="34" charset="-120"/>
              </a:rPr>
              <a:t>AI &amp; Chat</a:t>
            </a:r>
            <a:endParaRPr lang="en-US" sz="1400" dirty="0"/>
          </a:p>
        </p:txBody>
      </p:sp>
      <p:sp>
        <p:nvSpPr>
          <p:cNvPr id="26" name="Text 24"/>
          <p:cNvSpPr/>
          <p:nvPr/>
        </p:nvSpPr>
        <p:spPr>
          <a:xfrm>
            <a:off x="6309360" y="1965960"/>
            <a:ext cx="2194560" cy="2468880"/>
          </a:xfrm>
          <a:prstGeom prst="rect">
            <a:avLst/>
          </a:prstGeom>
          <a:noFill/>
          <a:ln/>
        </p:spPr>
        <p:txBody>
          <a:bodyPr wrap="square" rtlCol="0" anchor="ctr"/>
          <a:lstStyle/>
          <a:p>
            <a:pPr marL="0" indent="0">
              <a:lnSpc>
                <a:spcPct val="130000"/>
              </a:lnSpc>
              <a:buNone/>
            </a:pPr>
            <a:r>
              <a:rPr lang="en-US" dirty="0">
                <a:solidFill>
                  <a:srgbClr val="212121"/>
                </a:solidFill>
                <a:latin typeface="Calibri" pitchFamily="34" charset="0"/>
                <a:ea typeface="Calibri" pitchFamily="34" charset="-122"/>
                <a:cs typeface="Calibri" pitchFamily="34" charset="-120"/>
              </a:rPr>
              <a:t>Mọi prompt gõ cho ChatGPT, mọi tin nhắn Zalo — đều là chuỗi ký tự cần xử lý</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I: SCQA HOOK</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4</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Chuỗi Ký Tự Trong C — Không Có "Miễn Phí"</a:t>
            </a:r>
            <a:endParaRPr lang="en-US" sz="2200" dirty="0"/>
          </a:p>
        </p:txBody>
      </p:sp>
      <p:sp>
        <p:nvSpPr>
          <p:cNvPr id="9" name="Shape 7"/>
          <p:cNvSpPr/>
          <p:nvPr/>
        </p:nvSpPr>
        <p:spPr>
          <a:xfrm>
            <a:off x="483711" y="1234440"/>
            <a:ext cx="8229600" cy="1951924"/>
          </a:xfrm>
          <a:prstGeom prst="rect">
            <a:avLst/>
          </a:prstGeom>
          <a:solidFill>
            <a:srgbClr val="FFEBEE"/>
          </a:solidFill>
          <a:ln/>
          <a:effectLst>
            <a:outerShdw blurRad="50800" dist="25400" dir="8100000" algn="bl" rotWithShape="0">
              <a:srgbClr val="000000">
                <a:alpha val="10000"/>
              </a:srgbClr>
            </a:outerShdw>
          </a:effectLst>
        </p:spPr>
      </p:sp>
      <p:sp>
        <p:nvSpPr>
          <p:cNvPr id="10" name="Shape 8"/>
          <p:cNvSpPr/>
          <p:nvPr/>
        </p:nvSpPr>
        <p:spPr>
          <a:xfrm>
            <a:off x="457200" y="1234440"/>
            <a:ext cx="8229600" cy="347472"/>
          </a:xfrm>
          <a:prstGeom prst="rect">
            <a:avLst/>
          </a:prstGeom>
          <a:solidFill>
            <a:srgbClr val="C62828"/>
          </a:solidFill>
          <a:ln/>
        </p:spPr>
      </p:sp>
      <p:sp>
        <p:nvSpPr>
          <p:cNvPr id="11" name="Text 9"/>
          <p:cNvSpPr/>
          <p:nvPr/>
        </p:nvSpPr>
        <p:spPr>
          <a:xfrm>
            <a:off x="594360" y="1252728"/>
            <a:ext cx="7955280" cy="310896"/>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NGHỊCH LÝ: C KHÔNG CÓ KIỂU STRING!</a:t>
            </a:r>
            <a:endParaRPr lang="en-US" sz="1300" dirty="0"/>
          </a:p>
        </p:txBody>
      </p:sp>
      <p:sp>
        <p:nvSpPr>
          <p:cNvPr id="12" name="Text 10"/>
          <p:cNvSpPr/>
          <p:nvPr/>
        </p:nvSpPr>
        <p:spPr>
          <a:xfrm>
            <a:off x="640080" y="1645919"/>
            <a:ext cx="7863840" cy="1458787"/>
          </a:xfrm>
          <a:prstGeom prst="rect">
            <a:avLst/>
          </a:prstGeom>
          <a:noFill/>
          <a:ln/>
        </p:spPr>
        <p:txBody>
          <a:bodyPr wrap="square" rtlCol="0" anchor="ctr"/>
          <a:lstStyle/>
          <a:p>
            <a:pPr>
              <a:lnSpc>
                <a:spcPct val="140000"/>
              </a:lnSpc>
            </a:pPr>
            <a:r>
              <a:rPr lang="en-US" sz="1600">
                <a:solidFill>
                  <a:srgbClr val="212121"/>
                </a:solidFill>
                <a:latin typeface="Calibri" pitchFamily="34" charset="0"/>
                <a:ea typeface="Calibri" pitchFamily="34" charset="-122"/>
                <a:cs typeface="Calibri" pitchFamily="34" charset="-120"/>
              </a:rPr>
              <a:t>→ Python</a:t>
            </a:r>
            <a:r>
              <a:rPr lang="en-US" sz="1600" dirty="0">
                <a:solidFill>
                  <a:srgbClr val="212121"/>
                </a:solidFill>
                <a:latin typeface="Calibri" pitchFamily="34" charset="0"/>
                <a:ea typeface="Calibri" pitchFamily="34" charset="-122"/>
                <a:cs typeface="Calibri" pitchFamily="34" charset="-120"/>
              </a:rPr>
              <a:t>, Java có kiểu String sẵn, rất dễ dùng</a:t>
            </a:r>
            <a:endParaRPr lang="en-US" sz="1600" dirty="0"/>
          </a:p>
          <a:p>
            <a:pPr>
              <a:lnSpc>
                <a:spcPct val="140000"/>
              </a:lnSpc>
            </a:pPr>
            <a:r>
              <a:rPr lang="en-US" sz="1600">
                <a:solidFill>
                  <a:srgbClr val="212121"/>
                </a:solidFill>
                <a:latin typeface="Calibri" pitchFamily="34" charset="0"/>
                <a:ea typeface="Calibri" pitchFamily="34" charset="-122"/>
                <a:cs typeface="Calibri" pitchFamily="34" charset="-120"/>
              </a:rPr>
              <a:t>→ C </a:t>
            </a:r>
            <a:r>
              <a:rPr lang="en-US" sz="1600" dirty="0">
                <a:solidFill>
                  <a:srgbClr val="212121"/>
                </a:solidFill>
                <a:latin typeface="Calibri" pitchFamily="34" charset="0"/>
                <a:ea typeface="Calibri" pitchFamily="34" charset="-122"/>
                <a:cs typeface="Calibri" pitchFamily="34" charset="-120"/>
              </a:rPr>
              <a:t>thì không! Chuỗi trong C chỉ là mảng char kết thúc bằng '\0'</a:t>
            </a:r>
            <a:endParaRPr lang="en-US" sz="1600" dirty="0"/>
          </a:p>
          <a:p>
            <a:pPr>
              <a:lnSpc>
                <a:spcPct val="140000"/>
              </a:lnSpc>
            </a:pPr>
            <a:r>
              <a:rPr lang="en-US" sz="1600">
                <a:solidFill>
                  <a:srgbClr val="212121"/>
                </a:solidFill>
                <a:latin typeface="Calibri" pitchFamily="34" charset="0"/>
                <a:ea typeface="Calibri" pitchFamily="34" charset="-122"/>
                <a:cs typeface="Calibri" pitchFamily="34" charset="-120"/>
              </a:rPr>
              <a:t>→ Không </a:t>
            </a:r>
            <a:r>
              <a:rPr lang="en-US" sz="1600" dirty="0">
                <a:solidFill>
                  <a:srgbClr val="212121"/>
                </a:solidFill>
                <a:latin typeface="Calibri" pitchFamily="34" charset="0"/>
                <a:ea typeface="Calibri" pitchFamily="34" charset="-122"/>
                <a:cs typeface="Calibri" pitchFamily="34" charset="-120"/>
              </a:rPr>
              <a:t>thể gán str1 = str2, không thể so sánh bằng ==</a:t>
            </a:r>
            <a:endParaRPr lang="en-US" sz="1600" dirty="0"/>
          </a:p>
          <a:p>
            <a:pPr>
              <a:lnSpc>
                <a:spcPct val="140000"/>
              </a:lnSpc>
            </a:pPr>
            <a:r>
              <a:rPr lang="en-US" sz="1600">
                <a:solidFill>
                  <a:srgbClr val="212121"/>
                </a:solidFill>
                <a:latin typeface="Calibri" pitchFamily="34" charset="0"/>
                <a:ea typeface="Calibri" pitchFamily="34" charset="-122"/>
                <a:cs typeface="Calibri" pitchFamily="34" charset="-120"/>
              </a:rPr>
              <a:t>→ Quên </a:t>
            </a:r>
            <a:r>
              <a:rPr lang="en-US" sz="1600" dirty="0">
                <a:solidFill>
                  <a:srgbClr val="212121"/>
                </a:solidFill>
                <a:latin typeface="Calibri" pitchFamily="34" charset="0"/>
                <a:ea typeface="Calibri" pitchFamily="34" charset="-122"/>
                <a:cs typeface="Calibri" pitchFamily="34" charset="-120"/>
              </a:rPr>
              <a:t>'\0' dẫn đến buffer overflow — lỗ hổng bảo mật nguy hiểm</a:t>
            </a:r>
            <a:endParaRPr lang="en-US" sz="1600" dirty="0"/>
          </a:p>
        </p:txBody>
      </p:sp>
      <p:sp>
        <p:nvSpPr>
          <p:cNvPr id="13" name="Shape 11"/>
          <p:cNvSpPr/>
          <p:nvPr/>
        </p:nvSpPr>
        <p:spPr>
          <a:xfrm>
            <a:off x="457200" y="3296093"/>
            <a:ext cx="8229600" cy="1230187"/>
          </a:xfrm>
          <a:prstGeom prst="rect">
            <a:avLst/>
          </a:prstGeom>
          <a:solidFill>
            <a:srgbClr val="E3F2FD"/>
          </a:solidFill>
          <a:ln/>
          <a:effectLst>
            <a:outerShdw blurRad="38100" dist="12700" dir="8100000" algn="bl" rotWithShape="0">
              <a:srgbClr val="000000">
                <a:alpha val="8000"/>
              </a:srgbClr>
            </a:outerShdw>
          </a:effectLst>
        </p:spPr>
      </p:sp>
      <p:sp>
        <p:nvSpPr>
          <p:cNvPr id="14" name="Shape 12"/>
          <p:cNvSpPr/>
          <p:nvPr/>
        </p:nvSpPr>
        <p:spPr>
          <a:xfrm flipH="1">
            <a:off x="483711" y="3296092"/>
            <a:ext cx="45719" cy="1230187"/>
          </a:xfrm>
          <a:prstGeom prst="rect">
            <a:avLst/>
          </a:prstGeom>
          <a:solidFill>
            <a:srgbClr val="1565C0"/>
          </a:solidFill>
          <a:ln/>
        </p:spPr>
      </p:sp>
      <p:sp>
        <p:nvSpPr>
          <p:cNvPr id="15" name="Text 13"/>
          <p:cNvSpPr/>
          <p:nvPr/>
        </p:nvSpPr>
        <p:spPr>
          <a:xfrm>
            <a:off x="640080" y="3393523"/>
            <a:ext cx="2286000" cy="274320"/>
          </a:xfrm>
          <a:prstGeom prst="rect">
            <a:avLst/>
          </a:prstGeom>
          <a:noFill/>
          <a:ln/>
        </p:spPr>
        <p:txBody>
          <a:bodyPr wrap="square" rtlCol="0" anchor="ctr"/>
          <a:lstStyle/>
          <a:p>
            <a:pPr marL="0" indent="0">
              <a:buNone/>
            </a:pPr>
            <a:r>
              <a:rPr lang="en-US" sz="1400" b="1" dirty="0">
                <a:solidFill>
                  <a:srgbClr val="1565C0"/>
                </a:solidFill>
                <a:latin typeface="Georgia" pitchFamily="34" charset="0"/>
                <a:ea typeface="Georgia" pitchFamily="34" charset="-122"/>
                <a:cs typeface="Georgia" pitchFamily="34" charset="-120"/>
              </a:rPr>
              <a:t>TẠI SAO C LÀM VẬY?</a:t>
            </a:r>
            <a:endParaRPr lang="en-US" sz="1400" dirty="0"/>
          </a:p>
        </p:txBody>
      </p:sp>
      <p:sp>
        <p:nvSpPr>
          <p:cNvPr id="16" name="Text 14"/>
          <p:cNvSpPr/>
          <p:nvPr/>
        </p:nvSpPr>
        <p:spPr>
          <a:xfrm>
            <a:off x="640080" y="3639312"/>
            <a:ext cx="7772400" cy="777240"/>
          </a:xfrm>
          <a:prstGeom prst="rect">
            <a:avLst/>
          </a:prstGeom>
          <a:noFill/>
          <a:ln/>
        </p:spPr>
        <p:txBody>
          <a:bodyPr wrap="square" rtlCol="0" anchor="ctr"/>
          <a:lstStyle/>
          <a:p>
            <a:pPr marL="0" indent="0">
              <a:lnSpc>
                <a:spcPct val="130000"/>
              </a:lnSpc>
              <a:buNone/>
            </a:pPr>
            <a:r>
              <a:rPr lang="en-US" sz="1400" i="1" dirty="0">
                <a:solidFill>
                  <a:srgbClr val="212121"/>
                </a:solidFill>
                <a:latin typeface="Calibri" pitchFamily="34" charset="0"/>
                <a:ea typeface="Calibri" pitchFamily="34" charset="-122"/>
                <a:cs typeface="Calibri" pitchFamily="34" charset="-120"/>
              </a:rPr>
              <a:t>C là ngôn ngữ "bậc thấp", gần phần cứng. Nó cho lập trình viên toàn quyền kiểm soát bộ nhớ. Hiểu chuỗi trong C = hiểu sâu bản chất máy tính hoạt động.</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I: SCQA HOOK</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5</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Vậy Làm Sao Để "Thuần Hóa" Chuỗi Trong C?</a:t>
            </a:r>
            <a:endParaRPr lang="en-US" sz="2200" dirty="0"/>
          </a:p>
        </p:txBody>
      </p:sp>
      <p:sp>
        <p:nvSpPr>
          <p:cNvPr id="9" name="Shape 7"/>
          <p:cNvSpPr/>
          <p:nvPr/>
        </p:nvSpPr>
        <p:spPr>
          <a:xfrm>
            <a:off x="457200" y="1280160"/>
            <a:ext cx="8229600" cy="868680"/>
          </a:xfrm>
          <a:prstGeom prst="rect">
            <a:avLst/>
          </a:prstGeom>
          <a:solidFill>
            <a:srgbClr val="F5F6FA"/>
          </a:solidFill>
          <a:ln/>
          <a:effectLst>
            <a:outerShdw blurRad="38100" dist="12700" dir="8100000" algn="bl" rotWithShape="0">
              <a:srgbClr val="000000">
                <a:alpha val="8000"/>
              </a:srgbClr>
            </a:outerShdw>
          </a:effectLst>
        </p:spPr>
      </p:sp>
      <p:sp>
        <p:nvSpPr>
          <p:cNvPr id="10" name="Shape 8"/>
          <p:cNvSpPr/>
          <p:nvPr/>
        </p:nvSpPr>
        <p:spPr>
          <a:xfrm>
            <a:off x="457200" y="1280160"/>
            <a:ext cx="54864" cy="868680"/>
          </a:xfrm>
          <a:prstGeom prst="rect">
            <a:avLst/>
          </a:prstGeom>
          <a:solidFill>
            <a:srgbClr val="1B2558"/>
          </a:solidFill>
          <a:ln/>
        </p:spPr>
      </p:sp>
      <p:sp>
        <p:nvSpPr>
          <p:cNvPr id="11" name="Shape 9"/>
          <p:cNvSpPr/>
          <p:nvPr/>
        </p:nvSpPr>
        <p:spPr>
          <a:xfrm>
            <a:off x="640080" y="1517904"/>
            <a:ext cx="384048" cy="384048"/>
          </a:xfrm>
          <a:prstGeom prst="ellipse">
            <a:avLst/>
          </a:prstGeom>
          <a:solidFill>
            <a:srgbClr val="1B2558"/>
          </a:solidFill>
          <a:ln/>
        </p:spPr>
      </p:sp>
      <p:sp>
        <p:nvSpPr>
          <p:cNvPr id="12" name="Text 10"/>
          <p:cNvSpPr/>
          <p:nvPr/>
        </p:nvSpPr>
        <p:spPr>
          <a:xfrm>
            <a:off x="640080" y="1517904"/>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1188720" y="1371600"/>
            <a:ext cx="7132320" cy="685800"/>
          </a:xfrm>
          <a:prstGeom prst="rect">
            <a:avLst/>
          </a:prstGeom>
          <a:noFill/>
          <a:ln/>
        </p:spPr>
        <p:txBody>
          <a:bodyPr wrap="square" rtlCol="0" anchor="ctr"/>
          <a:lstStyle/>
          <a:p>
            <a:pPr marL="0" indent="0">
              <a:lnSpc>
                <a:spcPct val="120000"/>
              </a:lnSpc>
              <a:buNone/>
            </a:pPr>
            <a:r>
              <a:rPr lang="en-US" sz="1400" b="1" dirty="0">
                <a:solidFill>
                  <a:srgbClr val="212121"/>
                </a:solidFill>
                <a:latin typeface="Calibri" pitchFamily="34" charset="0"/>
                <a:ea typeface="Calibri" pitchFamily="34" charset="-122"/>
                <a:cs typeface="Calibri" pitchFamily="34" charset="-120"/>
              </a:rPr>
              <a:t>Khai báo và khởi tạo chuỗi đúng cách như thế nào?</a:t>
            </a:r>
            <a:endParaRPr lang="en-US" sz="1400" dirty="0"/>
          </a:p>
        </p:txBody>
      </p:sp>
      <p:sp>
        <p:nvSpPr>
          <p:cNvPr id="14" name="Shape 12"/>
          <p:cNvSpPr/>
          <p:nvPr/>
        </p:nvSpPr>
        <p:spPr>
          <a:xfrm>
            <a:off x="457200" y="2331720"/>
            <a:ext cx="8229600" cy="868680"/>
          </a:xfrm>
          <a:prstGeom prst="rect">
            <a:avLst/>
          </a:prstGeom>
          <a:solidFill>
            <a:srgbClr val="F5F6FA"/>
          </a:solidFill>
          <a:ln/>
          <a:effectLst>
            <a:outerShdw blurRad="38100" dist="12700" dir="8100000" algn="bl" rotWithShape="0">
              <a:srgbClr val="000000">
                <a:alpha val="8000"/>
              </a:srgbClr>
            </a:outerShdw>
          </a:effectLst>
        </p:spPr>
      </p:sp>
      <p:sp>
        <p:nvSpPr>
          <p:cNvPr id="15" name="Shape 13"/>
          <p:cNvSpPr/>
          <p:nvPr/>
        </p:nvSpPr>
        <p:spPr>
          <a:xfrm>
            <a:off x="457200" y="2331720"/>
            <a:ext cx="54864" cy="868680"/>
          </a:xfrm>
          <a:prstGeom prst="rect">
            <a:avLst/>
          </a:prstGeom>
          <a:solidFill>
            <a:srgbClr val="1B2558"/>
          </a:solidFill>
          <a:ln/>
        </p:spPr>
      </p:sp>
      <p:sp>
        <p:nvSpPr>
          <p:cNvPr id="16" name="Shape 14"/>
          <p:cNvSpPr/>
          <p:nvPr/>
        </p:nvSpPr>
        <p:spPr>
          <a:xfrm>
            <a:off x="640080" y="2569464"/>
            <a:ext cx="384048" cy="384048"/>
          </a:xfrm>
          <a:prstGeom prst="ellipse">
            <a:avLst/>
          </a:prstGeom>
          <a:solidFill>
            <a:srgbClr val="1B2558"/>
          </a:solidFill>
          <a:ln/>
        </p:spPr>
      </p:sp>
      <p:sp>
        <p:nvSpPr>
          <p:cNvPr id="17" name="Text 15"/>
          <p:cNvSpPr/>
          <p:nvPr/>
        </p:nvSpPr>
        <p:spPr>
          <a:xfrm>
            <a:off x="640080" y="2569464"/>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1188720" y="2423160"/>
            <a:ext cx="7132320" cy="685800"/>
          </a:xfrm>
          <a:prstGeom prst="rect">
            <a:avLst/>
          </a:prstGeom>
          <a:noFill/>
          <a:ln/>
        </p:spPr>
        <p:txBody>
          <a:bodyPr wrap="square" rtlCol="0" anchor="ctr"/>
          <a:lstStyle/>
          <a:p>
            <a:pPr marL="0" indent="0">
              <a:lnSpc>
                <a:spcPct val="120000"/>
              </a:lnSpc>
              <a:buNone/>
            </a:pPr>
            <a:r>
              <a:rPr lang="en-US" sz="1400" b="1" dirty="0">
                <a:solidFill>
                  <a:srgbClr val="212121"/>
                </a:solidFill>
                <a:latin typeface="Calibri" pitchFamily="34" charset="0"/>
                <a:ea typeface="Calibri" pitchFamily="34" charset="-122"/>
                <a:cs typeface="Calibri" pitchFamily="34" charset="-120"/>
              </a:rPr>
              <a:t>Nhập chuỗi từ bàn phím — scanf hay fgets, cái nào an toàn hơn?</a:t>
            </a:r>
            <a:endParaRPr lang="en-US" sz="1400" dirty="0"/>
          </a:p>
        </p:txBody>
      </p:sp>
      <p:sp>
        <p:nvSpPr>
          <p:cNvPr id="19" name="Shape 17"/>
          <p:cNvSpPr/>
          <p:nvPr/>
        </p:nvSpPr>
        <p:spPr>
          <a:xfrm>
            <a:off x="457200" y="3383280"/>
            <a:ext cx="8229600" cy="868680"/>
          </a:xfrm>
          <a:prstGeom prst="rect">
            <a:avLst/>
          </a:prstGeom>
          <a:solidFill>
            <a:srgbClr val="E3F2FD"/>
          </a:solidFill>
          <a:ln/>
          <a:effectLst>
            <a:outerShdw blurRad="38100" dist="12700" dir="8100000" algn="bl" rotWithShape="0">
              <a:srgbClr val="000000">
                <a:alpha val="8000"/>
              </a:srgbClr>
            </a:outerShdw>
          </a:effectLst>
        </p:spPr>
      </p:sp>
      <p:sp>
        <p:nvSpPr>
          <p:cNvPr id="20" name="Shape 18"/>
          <p:cNvSpPr/>
          <p:nvPr/>
        </p:nvSpPr>
        <p:spPr>
          <a:xfrm>
            <a:off x="457200" y="3383280"/>
            <a:ext cx="54864" cy="868680"/>
          </a:xfrm>
          <a:prstGeom prst="rect">
            <a:avLst/>
          </a:prstGeom>
          <a:solidFill>
            <a:srgbClr val="1565C0"/>
          </a:solidFill>
          <a:ln/>
        </p:spPr>
      </p:sp>
      <p:sp>
        <p:nvSpPr>
          <p:cNvPr id="21" name="Shape 19"/>
          <p:cNvSpPr/>
          <p:nvPr/>
        </p:nvSpPr>
        <p:spPr>
          <a:xfrm>
            <a:off x="640080" y="3621024"/>
            <a:ext cx="384048" cy="384048"/>
          </a:xfrm>
          <a:prstGeom prst="ellipse">
            <a:avLst/>
          </a:prstGeom>
          <a:solidFill>
            <a:srgbClr val="1565C0"/>
          </a:solidFill>
          <a:ln/>
        </p:spPr>
      </p:sp>
      <p:sp>
        <p:nvSpPr>
          <p:cNvPr id="22" name="Text 20"/>
          <p:cNvSpPr/>
          <p:nvPr/>
        </p:nvSpPr>
        <p:spPr>
          <a:xfrm>
            <a:off x="640080" y="3621024"/>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1188720" y="3474720"/>
            <a:ext cx="7132320" cy="685800"/>
          </a:xfrm>
          <a:prstGeom prst="rect">
            <a:avLst/>
          </a:prstGeom>
          <a:noFill/>
          <a:ln/>
        </p:spPr>
        <p:txBody>
          <a:bodyPr wrap="square" rtlCol="0" anchor="ctr"/>
          <a:lstStyle/>
          <a:p>
            <a:pPr marL="0" indent="0">
              <a:lnSpc>
                <a:spcPct val="120000"/>
              </a:lnSpc>
              <a:buNone/>
            </a:pPr>
            <a:r>
              <a:rPr lang="en-US" sz="1400" b="1" dirty="0">
                <a:solidFill>
                  <a:srgbClr val="212121"/>
                </a:solidFill>
                <a:latin typeface="Calibri" pitchFamily="34" charset="0"/>
                <a:ea typeface="Calibri" pitchFamily="34" charset="-122"/>
                <a:cs typeface="Calibri" pitchFamily="34" charset="-120"/>
              </a:rPr>
              <a:t>So sánh, nối, tìm kiếm, cắt chuỗi — dùng hàm gì?</a:t>
            </a:r>
            <a:endParaRPr lang="en-US" sz="1400" dirty="0"/>
          </a:p>
        </p:txBody>
      </p:sp>
      <p:sp>
        <p:nvSpPr>
          <p:cNvPr id="24" name="Text 22"/>
          <p:cNvSpPr/>
          <p:nvPr/>
        </p:nvSpPr>
        <p:spPr>
          <a:xfrm>
            <a:off x="914400" y="4375648"/>
            <a:ext cx="7315200" cy="274320"/>
          </a:xfrm>
          <a:prstGeom prst="rect">
            <a:avLst/>
          </a:prstGeom>
          <a:noFill/>
          <a:ln/>
        </p:spPr>
        <p:txBody>
          <a:bodyPr wrap="square" rtlCol="0" anchor="ctr"/>
          <a:lstStyle/>
          <a:p>
            <a:pPr marL="0" indent="0" algn="ctr">
              <a:buNone/>
            </a:pPr>
            <a:r>
              <a:rPr lang="en-US" sz="1100" b="1" i="1" dirty="0">
                <a:solidFill>
                  <a:srgbClr val="1565C0"/>
                </a:solidFill>
                <a:latin typeface="Calibri" pitchFamily="34" charset="0"/>
                <a:ea typeface="Calibri" pitchFamily="34" charset="-122"/>
                <a:cs typeface="Calibri" pitchFamily="34" charset="-120"/>
              </a:rPr>
              <a:t>Thư viện string.h chính là bộ công cụ vàng giúp các em làm chủ mọi thao tác với chuỗi!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55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457200" y="914400"/>
            <a:ext cx="8229600" cy="1097280"/>
          </a:xfrm>
          <a:prstGeom prst="rect">
            <a:avLst/>
          </a:prstGeom>
          <a:noFill/>
          <a:ln/>
        </p:spPr>
        <p:txBody>
          <a:bodyPr wrap="square" rtlCol="0" anchor="ctr"/>
          <a:lstStyle/>
          <a:p>
            <a:pPr marL="0" indent="0" algn="ctr">
              <a:buNone/>
            </a:pPr>
            <a:r>
              <a:rPr lang="en-US" sz="7200" b="1" dirty="0">
                <a:solidFill>
                  <a:srgbClr val="F9A825"/>
                </a:solidFill>
                <a:latin typeface="Georgia" pitchFamily="34" charset="0"/>
                <a:ea typeface="Georgia" pitchFamily="34" charset="-122"/>
                <a:cs typeface="Georgia" pitchFamily="34" charset="-120"/>
              </a:rPr>
              <a:t>02</a:t>
            </a:r>
            <a:endParaRPr lang="en-US" sz="7200" dirty="0"/>
          </a:p>
        </p:txBody>
      </p:sp>
      <p:sp>
        <p:nvSpPr>
          <p:cNvPr id="4" name="Shape 2"/>
          <p:cNvSpPr/>
          <p:nvPr/>
        </p:nvSpPr>
        <p:spPr>
          <a:xfrm>
            <a:off x="3200400" y="2103120"/>
            <a:ext cx="2743200" cy="27432"/>
          </a:xfrm>
          <a:prstGeom prst="rect">
            <a:avLst/>
          </a:prstGeom>
          <a:solidFill>
            <a:srgbClr val="F9A825"/>
          </a:solidFill>
          <a:ln/>
        </p:spPr>
      </p:sp>
      <p:sp>
        <p:nvSpPr>
          <p:cNvPr id="5" name="Text 3"/>
          <p:cNvSpPr/>
          <p:nvPr/>
        </p:nvSpPr>
        <p:spPr>
          <a:xfrm>
            <a:off x="457200" y="2286000"/>
            <a:ext cx="8229600" cy="914400"/>
          </a:xfrm>
          <a:prstGeom prst="rect">
            <a:avLst/>
          </a:prstGeom>
          <a:noFill/>
          <a:ln/>
        </p:spPr>
        <p:txBody>
          <a:bodyPr wrap="square" rtlCol="0" anchor="ctr"/>
          <a:lstStyle/>
          <a:p>
            <a:pPr marL="0" indent="0" algn="ctr">
              <a:buNone/>
            </a:pPr>
            <a:r>
              <a:rPr lang="en-US" sz="2600" b="1" kern="0" spc="300" dirty="0">
                <a:solidFill>
                  <a:srgbClr val="FFFFFF"/>
                </a:solidFill>
                <a:latin typeface="Georgia" pitchFamily="34" charset="0"/>
                <a:ea typeface="Georgia" pitchFamily="34" charset="-122"/>
                <a:cs typeface="Georgia" pitchFamily="34" charset="-120"/>
              </a:rPr>
              <a:t>KHAI BÁO &amp; BẢN CHẤT CHUỖI</a:t>
            </a:r>
            <a:endParaRPr lang="en-US" sz="2600" dirty="0"/>
          </a:p>
        </p:txBody>
      </p:sp>
      <p:sp>
        <p:nvSpPr>
          <p:cNvPr id="6" name="Text 4"/>
          <p:cNvSpPr/>
          <p:nvPr/>
        </p:nvSpPr>
        <p:spPr>
          <a:xfrm>
            <a:off x="914400" y="3291840"/>
            <a:ext cx="7315200" cy="548640"/>
          </a:xfrm>
          <a:prstGeom prst="rect">
            <a:avLst/>
          </a:prstGeom>
          <a:noFill/>
          <a:ln/>
        </p:spPr>
        <p:txBody>
          <a:bodyPr wrap="square" rtlCol="0" anchor="ctr"/>
          <a:lstStyle/>
          <a:p>
            <a:pPr marL="0" indent="0" algn="ctr">
              <a:buNone/>
            </a:pPr>
            <a:r>
              <a:rPr lang="en-US" sz="1300" i="1" dirty="0">
                <a:solidFill>
                  <a:srgbClr val="AAAAAA"/>
                </a:solidFill>
                <a:latin typeface="Calibri" pitchFamily="34" charset="0"/>
                <a:ea typeface="Calibri" pitchFamily="34" charset="-122"/>
                <a:cs typeface="Calibri" pitchFamily="34" charset="-120"/>
              </a:rPr>
              <a:t>Chuỗi = Mảng Ký Tự + '\0'</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II: KHAI BÁO CHUỖI</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6</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Bản Chất Chuỗi: Mảng Ký Tự Có "Dấu Chấm Hết"</a:t>
            </a:r>
            <a:endParaRPr lang="en-US" sz="2200" dirty="0"/>
          </a:p>
        </p:txBody>
      </p:sp>
      <p:sp>
        <p:nvSpPr>
          <p:cNvPr id="9" name="Shape 7"/>
          <p:cNvSpPr/>
          <p:nvPr/>
        </p:nvSpPr>
        <p:spPr>
          <a:xfrm>
            <a:off x="457200" y="1234440"/>
            <a:ext cx="8229600" cy="594360"/>
          </a:xfrm>
          <a:prstGeom prst="rect">
            <a:avLst/>
          </a:prstGeom>
          <a:solidFill>
            <a:srgbClr val="E3F2FD"/>
          </a:solidFill>
          <a:ln/>
          <a:effectLst>
            <a:outerShdw blurRad="50800" dist="25400" dir="8100000" algn="bl" rotWithShape="0">
              <a:srgbClr val="000000">
                <a:alpha val="10000"/>
              </a:srgbClr>
            </a:outerShdw>
          </a:effectLst>
        </p:spPr>
      </p:sp>
      <p:sp>
        <p:nvSpPr>
          <p:cNvPr id="10" name="Shape 8"/>
          <p:cNvSpPr/>
          <p:nvPr/>
        </p:nvSpPr>
        <p:spPr>
          <a:xfrm>
            <a:off x="457200" y="1234440"/>
            <a:ext cx="54864" cy="594360"/>
          </a:xfrm>
          <a:prstGeom prst="rect">
            <a:avLst/>
          </a:prstGeom>
          <a:solidFill>
            <a:srgbClr val="1565C0"/>
          </a:solidFill>
          <a:ln/>
        </p:spPr>
      </p:sp>
      <p:sp>
        <p:nvSpPr>
          <p:cNvPr id="11" name="Text 9"/>
          <p:cNvSpPr/>
          <p:nvPr/>
        </p:nvSpPr>
        <p:spPr>
          <a:xfrm>
            <a:off x="640080" y="1280160"/>
            <a:ext cx="7863840" cy="502920"/>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CÔNG THỨC CỐT LÕI: Chuỗi ký tự = Mảng 1 chiều kiểu char  +  ký tự kết thúc '\0' (NULL)</a:t>
            </a:r>
            <a:endParaRPr lang="en-US" sz="1300" dirty="0"/>
          </a:p>
        </p:txBody>
      </p:sp>
      <p:sp>
        <p:nvSpPr>
          <p:cNvPr id="12" name="Shape 10"/>
          <p:cNvSpPr/>
          <p:nvPr/>
        </p:nvSpPr>
        <p:spPr>
          <a:xfrm>
            <a:off x="2624112" y="2011680"/>
            <a:ext cx="731520" cy="594360"/>
          </a:xfrm>
          <a:prstGeom prst="rect">
            <a:avLst/>
          </a:prstGeom>
          <a:solidFill>
            <a:srgbClr val="F5F6FA"/>
          </a:solidFill>
          <a:ln w="19050">
            <a:solidFill>
              <a:srgbClr val="E0E0E0"/>
            </a:solidFill>
            <a:prstDash val="solid"/>
          </a:ln>
        </p:spPr>
      </p:sp>
      <p:sp>
        <p:nvSpPr>
          <p:cNvPr id="13" name="Text 11"/>
          <p:cNvSpPr/>
          <p:nvPr/>
        </p:nvSpPr>
        <p:spPr>
          <a:xfrm>
            <a:off x="2624112" y="2057400"/>
            <a:ext cx="731520" cy="320040"/>
          </a:xfrm>
          <a:prstGeom prst="rect">
            <a:avLst/>
          </a:prstGeom>
          <a:noFill/>
          <a:ln/>
        </p:spPr>
        <p:txBody>
          <a:bodyPr wrap="square" rtlCol="0" anchor="ctr"/>
          <a:lstStyle/>
          <a:p>
            <a:pPr marL="0" indent="0" algn="ctr">
              <a:buNone/>
            </a:pPr>
            <a:r>
              <a:rPr lang="en-US" sz="1300" b="1" dirty="0">
                <a:solidFill>
                  <a:srgbClr val="212121"/>
                </a:solidFill>
                <a:latin typeface="Consolas" pitchFamily="34" charset="0"/>
                <a:ea typeface="Consolas" pitchFamily="34" charset="-122"/>
                <a:cs typeface="Consolas" pitchFamily="34" charset="-120"/>
              </a:rPr>
              <a:t>'H'</a:t>
            </a:r>
            <a:endParaRPr lang="en-US" sz="1300" dirty="0"/>
          </a:p>
        </p:txBody>
      </p:sp>
      <p:sp>
        <p:nvSpPr>
          <p:cNvPr id="14" name="Text 12"/>
          <p:cNvSpPr/>
          <p:nvPr/>
        </p:nvSpPr>
        <p:spPr>
          <a:xfrm>
            <a:off x="2624112" y="2377440"/>
            <a:ext cx="731520" cy="182880"/>
          </a:xfrm>
          <a:prstGeom prst="rect">
            <a:avLst/>
          </a:prstGeom>
          <a:noFill/>
          <a:ln/>
        </p:spPr>
        <p:txBody>
          <a:bodyPr wrap="square" rtlCol="0" anchor="ctr"/>
          <a:lstStyle/>
          <a:p>
            <a:pPr marL="0" indent="0" algn="ctr">
              <a:buNone/>
            </a:pPr>
            <a:r>
              <a:rPr lang="en-US" sz="900" b="1" dirty="0">
                <a:solidFill>
                  <a:schemeClr val="accent2"/>
                </a:solidFill>
                <a:latin typeface="Consolas" pitchFamily="34" charset="0"/>
                <a:ea typeface="Consolas" pitchFamily="34" charset="-122"/>
                <a:cs typeface="Consolas" pitchFamily="34" charset="-120"/>
              </a:rPr>
              <a:t>0</a:t>
            </a:r>
            <a:endParaRPr lang="en-US" sz="900" b="1" dirty="0">
              <a:solidFill>
                <a:schemeClr val="accent2"/>
              </a:solidFill>
            </a:endParaRPr>
          </a:p>
        </p:txBody>
      </p:sp>
      <p:sp>
        <p:nvSpPr>
          <p:cNvPr id="15" name="Shape 13"/>
          <p:cNvSpPr/>
          <p:nvPr/>
        </p:nvSpPr>
        <p:spPr>
          <a:xfrm>
            <a:off x="3355632" y="2011680"/>
            <a:ext cx="731520" cy="594360"/>
          </a:xfrm>
          <a:prstGeom prst="rect">
            <a:avLst/>
          </a:prstGeom>
          <a:solidFill>
            <a:srgbClr val="F5F6FA"/>
          </a:solidFill>
          <a:ln w="19050">
            <a:solidFill>
              <a:srgbClr val="E0E0E0"/>
            </a:solidFill>
            <a:prstDash val="solid"/>
          </a:ln>
        </p:spPr>
      </p:sp>
      <p:sp>
        <p:nvSpPr>
          <p:cNvPr id="16" name="Text 14"/>
          <p:cNvSpPr/>
          <p:nvPr/>
        </p:nvSpPr>
        <p:spPr>
          <a:xfrm>
            <a:off x="3355632" y="2057400"/>
            <a:ext cx="731520" cy="320040"/>
          </a:xfrm>
          <a:prstGeom prst="rect">
            <a:avLst/>
          </a:prstGeom>
          <a:noFill/>
          <a:ln/>
        </p:spPr>
        <p:txBody>
          <a:bodyPr wrap="square" rtlCol="0" anchor="ctr"/>
          <a:lstStyle/>
          <a:p>
            <a:pPr marL="0" indent="0" algn="ctr">
              <a:buNone/>
            </a:pPr>
            <a:r>
              <a:rPr lang="en-US" sz="1300" b="1" dirty="0">
                <a:solidFill>
                  <a:srgbClr val="212121"/>
                </a:solidFill>
                <a:latin typeface="Consolas" pitchFamily="34" charset="0"/>
                <a:ea typeface="Consolas" pitchFamily="34" charset="-122"/>
                <a:cs typeface="Consolas" pitchFamily="34" charset="-120"/>
              </a:rPr>
              <a:t>'E'</a:t>
            </a:r>
            <a:endParaRPr lang="en-US" sz="1300" dirty="0"/>
          </a:p>
        </p:txBody>
      </p:sp>
      <p:sp>
        <p:nvSpPr>
          <p:cNvPr id="17" name="Text 15"/>
          <p:cNvSpPr/>
          <p:nvPr/>
        </p:nvSpPr>
        <p:spPr>
          <a:xfrm>
            <a:off x="3355632" y="2377440"/>
            <a:ext cx="731520" cy="182880"/>
          </a:xfrm>
          <a:prstGeom prst="rect">
            <a:avLst/>
          </a:prstGeom>
          <a:noFill/>
          <a:ln/>
        </p:spPr>
        <p:txBody>
          <a:bodyPr wrap="square" rtlCol="0" anchor="ctr"/>
          <a:lstStyle/>
          <a:p>
            <a:pPr marL="0" indent="0" algn="ctr">
              <a:buNone/>
            </a:pPr>
            <a:r>
              <a:rPr lang="en-US" sz="900" b="1" dirty="0">
                <a:solidFill>
                  <a:schemeClr val="accent2"/>
                </a:solidFill>
                <a:latin typeface="Consolas" pitchFamily="34" charset="0"/>
                <a:ea typeface="Consolas" pitchFamily="34" charset="-122"/>
                <a:cs typeface="Consolas" pitchFamily="34" charset="-120"/>
              </a:rPr>
              <a:t>1</a:t>
            </a:r>
            <a:endParaRPr lang="en-US" sz="900" b="1" dirty="0">
              <a:solidFill>
                <a:schemeClr val="accent2"/>
              </a:solidFill>
            </a:endParaRPr>
          </a:p>
        </p:txBody>
      </p:sp>
      <p:sp>
        <p:nvSpPr>
          <p:cNvPr id="18" name="Shape 16"/>
          <p:cNvSpPr/>
          <p:nvPr/>
        </p:nvSpPr>
        <p:spPr>
          <a:xfrm>
            <a:off x="4087152" y="2011680"/>
            <a:ext cx="731520" cy="594360"/>
          </a:xfrm>
          <a:prstGeom prst="rect">
            <a:avLst/>
          </a:prstGeom>
          <a:solidFill>
            <a:srgbClr val="F5F6FA"/>
          </a:solidFill>
          <a:ln w="19050">
            <a:solidFill>
              <a:srgbClr val="E0E0E0"/>
            </a:solidFill>
            <a:prstDash val="solid"/>
          </a:ln>
        </p:spPr>
      </p:sp>
      <p:sp>
        <p:nvSpPr>
          <p:cNvPr id="19" name="Text 17"/>
          <p:cNvSpPr/>
          <p:nvPr/>
        </p:nvSpPr>
        <p:spPr>
          <a:xfrm>
            <a:off x="4087152" y="2057400"/>
            <a:ext cx="731520" cy="320040"/>
          </a:xfrm>
          <a:prstGeom prst="rect">
            <a:avLst/>
          </a:prstGeom>
          <a:noFill/>
          <a:ln/>
        </p:spPr>
        <p:txBody>
          <a:bodyPr wrap="square" rtlCol="0" anchor="ctr"/>
          <a:lstStyle/>
          <a:p>
            <a:pPr marL="0" indent="0" algn="ctr">
              <a:buNone/>
            </a:pPr>
            <a:r>
              <a:rPr lang="en-US" sz="1300" b="1" dirty="0">
                <a:solidFill>
                  <a:srgbClr val="212121"/>
                </a:solidFill>
                <a:latin typeface="Consolas" pitchFamily="34" charset="0"/>
                <a:ea typeface="Consolas" pitchFamily="34" charset="-122"/>
                <a:cs typeface="Consolas" pitchFamily="34" charset="-120"/>
              </a:rPr>
              <a:t>'L'</a:t>
            </a:r>
            <a:endParaRPr lang="en-US" sz="1300" dirty="0"/>
          </a:p>
        </p:txBody>
      </p:sp>
      <p:sp>
        <p:nvSpPr>
          <p:cNvPr id="20" name="Text 18"/>
          <p:cNvSpPr/>
          <p:nvPr/>
        </p:nvSpPr>
        <p:spPr>
          <a:xfrm>
            <a:off x="4087152" y="2377440"/>
            <a:ext cx="731520" cy="182880"/>
          </a:xfrm>
          <a:prstGeom prst="rect">
            <a:avLst/>
          </a:prstGeom>
          <a:noFill/>
          <a:ln/>
        </p:spPr>
        <p:txBody>
          <a:bodyPr wrap="square" rtlCol="0" anchor="ctr"/>
          <a:lstStyle/>
          <a:p>
            <a:pPr marL="0" indent="0" algn="ctr">
              <a:buNone/>
            </a:pPr>
            <a:r>
              <a:rPr lang="en-US" sz="900" b="1" dirty="0">
                <a:solidFill>
                  <a:schemeClr val="accent2"/>
                </a:solidFill>
                <a:latin typeface="Consolas" pitchFamily="34" charset="0"/>
                <a:ea typeface="Consolas" pitchFamily="34" charset="-122"/>
                <a:cs typeface="Consolas" pitchFamily="34" charset="-120"/>
              </a:rPr>
              <a:t>2</a:t>
            </a:r>
            <a:endParaRPr lang="en-US" sz="900" b="1" dirty="0">
              <a:solidFill>
                <a:schemeClr val="accent2"/>
              </a:solidFill>
            </a:endParaRPr>
          </a:p>
        </p:txBody>
      </p:sp>
      <p:sp>
        <p:nvSpPr>
          <p:cNvPr id="21" name="Shape 19"/>
          <p:cNvSpPr/>
          <p:nvPr/>
        </p:nvSpPr>
        <p:spPr>
          <a:xfrm>
            <a:off x="4818672" y="2011680"/>
            <a:ext cx="731520" cy="594360"/>
          </a:xfrm>
          <a:prstGeom prst="rect">
            <a:avLst/>
          </a:prstGeom>
          <a:solidFill>
            <a:srgbClr val="F5F6FA"/>
          </a:solidFill>
          <a:ln w="19050">
            <a:solidFill>
              <a:srgbClr val="E0E0E0"/>
            </a:solidFill>
            <a:prstDash val="solid"/>
          </a:ln>
        </p:spPr>
      </p:sp>
      <p:sp>
        <p:nvSpPr>
          <p:cNvPr id="22" name="Text 20"/>
          <p:cNvSpPr/>
          <p:nvPr/>
        </p:nvSpPr>
        <p:spPr>
          <a:xfrm>
            <a:off x="4818672" y="2057400"/>
            <a:ext cx="731520" cy="320040"/>
          </a:xfrm>
          <a:prstGeom prst="rect">
            <a:avLst/>
          </a:prstGeom>
          <a:noFill/>
          <a:ln/>
        </p:spPr>
        <p:txBody>
          <a:bodyPr wrap="square" rtlCol="0" anchor="ctr"/>
          <a:lstStyle/>
          <a:p>
            <a:pPr marL="0" indent="0" algn="ctr">
              <a:buNone/>
            </a:pPr>
            <a:r>
              <a:rPr lang="en-US" sz="1300" b="1" dirty="0">
                <a:solidFill>
                  <a:srgbClr val="212121"/>
                </a:solidFill>
                <a:latin typeface="Consolas" pitchFamily="34" charset="0"/>
                <a:ea typeface="Consolas" pitchFamily="34" charset="-122"/>
                <a:cs typeface="Consolas" pitchFamily="34" charset="-120"/>
              </a:rPr>
              <a:t>'L'</a:t>
            </a:r>
            <a:endParaRPr lang="en-US" sz="1300" dirty="0"/>
          </a:p>
        </p:txBody>
      </p:sp>
      <p:sp>
        <p:nvSpPr>
          <p:cNvPr id="23" name="Text 21"/>
          <p:cNvSpPr/>
          <p:nvPr/>
        </p:nvSpPr>
        <p:spPr>
          <a:xfrm>
            <a:off x="4818672" y="2377440"/>
            <a:ext cx="731520" cy="182880"/>
          </a:xfrm>
          <a:prstGeom prst="rect">
            <a:avLst/>
          </a:prstGeom>
          <a:noFill/>
          <a:ln/>
        </p:spPr>
        <p:txBody>
          <a:bodyPr wrap="square" rtlCol="0" anchor="ctr"/>
          <a:lstStyle/>
          <a:p>
            <a:pPr marL="0" indent="0" algn="ctr">
              <a:buNone/>
            </a:pPr>
            <a:r>
              <a:rPr lang="en-US" sz="900" b="1" dirty="0">
                <a:solidFill>
                  <a:schemeClr val="accent2"/>
                </a:solidFill>
                <a:latin typeface="Consolas" pitchFamily="34" charset="0"/>
                <a:ea typeface="Consolas" pitchFamily="34" charset="-122"/>
                <a:cs typeface="Consolas" pitchFamily="34" charset="-120"/>
              </a:rPr>
              <a:t>3</a:t>
            </a:r>
            <a:endParaRPr lang="en-US" sz="900" b="1" dirty="0">
              <a:solidFill>
                <a:schemeClr val="accent2"/>
              </a:solidFill>
            </a:endParaRPr>
          </a:p>
        </p:txBody>
      </p:sp>
      <p:sp>
        <p:nvSpPr>
          <p:cNvPr id="24" name="Shape 22"/>
          <p:cNvSpPr/>
          <p:nvPr/>
        </p:nvSpPr>
        <p:spPr>
          <a:xfrm>
            <a:off x="5550192" y="2011680"/>
            <a:ext cx="731520" cy="594360"/>
          </a:xfrm>
          <a:prstGeom prst="rect">
            <a:avLst/>
          </a:prstGeom>
          <a:solidFill>
            <a:srgbClr val="F5F6FA"/>
          </a:solidFill>
          <a:ln w="19050">
            <a:solidFill>
              <a:srgbClr val="E0E0E0"/>
            </a:solidFill>
            <a:prstDash val="solid"/>
          </a:ln>
        </p:spPr>
      </p:sp>
      <p:sp>
        <p:nvSpPr>
          <p:cNvPr id="25" name="Text 23"/>
          <p:cNvSpPr/>
          <p:nvPr/>
        </p:nvSpPr>
        <p:spPr>
          <a:xfrm>
            <a:off x="5550192" y="2057400"/>
            <a:ext cx="731520" cy="320040"/>
          </a:xfrm>
          <a:prstGeom prst="rect">
            <a:avLst/>
          </a:prstGeom>
          <a:noFill/>
          <a:ln/>
        </p:spPr>
        <p:txBody>
          <a:bodyPr wrap="square" rtlCol="0" anchor="ctr"/>
          <a:lstStyle/>
          <a:p>
            <a:pPr marL="0" indent="0" algn="ctr">
              <a:buNone/>
            </a:pPr>
            <a:r>
              <a:rPr lang="en-US" sz="1300" b="1" dirty="0">
                <a:solidFill>
                  <a:srgbClr val="212121"/>
                </a:solidFill>
                <a:latin typeface="Consolas" pitchFamily="34" charset="0"/>
                <a:ea typeface="Consolas" pitchFamily="34" charset="-122"/>
                <a:cs typeface="Consolas" pitchFamily="34" charset="-120"/>
              </a:rPr>
              <a:t>'O'</a:t>
            </a:r>
            <a:endParaRPr lang="en-US" sz="1300" dirty="0"/>
          </a:p>
        </p:txBody>
      </p:sp>
      <p:sp>
        <p:nvSpPr>
          <p:cNvPr id="26" name="Text 24"/>
          <p:cNvSpPr/>
          <p:nvPr/>
        </p:nvSpPr>
        <p:spPr>
          <a:xfrm>
            <a:off x="5550192" y="2377440"/>
            <a:ext cx="731520" cy="182880"/>
          </a:xfrm>
          <a:prstGeom prst="rect">
            <a:avLst/>
          </a:prstGeom>
          <a:noFill/>
          <a:ln/>
        </p:spPr>
        <p:txBody>
          <a:bodyPr wrap="square" rtlCol="0" anchor="ctr"/>
          <a:lstStyle/>
          <a:p>
            <a:pPr marL="0" indent="0" algn="ctr">
              <a:buNone/>
            </a:pPr>
            <a:r>
              <a:rPr lang="en-US" sz="900" b="1" dirty="0">
                <a:solidFill>
                  <a:schemeClr val="accent2"/>
                </a:solidFill>
                <a:latin typeface="Consolas" pitchFamily="34" charset="0"/>
                <a:ea typeface="Consolas" pitchFamily="34" charset="-122"/>
                <a:cs typeface="Consolas" pitchFamily="34" charset="-120"/>
              </a:rPr>
              <a:t>4</a:t>
            </a:r>
            <a:endParaRPr lang="en-US" sz="900" b="1" dirty="0">
              <a:solidFill>
                <a:schemeClr val="accent2"/>
              </a:solidFill>
            </a:endParaRPr>
          </a:p>
        </p:txBody>
      </p:sp>
      <p:sp>
        <p:nvSpPr>
          <p:cNvPr id="27" name="Shape 25"/>
          <p:cNvSpPr/>
          <p:nvPr/>
        </p:nvSpPr>
        <p:spPr>
          <a:xfrm>
            <a:off x="6281712" y="2011680"/>
            <a:ext cx="731520" cy="594360"/>
          </a:xfrm>
          <a:prstGeom prst="rect">
            <a:avLst/>
          </a:prstGeom>
          <a:solidFill>
            <a:srgbClr val="FFF3E0"/>
          </a:solidFill>
          <a:ln w="19050">
            <a:solidFill>
              <a:srgbClr val="E65100"/>
            </a:solidFill>
            <a:prstDash val="solid"/>
          </a:ln>
        </p:spPr>
      </p:sp>
      <p:sp>
        <p:nvSpPr>
          <p:cNvPr id="28" name="Text 26"/>
          <p:cNvSpPr/>
          <p:nvPr/>
        </p:nvSpPr>
        <p:spPr>
          <a:xfrm>
            <a:off x="6281712" y="2057400"/>
            <a:ext cx="731520" cy="320040"/>
          </a:xfrm>
          <a:prstGeom prst="rect">
            <a:avLst/>
          </a:prstGeom>
          <a:noFill/>
          <a:ln/>
        </p:spPr>
        <p:txBody>
          <a:bodyPr wrap="square" rtlCol="0" anchor="ctr"/>
          <a:lstStyle/>
          <a:p>
            <a:pPr marL="0" indent="0" algn="ctr">
              <a:buNone/>
            </a:pPr>
            <a:r>
              <a:rPr lang="en-US" sz="1300" b="1" dirty="0">
                <a:solidFill>
                  <a:srgbClr val="E65100"/>
                </a:solidFill>
                <a:latin typeface="Consolas" pitchFamily="34" charset="0"/>
                <a:ea typeface="Consolas" pitchFamily="34" charset="-122"/>
                <a:cs typeface="Consolas" pitchFamily="34" charset="-120"/>
              </a:rPr>
              <a:t>'\0'</a:t>
            </a:r>
            <a:endParaRPr lang="en-US" sz="1300" dirty="0"/>
          </a:p>
        </p:txBody>
      </p:sp>
      <p:sp>
        <p:nvSpPr>
          <p:cNvPr id="29" name="Text 27"/>
          <p:cNvSpPr/>
          <p:nvPr/>
        </p:nvSpPr>
        <p:spPr>
          <a:xfrm>
            <a:off x="6281712" y="2377440"/>
            <a:ext cx="731520" cy="182880"/>
          </a:xfrm>
          <a:prstGeom prst="rect">
            <a:avLst/>
          </a:prstGeom>
          <a:noFill/>
          <a:ln/>
        </p:spPr>
        <p:txBody>
          <a:bodyPr wrap="square" rtlCol="0" anchor="ctr"/>
          <a:lstStyle/>
          <a:p>
            <a:pPr marL="0" indent="0" algn="ctr">
              <a:buNone/>
            </a:pPr>
            <a:r>
              <a:rPr lang="en-US" sz="900" b="1" dirty="0">
                <a:solidFill>
                  <a:schemeClr val="accent2"/>
                </a:solidFill>
                <a:latin typeface="Consolas" pitchFamily="34" charset="0"/>
                <a:ea typeface="Consolas" pitchFamily="34" charset="-122"/>
                <a:cs typeface="Consolas" pitchFamily="34" charset="-120"/>
              </a:rPr>
              <a:t>5</a:t>
            </a:r>
            <a:endParaRPr lang="en-US" sz="900" b="1" dirty="0">
              <a:solidFill>
                <a:schemeClr val="accent2"/>
              </a:solidFill>
            </a:endParaRPr>
          </a:p>
        </p:txBody>
      </p:sp>
      <p:sp>
        <p:nvSpPr>
          <p:cNvPr id="30" name="Text 28"/>
          <p:cNvSpPr/>
          <p:nvPr/>
        </p:nvSpPr>
        <p:spPr>
          <a:xfrm>
            <a:off x="1769960" y="2395586"/>
            <a:ext cx="640080" cy="182880"/>
          </a:xfrm>
          <a:prstGeom prst="rect">
            <a:avLst/>
          </a:prstGeom>
          <a:noFill/>
          <a:ln/>
        </p:spPr>
        <p:txBody>
          <a:bodyPr wrap="square" rtlCol="0" anchor="ctr"/>
          <a:lstStyle/>
          <a:p>
            <a:pPr marL="0" indent="0" algn="r">
              <a:buNone/>
            </a:pPr>
            <a:r>
              <a:rPr lang="en-US" sz="1200" b="1" dirty="0">
                <a:solidFill>
                  <a:schemeClr val="accent2"/>
                </a:solidFill>
                <a:latin typeface="Calibri" pitchFamily="34" charset="0"/>
                <a:ea typeface="Calibri" pitchFamily="34" charset="-122"/>
                <a:cs typeface="Calibri" pitchFamily="34" charset="-120"/>
              </a:rPr>
              <a:t>Index:</a:t>
            </a:r>
            <a:endParaRPr lang="en-US" sz="1200" b="1" dirty="0">
              <a:solidFill>
                <a:schemeClr val="accent2"/>
              </a:solidFill>
            </a:endParaRPr>
          </a:p>
        </p:txBody>
      </p:sp>
      <p:sp>
        <p:nvSpPr>
          <p:cNvPr id="31" name="Text 29"/>
          <p:cNvSpPr/>
          <p:nvPr/>
        </p:nvSpPr>
        <p:spPr>
          <a:xfrm>
            <a:off x="457200" y="2057400"/>
            <a:ext cx="1626780" cy="320040"/>
          </a:xfrm>
          <a:prstGeom prst="rect">
            <a:avLst/>
          </a:prstGeom>
          <a:noFill/>
          <a:ln/>
        </p:spPr>
        <p:txBody>
          <a:bodyPr wrap="square" rtlCol="0" anchor="ctr"/>
          <a:lstStyle/>
          <a:p>
            <a:pPr marL="0" indent="0" algn="r">
              <a:buNone/>
            </a:pPr>
            <a:r>
              <a:rPr lang="en-US" sz="1200" dirty="0">
                <a:solidFill>
                  <a:srgbClr val="424242"/>
                </a:solidFill>
                <a:latin typeface="Consolas" pitchFamily="34" charset="0"/>
                <a:ea typeface="Consolas" pitchFamily="34" charset="-122"/>
                <a:cs typeface="Consolas" pitchFamily="34" charset="-120"/>
              </a:rPr>
              <a:t>char Greeting</a:t>
            </a:r>
            <a:r>
              <a:rPr lang="en-US" sz="1400" dirty="0">
                <a:solidFill>
                  <a:srgbClr val="424242"/>
                </a:solidFill>
                <a:latin typeface="Consolas" pitchFamily="34" charset="0"/>
                <a:ea typeface="Consolas" pitchFamily="34" charset="-122"/>
                <a:cs typeface="Consolas" pitchFamily="34" charset="-120"/>
              </a:rPr>
              <a:t>[]</a:t>
            </a:r>
            <a:endParaRPr lang="en-US" sz="1200" dirty="0"/>
          </a:p>
        </p:txBody>
      </p:sp>
      <p:sp>
        <p:nvSpPr>
          <p:cNvPr id="32" name="Shape 30"/>
          <p:cNvSpPr/>
          <p:nvPr/>
        </p:nvSpPr>
        <p:spPr>
          <a:xfrm>
            <a:off x="457200" y="2880360"/>
            <a:ext cx="8229600" cy="365760"/>
          </a:xfrm>
          <a:prstGeom prst="rect">
            <a:avLst/>
          </a:prstGeom>
          <a:solidFill>
            <a:srgbClr val="F5F6FA"/>
          </a:solidFill>
          <a:ln/>
          <a:effectLst>
            <a:outerShdw blurRad="38100" dist="12700" dir="8100000" algn="bl" rotWithShape="0">
              <a:srgbClr val="000000">
                <a:alpha val="8000"/>
              </a:srgbClr>
            </a:outerShdw>
          </a:effectLst>
        </p:spPr>
      </p:sp>
      <p:sp>
        <p:nvSpPr>
          <p:cNvPr id="33" name="Shape 31"/>
          <p:cNvSpPr/>
          <p:nvPr/>
        </p:nvSpPr>
        <p:spPr>
          <a:xfrm>
            <a:off x="457200" y="2880360"/>
            <a:ext cx="54864" cy="365760"/>
          </a:xfrm>
          <a:prstGeom prst="rect">
            <a:avLst/>
          </a:prstGeom>
          <a:solidFill>
            <a:srgbClr val="1565C0"/>
          </a:solidFill>
          <a:ln/>
        </p:spPr>
      </p:sp>
      <p:sp>
        <p:nvSpPr>
          <p:cNvPr id="34" name="Text 32"/>
          <p:cNvSpPr/>
          <p:nvPr/>
        </p:nvSpPr>
        <p:spPr>
          <a:xfrm>
            <a:off x="640080" y="2898648"/>
            <a:ext cx="7863840" cy="329184"/>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char HoTen[30];  →  Lưu tối đa 29 ký tự + 1 '\0'</a:t>
            </a:r>
            <a:endParaRPr lang="en-US" sz="1100" dirty="0"/>
          </a:p>
        </p:txBody>
      </p:sp>
      <p:sp>
        <p:nvSpPr>
          <p:cNvPr id="35" name="Shape 33"/>
          <p:cNvSpPr/>
          <p:nvPr/>
        </p:nvSpPr>
        <p:spPr>
          <a:xfrm>
            <a:off x="457200" y="3319272"/>
            <a:ext cx="8229600" cy="365760"/>
          </a:xfrm>
          <a:prstGeom prst="rect">
            <a:avLst/>
          </a:prstGeom>
          <a:solidFill>
            <a:srgbClr val="F5F6FA"/>
          </a:solidFill>
          <a:ln/>
          <a:effectLst>
            <a:outerShdw blurRad="38100" dist="12700" dir="8100000" algn="bl" rotWithShape="0">
              <a:srgbClr val="000000">
                <a:alpha val="8000"/>
              </a:srgbClr>
            </a:outerShdw>
          </a:effectLst>
        </p:spPr>
      </p:sp>
      <p:sp>
        <p:nvSpPr>
          <p:cNvPr id="36" name="Shape 34"/>
          <p:cNvSpPr/>
          <p:nvPr/>
        </p:nvSpPr>
        <p:spPr>
          <a:xfrm>
            <a:off x="457200" y="3319272"/>
            <a:ext cx="54864" cy="365760"/>
          </a:xfrm>
          <a:prstGeom prst="rect">
            <a:avLst/>
          </a:prstGeom>
          <a:solidFill>
            <a:srgbClr val="2E7D32"/>
          </a:solidFill>
          <a:ln/>
        </p:spPr>
      </p:sp>
      <p:sp>
        <p:nvSpPr>
          <p:cNvPr id="37" name="Text 35"/>
          <p:cNvSpPr/>
          <p:nvPr/>
        </p:nvSpPr>
        <p:spPr>
          <a:xfrm>
            <a:off x="640080" y="3337560"/>
            <a:ext cx="7863840" cy="329184"/>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Bảng mã ASCII: A=65, a=97, 0=48, '\0'=0</a:t>
            </a:r>
            <a:endParaRPr lang="en-US" sz="1100" dirty="0"/>
          </a:p>
        </p:txBody>
      </p:sp>
      <p:sp>
        <p:nvSpPr>
          <p:cNvPr id="38" name="Shape 36"/>
          <p:cNvSpPr/>
          <p:nvPr/>
        </p:nvSpPr>
        <p:spPr>
          <a:xfrm>
            <a:off x="457200" y="3758184"/>
            <a:ext cx="8229600" cy="365760"/>
          </a:xfrm>
          <a:prstGeom prst="rect">
            <a:avLst/>
          </a:prstGeom>
          <a:solidFill>
            <a:srgbClr val="F5F6FA"/>
          </a:solidFill>
          <a:ln/>
          <a:effectLst>
            <a:outerShdw blurRad="38100" dist="12700" dir="8100000" algn="bl" rotWithShape="0">
              <a:srgbClr val="000000">
                <a:alpha val="8000"/>
              </a:srgbClr>
            </a:outerShdw>
          </a:effectLst>
        </p:spPr>
      </p:sp>
      <p:sp>
        <p:nvSpPr>
          <p:cNvPr id="39" name="Shape 37"/>
          <p:cNvSpPr/>
          <p:nvPr/>
        </p:nvSpPr>
        <p:spPr>
          <a:xfrm>
            <a:off x="457200" y="3758184"/>
            <a:ext cx="54864" cy="365760"/>
          </a:xfrm>
          <a:prstGeom prst="rect">
            <a:avLst/>
          </a:prstGeom>
          <a:solidFill>
            <a:srgbClr val="E65100"/>
          </a:solidFill>
          <a:ln/>
        </p:spPr>
      </p:sp>
      <p:sp>
        <p:nvSpPr>
          <p:cNvPr id="40" name="Text 38"/>
          <p:cNvSpPr/>
          <p:nvPr/>
        </p:nvSpPr>
        <p:spPr>
          <a:xfrm>
            <a:off x="640080" y="3776472"/>
            <a:ext cx="7863840" cy="329184"/>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Ký tự '\0' chiếm 1 ô nhớ → luôn khai báo n+1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II: KHAI BÁO CHUỖI</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7</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3 Cách Khai Báo Chuỗi — Chọn Cách Nào?</a:t>
            </a:r>
            <a:endParaRPr lang="en-US" sz="2200" dirty="0"/>
          </a:p>
        </p:txBody>
      </p:sp>
      <p:sp>
        <p:nvSpPr>
          <p:cNvPr id="9" name="Shape 7"/>
          <p:cNvSpPr/>
          <p:nvPr/>
        </p:nvSpPr>
        <p:spPr>
          <a:xfrm>
            <a:off x="457200" y="1234440"/>
            <a:ext cx="8229600" cy="960120"/>
          </a:xfrm>
          <a:prstGeom prst="rect">
            <a:avLst/>
          </a:prstGeom>
          <a:solidFill>
            <a:srgbClr val="E3F2FD"/>
          </a:solidFill>
          <a:ln/>
          <a:effectLst>
            <a:outerShdw blurRad="50800" dist="25400" dir="8100000" algn="bl" rotWithShape="0">
              <a:srgbClr val="000000">
                <a:alpha val="10000"/>
              </a:srgbClr>
            </a:outerShdw>
          </a:effectLst>
        </p:spPr>
      </p:sp>
      <p:sp>
        <p:nvSpPr>
          <p:cNvPr id="10" name="Shape 8"/>
          <p:cNvSpPr/>
          <p:nvPr/>
        </p:nvSpPr>
        <p:spPr>
          <a:xfrm>
            <a:off x="457200" y="1234440"/>
            <a:ext cx="54864" cy="960120"/>
          </a:xfrm>
          <a:prstGeom prst="rect">
            <a:avLst/>
          </a:prstGeom>
          <a:solidFill>
            <a:srgbClr val="1565C0"/>
          </a:solidFill>
          <a:ln/>
        </p:spPr>
      </p:sp>
      <p:sp>
        <p:nvSpPr>
          <p:cNvPr id="11" name="Shape 9"/>
          <p:cNvSpPr/>
          <p:nvPr/>
        </p:nvSpPr>
        <p:spPr>
          <a:xfrm>
            <a:off x="640080" y="1325880"/>
            <a:ext cx="384048" cy="384048"/>
          </a:xfrm>
          <a:prstGeom prst="ellipse">
            <a:avLst/>
          </a:prstGeom>
          <a:solidFill>
            <a:srgbClr val="1565C0"/>
          </a:solidFill>
          <a:ln/>
        </p:spPr>
      </p:sp>
      <p:sp>
        <p:nvSpPr>
          <p:cNvPr id="12" name="Text 10"/>
          <p:cNvSpPr/>
          <p:nvPr/>
        </p:nvSpPr>
        <p:spPr>
          <a:xfrm>
            <a:off x="640080" y="132588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1143000" y="1280160"/>
            <a:ext cx="2286000" cy="365760"/>
          </a:xfrm>
          <a:prstGeom prst="rect">
            <a:avLst/>
          </a:prstGeom>
          <a:noFill/>
          <a:ln/>
        </p:spPr>
        <p:txBody>
          <a:bodyPr wrap="square" rtlCol="0" anchor="ctr"/>
          <a:lstStyle/>
          <a:p>
            <a:pPr marL="0" indent="0">
              <a:buNone/>
            </a:pPr>
            <a:r>
              <a:rPr lang="en-US" sz="1300" b="1" dirty="0">
                <a:solidFill>
                  <a:srgbClr val="1565C0"/>
                </a:solidFill>
                <a:latin typeface="Georgia" pitchFamily="34" charset="0"/>
                <a:ea typeface="Georgia" pitchFamily="34" charset="-122"/>
                <a:cs typeface="Georgia" pitchFamily="34" charset="-120"/>
              </a:rPr>
              <a:t>Cách 1: Tường Minh</a:t>
            </a:r>
            <a:endParaRPr lang="en-US" sz="1300" dirty="0"/>
          </a:p>
        </p:txBody>
      </p:sp>
      <p:sp>
        <p:nvSpPr>
          <p:cNvPr id="14" name="Shape 12"/>
          <p:cNvSpPr/>
          <p:nvPr/>
        </p:nvSpPr>
        <p:spPr>
          <a:xfrm>
            <a:off x="1143000" y="1673352"/>
            <a:ext cx="5029200" cy="347472"/>
          </a:xfrm>
          <a:prstGeom prst="rect">
            <a:avLst/>
          </a:prstGeom>
          <a:solidFill>
            <a:srgbClr val="263238"/>
          </a:solidFill>
          <a:ln/>
        </p:spPr>
      </p:sp>
      <p:sp>
        <p:nvSpPr>
          <p:cNvPr id="15" name="Text 13"/>
          <p:cNvSpPr/>
          <p:nvPr/>
        </p:nvSpPr>
        <p:spPr>
          <a:xfrm>
            <a:off x="1280160" y="1691640"/>
            <a:ext cx="4754880" cy="310896"/>
          </a:xfrm>
          <a:prstGeom prst="rect">
            <a:avLst/>
          </a:prstGeom>
          <a:noFill/>
          <a:ln/>
        </p:spPr>
        <p:txBody>
          <a:bodyPr wrap="square" rtlCol="0" anchor="ctr"/>
          <a:lstStyle/>
          <a:p>
            <a:pPr marL="0" indent="0">
              <a:buNone/>
            </a:pPr>
            <a:r>
              <a:rPr lang="en-US" sz="1000" dirty="0">
                <a:solidFill>
                  <a:srgbClr val="E0E0E0"/>
                </a:solidFill>
                <a:latin typeface="Consolas" pitchFamily="34" charset="0"/>
                <a:ea typeface="Consolas" pitchFamily="34" charset="-122"/>
                <a:cs typeface="Consolas" pitchFamily="34" charset="-120"/>
              </a:rPr>
              <a:t>char Greeting[] = {'H','E','L','L','O','\0'};</a:t>
            </a:r>
            <a:endParaRPr lang="en-US" sz="1000" dirty="0"/>
          </a:p>
        </p:txBody>
      </p:sp>
      <p:sp>
        <p:nvSpPr>
          <p:cNvPr id="16" name="Text 14"/>
          <p:cNvSpPr/>
          <p:nvPr/>
        </p:nvSpPr>
        <p:spPr>
          <a:xfrm>
            <a:off x="6400800" y="1280160"/>
            <a:ext cx="2286000" cy="868680"/>
          </a:xfrm>
          <a:prstGeom prst="rect">
            <a:avLst/>
          </a:prstGeom>
          <a:noFill/>
          <a:ln/>
        </p:spPr>
        <p:txBody>
          <a:bodyPr wrap="square" rtlCol="0" anchor="ctr"/>
          <a:lstStyle/>
          <a:p>
            <a:pPr marL="0" indent="0">
              <a:buNone/>
            </a:pPr>
            <a:r>
              <a:rPr lang="en-US" sz="1100" i="1" dirty="0">
                <a:solidFill>
                  <a:srgbClr val="424242"/>
                </a:solidFill>
                <a:latin typeface="Calibri" pitchFamily="34" charset="0"/>
                <a:ea typeface="Calibri" pitchFamily="34" charset="-122"/>
                <a:cs typeface="Calibri" pitchFamily="34" charset="-120"/>
              </a:rPr>
              <a:t>Ghi rõ từng ký tự + '\0' cuối cùng</a:t>
            </a:r>
            <a:endParaRPr lang="en-US" sz="1100" dirty="0"/>
          </a:p>
        </p:txBody>
      </p:sp>
      <p:sp>
        <p:nvSpPr>
          <p:cNvPr id="17" name="Shape 15"/>
          <p:cNvSpPr/>
          <p:nvPr/>
        </p:nvSpPr>
        <p:spPr>
          <a:xfrm>
            <a:off x="457200" y="2331720"/>
            <a:ext cx="8229600" cy="960120"/>
          </a:xfrm>
          <a:prstGeom prst="rect">
            <a:avLst/>
          </a:prstGeom>
          <a:solidFill>
            <a:srgbClr val="E8F5E9"/>
          </a:solidFill>
          <a:ln/>
          <a:effectLst>
            <a:outerShdw blurRad="50800" dist="25400" dir="8100000" algn="bl" rotWithShape="0">
              <a:srgbClr val="000000">
                <a:alpha val="10000"/>
              </a:srgbClr>
            </a:outerShdw>
          </a:effectLst>
        </p:spPr>
      </p:sp>
      <p:sp>
        <p:nvSpPr>
          <p:cNvPr id="18" name="Shape 16"/>
          <p:cNvSpPr/>
          <p:nvPr/>
        </p:nvSpPr>
        <p:spPr>
          <a:xfrm>
            <a:off x="457200" y="2331720"/>
            <a:ext cx="54864" cy="960120"/>
          </a:xfrm>
          <a:prstGeom prst="rect">
            <a:avLst/>
          </a:prstGeom>
          <a:solidFill>
            <a:srgbClr val="2E7D32"/>
          </a:solidFill>
          <a:ln/>
        </p:spPr>
      </p:sp>
      <p:sp>
        <p:nvSpPr>
          <p:cNvPr id="19" name="Shape 17"/>
          <p:cNvSpPr/>
          <p:nvPr/>
        </p:nvSpPr>
        <p:spPr>
          <a:xfrm>
            <a:off x="640080" y="2423160"/>
            <a:ext cx="384048" cy="384048"/>
          </a:xfrm>
          <a:prstGeom prst="ellipse">
            <a:avLst/>
          </a:prstGeom>
          <a:solidFill>
            <a:srgbClr val="2E7D32"/>
          </a:solidFill>
          <a:ln/>
        </p:spPr>
      </p:sp>
      <p:sp>
        <p:nvSpPr>
          <p:cNvPr id="20" name="Text 18"/>
          <p:cNvSpPr/>
          <p:nvPr/>
        </p:nvSpPr>
        <p:spPr>
          <a:xfrm>
            <a:off x="640080" y="242316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1" name="Text 19"/>
          <p:cNvSpPr/>
          <p:nvPr/>
        </p:nvSpPr>
        <p:spPr>
          <a:xfrm>
            <a:off x="1143000" y="2377440"/>
            <a:ext cx="2286000" cy="365760"/>
          </a:xfrm>
          <a:prstGeom prst="rect">
            <a:avLst/>
          </a:prstGeom>
          <a:noFill/>
          <a:ln/>
        </p:spPr>
        <p:txBody>
          <a:bodyPr wrap="square" rtlCol="0" anchor="ctr"/>
          <a:lstStyle/>
          <a:p>
            <a:pPr marL="0" indent="0">
              <a:buNone/>
            </a:pPr>
            <a:r>
              <a:rPr lang="en-US" sz="1300" b="1" dirty="0">
                <a:solidFill>
                  <a:srgbClr val="2E7D32"/>
                </a:solidFill>
                <a:latin typeface="Georgia" pitchFamily="34" charset="0"/>
                <a:ea typeface="Georgia" pitchFamily="34" charset="-122"/>
                <a:cs typeface="Georgia" pitchFamily="34" charset="-120"/>
              </a:rPr>
              <a:t>Cách 2: Có Kích Thước</a:t>
            </a:r>
            <a:endParaRPr lang="en-US" sz="1300" dirty="0"/>
          </a:p>
        </p:txBody>
      </p:sp>
      <p:sp>
        <p:nvSpPr>
          <p:cNvPr id="22" name="Shape 20"/>
          <p:cNvSpPr/>
          <p:nvPr/>
        </p:nvSpPr>
        <p:spPr>
          <a:xfrm>
            <a:off x="1143000" y="2770632"/>
            <a:ext cx="5029200" cy="347472"/>
          </a:xfrm>
          <a:prstGeom prst="rect">
            <a:avLst/>
          </a:prstGeom>
          <a:solidFill>
            <a:srgbClr val="263238"/>
          </a:solidFill>
          <a:ln/>
        </p:spPr>
      </p:sp>
      <p:sp>
        <p:nvSpPr>
          <p:cNvPr id="23" name="Text 21"/>
          <p:cNvSpPr/>
          <p:nvPr/>
        </p:nvSpPr>
        <p:spPr>
          <a:xfrm>
            <a:off x="1280160" y="2788920"/>
            <a:ext cx="4754880" cy="310896"/>
          </a:xfrm>
          <a:prstGeom prst="rect">
            <a:avLst/>
          </a:prstGeom>
          <a:noFill/>
          <a:ln/>
        </p:spPr>
        <p:txBody>
          <a:bodyPr wrap="square" rtlCol="0" anchor="ctr"/>
          <a:lstStyle/>
          <a:p>
            <a:pPr marL="0" indent="0">
              <a:buNone/>
            </a:pPr>
            <a:r>
              <a:rPr lang="en-US" sz="1000" dirty="0">
                <a:solidFill>
                  <a:srgbClr val="E0E0E0"/>
                </a:solidFill>
                <a:latin typeface="Consolas" pitchFamily="34" charset="0"/>
                <a:ea typeface="Consolas" pitchFamily="34" charset="-122"/>
                <a:cs typeface="Consolas" pitchFamily="34" charset="-120"/>
              </a:rPr>
              <a:t>char Greeting[6] = "HELLO";</a:t>
            </a:r>
            <a:endParaRPr lang="en-US" sz="1000" dirty="0"/>
          </a:p>
        </p:txBody>
      </p:sp>
      <p:sp>
        <p:nvSpPr>
          <p:cNvPr id="24" name="Text 22"/>
          <p:cNvSpPr/>
          <p:nvPr/>
        </p:nvSpPr>
        <p:spPr>
          <a:xfrm>
            <a:off x="6400800" y="2377440"/>
            <a:ext cx="2286000" cy="868680"/>
          </a:xfrm>
          <a:prstGeom prst="rect">
            <a:avLst/>
          </a:prstGeom>
          <a:noFill/>
          <a:ln/>
        </p:spPr>
        <p:txBody>
          <a:bodyPr wrap="square" rtlCol="0" anchor="ctr"/>
          <a:lstStyle/>
          <a:p>
            <a:pPr marL="0" indent="0">
              <a:buNone/>
            </a:pPr>
            <a:r>
              <a:rPr lang="en-US" sz="1100" i="1" dirty="0">
                <a:solidFill>
                  <a:srgbClr val="424242"/>
                </a:solidFill>
                <a:latin typeface="Calibri" pitchFamily="34" charset="0"/>
                <a:ea typeface="Calibri" pitchFamily="34" charset="-122"/>
                <a:cs typeface="Calibri" pitchFamily="34" charset="-120"/>
              </a:rPr>
              <a:t>Chỉ rõ kích thước mảng (n+1)</a:t>
            </a:r>
            <a:endParaRPr lang="en-US" sz="1100" dirty="0"/>
          </a:p>
        </p:txBody>
      </p:sp>
      <p:sp>
        <p:nvSpPr>
          <p:cNvPr id="25" name="Shape 23"/>
          <p:cNvSpPr/>
          <p:nvPr/>
        </p:nvSpPr>
        <p:spPr>
          <a:xfrm>
            <a:off x="457200" y="3429000"/>
            <a:ext cx="8229600" cy="960120"/>
          </a:xfrm>
          <a:prstGeom prst="rect">
            <a:avLst/>
          </a:prstGeom>
          <a:solidFill>
            <a:srgbClr val="FFF3E0"/>
          </a:solidFill>
          <a:ln/>
          <a:effectLst>
            <a:outerShdw blurRad="50800" dist="25400" dir="8100000" algn="bl" rotWithShape="0">
              <a:srgbClr val="000000">
                <a:alpha val="10000"/>
              </a:srgbClr>
            </a:outerShdw>
          </a:effectLst>
        </p:spPr>
      </p:sp>
      <p:sp>
        <p:nvSpPr>
          <p:cNvPr id="26" name="Shape 24"/>
          <p:cNvSpPr/>
          <p:nvPr/>
        </p:nvSpPr>
        <p:spPr>
          <a:xfrm>
            <a:off x="457200" y="3429000"/>
            <a:ext cx="54864" cy="960120"/>
          </a:xfrm>
          <a:prstGeom prst="rect">
            <a:avLst/>
          </a:prstGeom>
          <a:solidFill>
            <a:srgbClr val="E65100"/>
          </a:solidFill>
          <a:ln/>
        </p:spPr>
      </p:sp>
      <p:sp>
        <p:nvSpPr>
          <p:cNvPr id="27" name="Shape 25"/>
          <p:cNvSpPr/>
          <p:nvPr/>
        </p:nvSpPr>
        <p:spPr>
          <a:xfrm>
            <a:off x="640080" y="3520440"/>
            <a:ext cx="384048" cy="384048"/>
          </a:xfrm>
          <a:prstGeom prst="ellipse">
            <a:avLst/>
          </a:prstGeom>
          <a:solidFill>
            <a:srgbClr val="E65100"/>
          </a:solidFill>
          <a:ln/>
        </p:spPr>
      </p:sp>
      <p:sp>
        <p:nvSpPr>
          <p:cNvPr id="28" name="Text 26"/>
          <p:cNvSpPr/>
          <p:nvPr/>
        </p:nvSpPr>
        <p:spPr>
          <a:xfrm>
            <a:off x="640080" y="352044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9" name="Text 27"/>
          <p:cNvSpPr/>
          <p:nvPr/>
        </p:nvSpPr>
        <p:spPr>
          <a:xfrm>
            <a:off x="1143000" y="3474720"/>
            <a:ext cx="2286000" cy="365760"/>
          </a:xfrm>
          <a:prstGeom prst="rect">
            <a:avLst/>
          </a:prstGeom>
          <a:noFill/>
          <a:ln/>
        </p:spPr>
        <p:txBody>
          <a:bodyPr wrap="square" rtlCol="0" anchor="ctr"/>
          <a:lstStyle/>
          <a:p>
            <a:pPr marL="0" indent="0">
              <a:buNone/>
            </a:pPr>
            <a:r>
              <a:rPr lang="en-US" sz="1300" b="1" dirty="0">
                <a:solidFill>
                  <a:srgbClr val="E65100"/>
                </a:solidFill>
                <a:latin typeface="Georgia" pitchFamily="34" charset="0"/>
                <a:ea typeface="Georgia" pitchFamily="34" charset="-122"/>
                <a:cs typeface="Georgia" pitchFamily="34" charset="-120"/>
              </a:rPr>
              <a:t>Cách 3: Tự Động</a:t>
            </a:r>
            <a:endParaRPr lang="en-US" sz="1300" dirty="0"/>
          </a:p>
        </p:txBody>
      </p:sp>
      <p:sp>
        <p:nvSpPr>
          <p:cNvPr id="30" name="Shape 28"/>
          <p:cNvSpPr/>
          <p:nvPr/>
        </p:nvSpPr>
        <p:spPr>
          <a:xfrm>
            <a:off x="1143000" y="3867912"/>
            <a:ext cx="5029200" cy="347472"/>
          </a:xfrm>
          <a:prstGeom prst="rect">
            <a:avLst/>
          </a:prstGeom>
          <a:solidFill>
            <a:srgbClr val="263238"/>
          </a:solidFill>
          <a:ln/>
        </p:spPr>
      </p:sp>
      <p:sp>
        <p:nvSpPr>
          <p:cNvPr id="31" name="Text 29"/>
          <p:cNvSpPr/>
          <p:nvPr/>
        </p:nvSpPr>
        <p:spPr>
          <a:xfrm>
            <a:off x="1280160" y="3886200"/>
            <a:ext cx="4754880" cy="310896"/>
          </a:xfrm>
          <a:prstGeom prst="rect">
            <a:avLst/>
          </a:prstGeom>
          <a:noFill/>
          <a:ln/>
        </p:spPr>
        <p:txBody>
          <a:bodyPr wrap="square" rtlCol="0" anchor="ctr"/>
          <a:lstStyle/>
          <a:p>
            <a:pPr marL="0" indent="0">
              <a:buNone/>
            </a:pPr>
            <a:r>
              <a:rPr lang="en-US" sz="1000" dirty="0">
                <a:solidFill>
                  <a:srgbClr val="E0E0E0"/>
                </a:solidFill>
                <a:latin typeface="Consolas" pitchFamily="34" charset="0"/>
                <a:ea typeface="Consolas" pitchFamily="34" charset="-122"/>
                <a:cs typeface="Consolas" pitchFamily="34" charset="-120"/>
              </a:rPr>
              <a:t>char Greeting[] = "HELLO";</a:t>
            </a:r>
            <a:endParaRPr lang="en-US" sz="1000" dirty="0"/>
          </a:p>
        </p:txBody>
      </p:sp>
      <p:sp>
        <p:nvSpPr>
          <p:cNvPr id="32" name="Text 30"/>
          <p:cNvSpPr/>
          <p:nvPr/>
        </p:nvSpPr>
        <p:spPr>
          <a:xfrm>
            <a:off x="6400800" y="3474720"/>
            <a:ext cx="2286000" cy="868680"/>
          </a:xfrm>
          <a:prstGeom prst="rect">
            <a:avLst/>
          </a:prstGeom>
          <a:noFill/>
          <a:ln/>
        </p:spPr>
        <p:txBody>
          <a:bodyPr wrap="square" rtlCol="0" anchor="ctr"/>
          <a:lstStyle/>
          <a:p>
            <a:pPr marL="0" indent="0">
              <a:buNone/>
            </a:pPr>
            <a:r>
              <a:rPr lang="en-US" sz="1100" i="1" dirty="0">
                <a:solidFill>
                  <a:srgbClr val="424242"/>
                </a:solidFill>
                <a:latin typeface="Calibri" pitchFamily="34" charset="0"/>
                <a:ea typeface="Calibri" pitchFamily="34" charset="-122"/>
                <a:cs typeface="Calibri" pitchFamily="34" charset="-120"/>
              </a:rPr>
              <a:t>Compiler tự tính kích thước — gọn nhất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II: KHAI BÁO CHUỖI</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8</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strlen() vs sizeof — Hai Thước Đo Khác Nhau</a:t>
            </a:r>
            <a:endParaRPr lang="en-US" sz="2200" dirty="0"/>
          </a:p>
        </p:txBody>
      </p:sp>
      <p:sp>
        <p:nvSpPr>
          <p:cNvPr id="9" name="Shape 7"/>
          <p:cNvSpPr/>
          <p:nvPr/>
        </p:nvSpPr>
        <p:spPr>
          <a:xfrm>
            <a:off x="457200" y="1234440"/>
            <a:ext cx="3931920" cy="1645920"/>
          </a:xfrm>
          <a:prstGeom prst="rect">
            <a:avLst/>
          </a:prstGeom>
          <a:solidFill>
            <a:srgbClr val="E3F2FD"/>
          </a:solidFill>
          <a:ln/>
          <a:effectLst>
            <a:outerShdw blurRad="50800" dist="25400" dir="8100000" algn="bl" rotWithShape="0">
              <a:srgbClr val="000000">
                <a:alpha val="10000"/>
              </a:srgbClr>
            </a:outerShdw>
          </a:effectLst>
        </p:spPr>
      </p:sp>
      <p:sp>
        <p:nvSpPr>
          <p:cNvPr id="10" name="Shape 8"/>
          <p:cNvSpPr/>
          <p:nvPr/>
        </p:nvSpPr>
        <p:spPr>
          <a:xfrm>
            <a:off x="457200" y="1234440"/>
            <a:ext cx="54864" cy="1645920"/>
          </a:xfrm>
          <a:prstGeom prst="rect">
            <a:avLst/>
          </a:prstGeom>
          <a:solidFill>
            <a:srgbClr val="1565C0"/>
          </a:solidFill>
          <a:ln/>
        </p:spPr>
      </p:sp>
      <p:sp>
        <p:nvSpPr>
          <p:cNvPr id="11" name="Text 9"/>
          <p:cNvSpPr/>
          <p:nvPr/>
        </p:nvSpPr>
        <p:spPr>
          <a:xfrm>
            <a:off x="658368" y="1234440"/>
            <a:ext cx="3566160" cy="305374"/>
          </a:xfrm>
          <a:prstGeom prst="rect">
            <a:avLst/>
          </a:prstGeom>
          <a:noFill/>
          <a:ln/>
        </p:spPr>
        <p:txBody>
          <a:bodyPr wrap="square" rtlCol="0" anchor="ctr"/>
          <a:lstStyle/>
          <a:p>
            <a:pPr marL="0" indent="0">
              <a:buNone/>
            </a:pPr>
            <a:r>
              <a:rPr lang="en-US" sz="1300" b="1" dirty="0">
                <a:solidFill>
                  <a:srgbClr val="1565C0"/>
                </a:solidFill>
                <a:latin typeface="Georgia" pitchFamily="34" charset="0"/>
                <a:ea typeface="Georgia" pitchFamily="34" charset="-122"/>
                <a:cs typeface="Georgia" pitchFamily="34" charset="-120"/>
              </a:rPr>
              <a:t>strlen(str)</a:t>
            </a:r>
            <a:endParaRPr lang="en-US" sz="1300" dirty="0"/>
          </a:p>
        </p:txBody>
      </p:sp>
      <p:sp>
        <p:nvSpPr>
          <p:cNvPr id="12" name="Text 10"/>
          <p:cNvSpPr/>
          <p:nvPr/>
        </p:nvSpPr>
        <p:spPr>
          <a:xfrm>
            <a:off x="667512" y="1564270"/>
            <a:ext cx="3557016" cy="1316090"/>
          </a:xfrm>
          <a:prstGeom prst="rect">
            <a:avLst/>
          </a:prstGeom>
          <a:noFill/>
          <a:ln/>
        </p:spPr>
        <p:txBody>
          <a:bodyPr wrap="square" rtlCol="0" anchor="ctr"/>
          <a:lstStyle/>
          <a:p>
            <a:pPr>
              <a:lnSpc>
                <a:spcPct val="125000"/>
              </a:lnSpc>
            </a:pPr>
            <a:r>
              <a:rPr lang="en-US" sz="1400">
                <a:solidFill>
                  <a:srgbClr val="212121"/>
                </a:solidFill>
                <a:latin typeface="Calibri" pitchFamily="34" charset="0"/>
                <a:ea typeface="Calibri" pitchFamily="34" charset="-122"/>
                <a:cs typeface="Calibri" pitchFamily="34" charset="-120"/>
              </a:rPr>
              <a:t>→ Trả </a:t>
            </a:r>
            <a:r>
              <a:rPr lang="en-US" sz="1400" dirty="0">
                <a:solidFill>
                  <a:srgbClr val="212121"/>
                </a:solidFill>
                <a:latin typeface="Calibri" pitchFamily="34" charset="0"/>
                <a:ea typeface="Calibri" pitchFamily="34" charset="-122"/>
                <a:cs typeface="Calibri" pitchFamily="34" charset="-120"/>
              </a:rPr>
              <a:t>về độ dài chuỗi</a:t>
            </a:r>
            <a:endParaRPr lang="en-US" sz="1400" dirty="0"/>
          </a:p>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(số ký tự TRƯỚC '\0')</a:t>
            </a:r>
            <a:endParaRPr lang="en-US" sz="1400" dirty="0"/>
          </a:p>
          <a:p>
            <a:pPr>
              <a:lnSpc>
                <a:spcPct val="125000"/>
              </a:lnSpc>
            </a:pPr>
            <a:r>
              <a:rPr lang="en-US" sz="1400">
                <a:solidFill>
                  <a:srgbClr val="212121"/>
                </a:solidFill>
                <a:latin typeface="Calibri" pitchFamily="34" charset="0"/>
                <a:ea typeface="Calibri" pitchFamily="34" charset="-122"/>
                <a:cs typeface="Calibri" pitchFamily="34" charset="-120"/>
              </a:rPr>
              <a:t>→ Cần</a:t>
            </a:r>
            <a:r>
              <a:rPr lang="en-US" sz="1400" dirty="0">
                <a:solidFill>
                  <a:srgbClr val="212121"/>
                </a:solidFill>
                <a:latin typeface="Calibri" pitchFamily="34" charset="0"/>
                <a:ea typeface="Calibri" pitchFamily="34" charset="-122"/>
                <a:cs typeface="Calibri" pitchFamily="34" charset="-120"/>
              </a:rPr>
              <a:t>: #include &lt;string.h&gt;</a:t>
            </a:r>
            <a:endParaRPr lang="en-US" sz="1400" dirty="0"/>
          </a:p>
          <a:p>
            <a:pPr marL="0" indent="0">
              <a:lnSpc>
                <a:spcPct val="125000"/>
              </a:lnSpc>
              <a:buNone/>
            </a:pPr>
            <a:r>
              <a:rPr lang="en-US" sz="1400" smtClean="0">
                <a:solidFill>
                  <a:srgbClr val="212121"/>
                </a:solidFill>
                <a:latin typeface="Calibri" pitchFamily="34" charset="0"/>
                <a:ea typeface="Calibri" pitchFamily="34" charset="-122"/>
                <a:cs typeface="Calibri" pitchFamily="34" charset="-120"/>
              </a:rPr>
              <a:t>VD</a:t>
            </a:r>
            <a:r>
              <a:rPr lang="en-US" sz="1400" dirty="0">
                <a:solidFill>
                  <a:srgbClr val="212121"/>
                </a:solidFill>
                <a:latin typeface="Calibri" pitchFamily="34" charset="0"/>
                <a:ea typeface="Calibri" pitchFamily="34" charset="-122"/>
                <a:cs typeface="Calibri" pitchFamily="34" charset="-120"/>
              </a:rPr>
              <a:t>: char name[30] = "Dang";</a:t>
            </a:r>
            <a:endParaRPr lang="en-US" sz="1400" dirty="0"/>
          </a:p>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 strlen(name) = 4</a:t>
            </a:r>
            <a:endParaRPr lang="en-US" sz="1400" dirty="0"/>
          </a:p>
        </p:txBody>
      </p:sp>
      <p:sp>
        <p:nvSpPr>
          <p:cNvPr id="13" name="Shape 11"/>
          <p:cNvSpPr/>
          <p:nvPr/>
        </p:nvSpPr>
        <p:spPr>
          <a:xfrm>
            <a:off x="4754880" y="1234440"/>
            <a:ext cx="3931920" cy="1645920"/>
          </a:xfrm>
          <a:prstGeom prst="rect">
            <a:avLst/>
          </a:prstGeom>
          <a:solidFill>
            <a:srgbClr val="FFF3E0"/>
          </a:solidFill>
          <a:ln/>
          <a:effectLst>
            <a:outerShdw blurRad="50800" dist="25400" dir="8100000" algn="bl" rotWithShape="0">
              <a:srgbClr val="000000">
                <a:alpha val="10000"/>
              </a:srgbClr>
            </a:outerShdw>
          </a:effectLst>
        </p:spPr>
      </p:sp>
      <p:sp>
        <p:nvSpPr>
          <p:cNvPr id="14" name="Shape 12"/>
          <p:cNvSpPr/>
          <p:nvPr/>
        </p:nvSpPr>
        <p:spPr>
          <a:xfrm>
            <a:off x="4754880" y="1234440"/>
            <a:ext cx="54864" cy="1645920"/>
          </a:xfrm>
          <a:prstGeom prst="rect">
            <a:avLst/>
          </a:prstGeom>
          <a:solidFill>
            <a:srgbClr val="E65100"/>
          </a:solidFill>
          <a:ln/>
        </p:spPr>
      </p:sp>
      <p:sp>
        <p:nvSpPr>
          <p:cNvPr id="15" name="Text 13"/>
          <p:cNvSpPr/>
          <p:nvPr/>
        </p:nvSpPr>
        <p:spPr>
          <a:xfrm>
            <a:off x="4956048" y="1211580"/>
            <a:ext cx="3566160" cy="328234"/>
          </a:xfrm>
          <a:prstGeom prst="rect">
            <a:avLst/>
          </a:prstGeom>
          <a:noFill/>
          <a:ln/>
        </p:spPr>
        <p:txBody>
          <a:bodyPr wrap="square" rtlCol="0" anchor="ctr"/>
          <a:lstStyle/>
          <a:p>
            <a:pPr marL="0" indent="0">
              <a:buNone/>
            </a:pPr>
            <a:r>
              <a:rPr lang="en-US" sz="1300" b="1" dirty="0">
                <a:solidFill>
                  <a:srgbClr val="E65100"/>
                </a:solidFill>
                <a:latin typeface="Georgia" pitchFamily="34" charset="0"/>
                <a:ea typeface="Georgia" pitchFamily="34" charset="-122"/>
                <a:cs typeface="Georgia" pitchFamily="34" charset="-120"/>
              </a:rPr>
              <a:t>sizeof(str)</a:t>
            </a:r>
            <a:endParaRPr lang="en-US" sz="1300" dirty="0"/>
          </a:p>
        </p:txBody>
      </p:sp>
      <p:sp>
        <p:nvSpPr>
          <p:cNvPr id="16" name="Text 14"/>
          <p:cNvSpPr/>
          <p:nvPr/>
        </p:nvSpPr>
        <p:spPr>
          <a:xfrm>
            <a:off x="4956048" y="1558102"/>
            <a:ext cx="3566160" cy="1322258"/>
          </a:xfrm>
          <a:prstGeom prst="rect">
            <a:avLst/>
          </a:prstGeom>
          <a:noFill/>
          <a:ln/>
        </p:spPr>
        <p:txBody>
          <a:bodyPr wrap="square" rtlCol="0" anchor="ctr"/>
          <a:lstStyle/>
          <a:p>
            <a:pPr>
              <a:lnSpc>
                <a:spcPct val="125000"/>
              </a:lnSpc>
            </a:pPr>
            <a:r>
              <a:rPr lang="en-US" sz="1400">
                <a:solidFill>
                  <a:srgbClr val="212121"/>
                </a:solidFill>
                <a:latin typeface="Calibri" pitchFamily="34" charset="0"/>
                <a:ea typeface="Calibri" pitchFamily="34" charset="-122"/>
                <a:cs typeface="Calibri" pitchFamily="34" charset="-120"/>
              </a:rPr>
              <a:t>→ Trả </a:t>
            </a:r>
            <a:r>
              <a:rPr lang="en-US" sz="1400" dirty="0">
                <a:solidFill>
                  <a:srgbClr val="212121"/>
                </a:solidFill>
                <a:latin typeface="Calibri" pitchFamily="34" charset="0"/>
                <a:ea typeface="Calibri" pitchFamily="34" charset="-122"/>
                <a:cs typeface="Calibri" pitchFamily="34" charset="-120"/>
              </a:rPr>
              <a:t>về kích thước mảng</a:t>
            </a:r>
            <a:endParaRPr lang="en-US" sz="1400" dirty="0"/>
          </a:p>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(số byte được cấp phát)</a:t>
            </a:r>
            <a:endParaRPr lang="en-US" sz="1400" dirty="0"/>
          </a:p>
          <a:p>
            <a:pPr>
              <a:lnSpc>
                <a:spcPct val="125000"/>
              </a:lnSpc>
            </a:pPr>
            <a:r>
              <a:rPr lang="en-US" sz="1400">
                <a:solidFill>
                  <a:srgbClr val="212121"/>
                </a:solidFill>
                <a:latin typeface="Calibri" pitchFamily="34" charset="0"/>
                <a:ea typeface="Calibri" pitchFamily="34" charset="-122"/>
                <a:cs typeface="Calibri" pitchFamily="34" charset="-120"/>
              </a:rPr>
              <a:t>→ Không </a:t>
            </a:r>
            <a:r>
              <a:rPr lang="en-US" sz="1400" dirty="0">
                <a:solidFill>
                  <a:srgbClr val="212121"/>
                </a:solidFill>
                <a:latin typeface="Calibri" pitchFamily="34" charset="0"/>
                <a:ea typeface="Calibri" pitchFamily="34" charset="-122"/>
                <a:cs typeface="Calibri" pitchFamily="34" charset="-120"/>
              </a:rPr>
              <a:t>cần thư viện</a:t>
            </a:r>
            <a:endParaRPr lang="en-US" sz="1400" dirty="0"/>
          </a:p>
          <a:p>
            <a:pPr marL="0" indent="0">
              <a:lnSpc>
                <a:spcPct val="125000"/>
              </a:lnSpc>
              <a:buNone/>
            </a:pPr>
            <a:r>
              <a:rPr lang="en-US" sz="1400" smtClean="0">
                <a:solidFill>
                  <a:srgbClr val="212121"/>
                </a:solidFill>
                <a:latin typeface="Calibri" pitchFamily="34" charset="0"/>
                <a:ea typeface="Calibri" pitchFamily="34" charset="-122"/>
                <a:cs typeface="Calibri" pitchFamily="34" charset="-120"/>
              </a:rPr>
              <a:t>VD</a:t>
            </a:r>
            <a:r>
              <a:rPr lang="en-US" sz="1400" dirty="0">
                <a:solidFill>
                  <a:srgbClr val="212121"/>
                </a:solidFill>
                <a:latin typeface="Calibri" pitchFamily="34" charset="0"/>
                <a:ea typeface="Calibri" pitchFamily="34" charset="-122"/>
                <a:cs typeface="Calibri" pitchFamily="34" charset="-120"/>
              </a:rPr>
              <a:t>: char name[30] = "Dang";</a:t>
            </a:r>
            <a:endParaRPr lang="en-US" sz="1400" dirty="0"/>
          </a:p>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 sizeof(name) = 30</a:t>
            </a:r>
            <a:endParaRPr lang="en-US" sz="1400" dirty="0"/>
          </a:p>
        </p:txBody>
      </p:sp>
      <p:sp>
        <p:nvSpPr>
          <p:cNvPr id="17" name="Shape 15"/>
          <p:cNvSpPr/>
          <p:nvPr/>
        </p:nvSpPr>
        <p:spPr>
          <a:xfrm>
            <a:off x="457200" y="3108960"/>
            <a:ext cx="8229600" cy="548640"/>
          </a:xfrm>
          <a:prstGeom prst="rect">
            <a:avLst/>
          </a:prstGeom>
          <a:solidFill>
            <a:srgbClr val="E8F5E9"/>
          </a:solidFill>
          <a:ln/>
          <a:effectLst>
            <a:outerShdw blurRad="38100" dist="12700" dir="8100000" algn="bl" rotWithShape="0">
              <a:srgbClr val="000000">
                <a:alpha val="8000"/>
              </a:srgbClr>
            </a:outerShdw>
          </a:effectLst>
        </p:spPr>
      </p:sp>
      <p:sp>
        <p:nvSpPr>
          <p:cNvPr id="18" name="Shape 16"/>
          <p:cNvSpPr/>
          <p:nvPr/>
        </p:nvSpPr>
        <p:spPr>
          <a:xfrm>
            <a:off x="457200" y="3108960"/>
            <a:ext cx="54864" cy="548640"/>
          </a:xfrm>
          <a:prstGeom prst="rect">
            <a:avLst/>
          </a:prstGeom>
          <a:solidFill>
            <a:srgbClr val="2E7D32"/>
          </a:solidFill>
          <a:ln/>
        </p:spPr>
      </p:sp>
      <p:sp>
        <p:nvSpPr>
          <p:cNvPr id="19" name="Text 17"/>
          <p:cNvSpPr/>
          <p:nvPr/>
        </p:nvSpPr>
        <p:spPr>
          <a:xfrm>
            <a:off x="640080" y="3154680"/>
            <a:ext cx="7863840" cy="457200"/>
          </a:xfrm>
          <a:prstGeom prst="rect">
            <a:avLst/>
          </a:prstGeom>
          <a:noFill/>
          <a:ln/>
        </p:spPr>
        <p:txBody>
          <a:bodyPr wrap="square" rtlCol="0" anchor="ctr"/>
          <a:lstStyle/>
          <a:p>
            <a:pPr marL="0" indent="0">
              <a:buNone/>
            </a:pPr>
            <a:r>
              <a:rPr lang="en-US" sz="1200" i="1" dirty="0">
                <a:solidFill>
                  <a:srgbClr val="212121"/>
                </a:solidFill>
                <a:latin typeface="Calibri" pitchFamily="34" charset="0"/>
                <a:ea typeface="Calibri" pitchFamily="34" charset="-122"/>
                <a:cs typeface="Calibri" pitchFamily="34" charset="-120"/>
              </a:rPr>
              <a:t>Ẩn dụ: Căn phòng 30m² nhưng chỉ bày đồ 4m². strlen = diện tích đồ (4), sizeof = diện tích phòng (30)</a:t>
            </a:r>
            <a:endParaRPr lang="en-US" sz="1200" dirty="0"/>
          </a:p>
        </p:txBody>
      </p:sp>
      <p:sp>
        <p:nvSpPr>
          <p:cNvPr id="20" name="Shape 18"/>
          <p:cNvSpPr/>
          <p:nvPr/>
        </p:nvSpPr>
        <p:spPr>
          <a:xfrm>
            <a:off x="457200" y="3840480"/>
            <a:ext cx="8229600" cy="502920"/>
          </a:xfrm>
          <a:prstGeom prst="rect">
            <a:avLst/>
          </a:prstGeom>
          <a:solidFill>
            <a:srgbClr val="FFEBEE"/>
          </a:solidFill>
          <a:ln/>
          <a:effectLst>
            <a:outerShdw blurRad="38100" dist="12700" dir="8100000" algn="bl" rotWithShape="0">
              <a:srgbClr val="000000">
                <a:alpha val="8000"/>
              </a:srgbClr>
            </a:outerShdw>
          </a:effectLst>
        </p:spPr>
      </p:sp>
      <p:sp>
        <p:nvSpPr>
          <p:cNvPr id="21" name="Shape 19"/>
          <p:cNvSpPr/>
          <p:nvPr/>
        </p:nvSpPr>
        <p:spPr>
          <a:xfrm>
            <a:off x="457200" y="3840480"/>
            <a:ext cx="54864" cy="502920"/>
          </a:xfrm>
          <a:prstGeom prst="rect">
            <a:avLst/>
          </a:prstGeom>
          <a:solidFill>
            <a:srgbClr val="C62828"/>
          </a:solidFill>
          <a:ln/>
        </p:spPr>
      </p:sp>
      <p:sp>
        <p:nvSpPr>
          <p:cNvPr id="22" name="Text 20"/>
          <p:cNvSpPr/>
          <p:nvPr/>
        </p:nvSpPr>
        <p:spPr>
          <a:xfrm>
            <a:off x="640080" y="3886200"/>
            <a:ext cx="7863840" cy="411480"/>
          </a:xfrm>
          <a:prstGeom prst="rect">
            <a:avLst/>
          </a:prstGeom>
          <a:noFill/>
          <a:ln/>
        </p:spPr>
        <p:txBody>
          <a:bodyPr wrap="square" rtlCol="0" anchor="ctr"/>
          <a:lstStyle/>
          <a:p>
            <a:pPr marL="0" indent="0">
              <a:buNone/>
            </a:pPr>
            <a:r>
              <a:rPr lang="en-US" sz="1200" b="1" dirty="0">
                <a:solidFill>
                  <a:srgbClr val="C62828"/>
                </a:solidFill>
                <a:latin typeface="Calibri" pitchFamily="34" charset="0"/>
                <a:ea typeface="Calibri" pitchFamily="34" charset="-122"/>
                <a:cs typeface="Calibri" pitchFamily="34" charset="-120"/>
              </a:rPr>
              <a:t>Sai lầm phổ biến: Nhầm strlen và sizeof khi duyệt mảng hoặc cấp phát bộ nhớ!</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II: KHAI BÁO CHUỖI</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9</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Nền Tảng: Chuỗi Đứng Trên Vai "Mảng" Và "Con Trỏ"</a:t>
            </a:r>
            <a:endParaRPr lang="en-US" sz="2200" dirty="0"/>
          </a:p>
        </p:txBody>
      </p:sp>
      <p:sp>
        <p:nvSpPr>
          <p:cNvPr id="9" name="Shape 7"/>
          <p:cNvSpPr/>
          <p:nvPr/>
        </p:nvSpPr>
        <p:spPr>
          <a:xfrm>
            <a:off x="457200" y="1234440"/>
            <a:ext cx="2560320" cy="3383280"/>
          </a:xfrm>
          <a:prstGeom prst="roundRect">
            <a:avLst>
              <a:gd name="adj" fmla="val 1786"/>
            </a:avLst>
          </a:prstGeom>
          <a:solidFill>
            <a:srgbClr val="E3F2FD"/>
          </a:solidFill>
          <a:ln/>
          <a:effectLst>
            <a:outerShdw blurRad="50800" dist="25400" dir="8100000" algn="bl" rotWithShape="0">
              <a:srgbClr val="000000">
                <a:alpha val="10000"/>
              </a:srgbClr>
            </a:outerShdw>
          </a:effectLst>
        </p:spPr>
      </p:sp>
      <p:sp>
        <p:nvSpPr>
          <p:cNvPr id="10" name="Shape 8"/>
          <p:cNvSpPr/>
          <p:nvPr/>
        </p:nvSpPr>
        <p:spPr>
          <a:xfrm>
            <a:off x="457200" y="1234440"/>
            <a:ext cx="2560320" cy="54864"/>
          </a:xfrm>
          <a:prstGeom prst="rect">
            <a:avLst/>
          </a:prstGeom>
          <a:solidFill>
            <a:srgbClr val="1565C0"/>
          </a:solidFill>
          <a:ln/>
        </p:spPr>
      </p:sp>
      <p:sp>
        <p:nvSpPr>
          <p:cNvPr id="11" name="Shape 9"/>
          <p:cNvSpPr/>
          <p:nvPr/>
        </p:nvSpPr>
        <p:spPr>
          <a:xfrm>
            <a:off x="1545336" y="1417320"/>
            <a:ext cx="384048" cy="384048"/>
          </a:xfrm>
          <a:prstGeom prst="ellipse">
            <a:avLst/>
          </a:prstGeom>
          <a:solidFill>
            <a:srgbClr val="1565C0"/>
          </a:solidFill>
          <a:ln/>
        </p:spPr>
      </p:sp>
      <p:sp>
        <p:nvSpPr>
          <p:cNvPr id="12" name="Text 10"/>
          <p:cNvSpPr/>
          <p:nvPr/>
        </p:nvSpPr>
        <p:spPr>
          <a:xfrm>
            <a:off x="1545336" y="141732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594360" y="1920240"/>
            <a:ext cx="2286000" cy="411480"/>
          </a:xfrm>
          <a:prstGeom prst="rect">
            <a:avLst/>
          </a:prstGeom>
          <a:noFill/>
          <a:ln/>
        </p:spPr>
        <p:txBody>
          <a:bodyPr wrap="square" rtlCol="0" anchor="ctr"/>
          <a:lstStyle/>
          <a:p>
            <a:pPr marL="0" indent="0" algn="ctr">
              <a:buNone/>
            </a:pPr>
            <a:r>
              <a:rPr lang="en-US" sz="1300" b="1" dirty="0">
                <a:solidFill>
                  <a:srgbClr val="1565C0"/>
                </a:solidFill>
                <a:latin typeface="Georgia" pitchFamily="34" charset="0"/>
                <a:ea typeface="Georgia" pitchFamily="34" charset="-122"/>
                <a:cs typeface="Georgia" pitchFamily="34" charset="-120"/>
              </a:rPr>
              <a:t>Chương 5: Mảng</a:t>
            </a:r>
            <a:endParaRPr lang="en-US" sz="1300" dirty="0"/>
          </a:p>
        </p:txBody>
      </p:sp>
      <p:sp>
        <p:nvSpPr>
          <p:cNvPr id="14" name="Text 12"/>
          <p:cNvSpPr/>
          <p:nvPr/>
        </p:nvSpPr>
        <p:spPr>
          <a:xfrm>
            <a:off x="594360" y="2423160"/>
            <a:ext cx="2286000" cy="2011680"/>
          </a:xfrm>
          <a:prstGeom prst="rect">
            <a:avLst/>
          </a:prstGeom>
          <a:noFill/>
          <a:ln/>
        </p:spPr>
        <p:txBody>
          <a:bodyPr wrap="square" rtlCol="0" anchor="ctr"/>
          <a:lstStyle/>
          <a:p>
            <a:pPr marL="0" indent="0" algn="ctr">
              <a:lnSpc>
                <a:spcPct val="130000"/>
              </a:lnSpc>
              <a:buNone/>
            </a:pPr>
            <a:r>
              <a:rPr lang="en-US" sz="1600" dirty="0">
                <a:solidFill>
                  <a:srgbClr val="212121"/>
                </a:solidFill>
                <a:latin typeface="Calibri" pitchFamily="34" charset="0"/>
                <a:ea typeface="Calibri" pitchFamily="34" charset="-122"/>
                <a:cs typeface="Calibri" pitchFamily="34" charset="-120"/>
              </a:rPr>
              <a:t>Mọi kỹ thuật duyệt mảng đều áp dụng được: vòng for, while, chỉ số [i]</a:t>
            </a:r>
            <a:endParaRPr lang="en-US" sz="1600" dirty="0"/>
          </a:p>
        </p:txBody>
      </p:sp>
      <p:sp>
        <p:nvSpPr>
          <p:cNvPr id="15" name="Text 13"/>
          <p:cNvSpPr/>
          <p:nvPr/>
        </p:nvSpPr>
        <p:spPr>
          <a:xfrm>
            <a:off x="3017520" y="2743200"/>
            <a:ext cx="274320" cy="365760"/>
          </a:xfrm>
          <a:prstGeom prst="rect">
            <a:avLst/>
          </a:prstGeom>
          <a:noFill/>
          <a:ln/>
        </p:spPr>
        <p:txBody>
          <a:bodyPr wrap="square" rtlCol="0" anchor="ctr"/>
          <a:lstStyle/>
          <a:p>
            <a:pPr marL="0" indent="0" algn="ctr">
              <a:buNone/>
            </a:pPr>
            <a:r>
              <a:rPr lang="en-US" sz="1800" b="1" dirty="0">
                <a:solidFill>
                  <a:srgbClr val="1B2558"/>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3291840" y="1234440"/>
            <a:ext cx="2560320" cy="3383280"/>
          </a:xfrm>
          <a:prstGeom prst="roundRect">
            <a:avLst>
              <a:gd name="adj" fmla="val 1786"/>
            </a:avLst>
          </a:prstGeom>
          <a:solidFill>
            <a:srgbClr val="E8F5E9"/>
          </a:solidFill>
          <a:ln/>
          <a:effectLst>
            <a:outerShdw blurRad="50800" dist="25400" dir="8100000" algn="bl" rotWithShape="0">
              <a:srgbClr val="000000">
                <a:alpha val="10000"/>
              </a:srgbClr>
            </a:outerShdw>
          </a:effectLst>
        </p:spPr>
      </p:sp>
      <p:sp>
        <p:nvSpPr>
          <p:cNvPr id="17" name="Shape 15"/>
          <p:cNvSpPr/>
          <p:nvPr/>
        </p:nvSpPr>
        <p:spPr>
          <a:xfrm>
            <a:off x="3291840" y="1234440"/>
            <a:ext cx="2560320" cy="54864"/>
          </a:xfrm>
          <a:prstGeom prst="rect">
            <a:avLst/>
          </a:prstGeom>
          <a:solidFill>
            <a:srgbClr val="2E7D32"/>
          </a:solidFill>
          <a:ln/>
        </p:spPr>
      </p:sp>
      <p:sp>
        <p:nvSpPr>
          <p:cNvPr id="18" name="Shape 16"/>
          <p:cNvSpPr/>
          <p:nvPr/>
        </p:nvSpPr>
        <p:spPr>
          <a:xfrm>
            <a:off x="4379976" y="1417320"/>
            <a:ext cx="384048" cy="384048"/>
          </a:xfrm>
          <a:prstGeom prst="ellipse">
            <a:avLst/>
          </a:prstGeom>
          <a:solidFill>
            <a:srgbClr val="2E7D32"/>
          </a:solidFill>
          <a:ln/>
        </p:spPr>
      </p:sp>
      <p:sp>
        <p:nvSpPr>
          <p:cNvPr id="19" name="Text 17"/>
          <p:cNvSpPr/>
          <p:nvPr/>
        </p:nvSpPr>
        <p:spPr>
          <a:xfrm>
            <a:off x="4379976" y="141732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0" name="Text 18"/>
          <p:cNvSpPr/>
          <p:nvPr/>
        </p:nvSpPr>
        <p:spPr>
          <a:xfrm>
            <a:off x="3429000" y="1920240"/>
            <a:ext cx="2286000" cy="411480"/>
          </a:xfrm>
          <a:prstGeom prst="rect">
            <a:avLst/>
          </a:prstGeom>
          <a:noFill/>
          <a:ln/>
        </p:spPr>
        <p:txBody>
          <a:bodyPr wrap="square" rtlCol="0" anchor="ctr"/>
          <a:lstStyle/>
          <a:p>
            <a:pPr marL="0" indent="0" algn="ctr">
              <a:buNone/>
            </a:pPr>
            <a:r>
              <a:rPr lang="en-US" sz="1300" b="1" dirty="0">
                <a:solidFill>
                  <a:srgbClr val="2E7D32"/>
                </a:solidFill>
                <a:latin typeface="Georgia" pitchFamily="34" charset="0"/>
                <a:ea typeface="Georgia" pitchFamily="34" charset="-122"/>
                <a:cs typeface="Georgia" pitchFamily="34" charset="-120"/>
              </a:rPr>
              <a:t>Chương 6: Con Trỏ</a:t>
            </a:r>
            <a:endParaRPr lang="en-US" sz="1300" dirty="0"/>
          </a:p>
        </p:txBody>
      </p:sp>
      <p:sp>
        <p:nvSpPr>
          <p:cNvPr id="21" name="Text 19"/>
          <p:cNvSpPr/>
          <p:nvPr/>
        </p:nvSpPr>
        <p:spPr>
          <a:xfrm>
            <a:off x="3429000" y="2423160"/>
            <a:ext cx="2286000" cy="2011680"/>
          </a:xfrm>
          <a:prstGeom prst="rect">
            <a:avLst/>
          </a:prstGeom>
          <a:noFill/>
          <a:ln/>
        </p:spPr>
        <p:txBody>
          <a:bodyPr wrap="square" rtlCol="0" anchor="ctr"/>
          <a:lstStyle/>
          <a:p>
            <a:pPr marL="0" indent="0" algn="ctr">
              <a:lnSpc>
                <a:spcPct val="130000"/>
              </a:lnSpc>
              <a:buNone/>
            </a:pPr>
            <a:r>
              <a:rPr lang="en-US" sz="1600" dirty="0">
                <a:solidFill>
                  <a:srgbClr val="212121"/>
                </a:solidFill>
                <a:latin typeface="Calibri" pitchFamily="34" charset="0"/>
                <a:ea typeface="Calibri" pitchFamily="34" charset="-122"/>
                <a:cs typeface="Calibri" pitchFamily="34" charset="-120"/>
              </a:rPr>
              <a:t>Tên chuỗi = con trỏ tới phần tử đầu tiên. str tương đương &amp;str[0]</a:t>
            </a:r>
            <a:endParaRPr lang="en-US" sz="1600" dirty="0"/>
          </a:p>
        </p:txBody>
      </p:sp>
      <p:sp>
        <p:nvSpPr>
          <p:cNvPr id="22" name="Text 20"/>
          <p:cNvSpPr/>
          <p:nvPr/>
        </p:nvSpPr>
        <p:spPr>
          <a:xfrm>
            <a:off x="5852160" y="2743200"/>
            <a:ext cx="274320" cy="365760"/>
          </a:xfrm>
          <a:prstGeom prst="rect">
            <a:avLst/>
          </a:prstGeom>
          <a:noFill/>
          <a:ln/>
        </p:spPr>
        <p:txBody>
          <a:bodyPr wrap="square" rtlCol="0" anchor="ctr"/>
          <a:lstStyle/>
          <a:p>
            <a:pPr marL="0" indent="0" algn="ctr">
              <a:buNone/>
            </a:pPr>
            <a:r>
              <a:rPr lang="en-US" sz="1800" b="1" dirty="0">
                <a:solidFill>
                  <a:srgbClr val="1B2558"/>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6126480" y="1234440"/>
            <a:ext cx="2560320" cy="3383280"/>
          </a:xfrm>
          <a:prstGeom prst="roundRect">
            <a:avLst>
              <a:gd name="adj" fmla="val 1786"/>
            </a:avLst>
          </a:prstGeom>
          <a:solidFill>
            <a:srgbClr val="FFF3E0"/>
          </a:solidFill>
          <a:ln/>
          <a:effectLst>
            <a:outerShdw blurRad="50800" dist="25400" dir="8100000" algn="bl" rotWithShape="0">
              <a:srgbClr val="000000">
                <a:alpha val="10000"/>
              </a:srgbClr>
            </a:outerShdw>
          </a:effectLst>
        </p:spPr>
      </p:sp>
      <p:sp>
        <p:nvSpPr>
          <p:cNvPr id="24" name="Shape 22"/>
          <p:cNvSpPr/>
          <p:nvPr/>
        </p:nvSpPr>
        <p:spPr>
          <a:xfrm>
            <a:off x="6126480" y="1234440"/>
            <a:ext cx="2560320" cy="54864"/>
          </a:xfrm>
          <a:prstGeom prst="rect">
            <a:avLst/>
          </a:prstGeom>
          <a:solidFill>
            <a:srgbClr val="E65100"/>
          </a:solidFill>
          <a:ln/>
        </p:spPr>
      </p:sp>
      <p:sp>
        <p:nvSpPr>
          <p:cNvPr id="25" name="Shape 23"/>
          <p:cNvSpPr/>
          <p:nvPr/>
        </p:nvSpPr>
        <p:spPr>
          <a:xfrm>
            <a:off x="7214616" y="1417320"/>
            <a:ext cx="384048" cy="384048"/>
          </a:xfrm>
          <a:prstGeom prst="ellipse">
            <a:avLst/>
          </a:prstGeom>
          <a:solidFill>
            <a:srgbClr val="E65100"/>
          </a:solidFill>
          <a:ln/>
        </p:spPr>
      </p:sp>
      <p:sp>
        <p:nvSpPr>
          <p:cNvPr id="26" name="Text 24"/>
          <p:cNvSpPr/>
          <p:nvPr/>
        </p:nvSpPr>
        <p:spPr>
          <a:xfrm>
            <a:off x="7214616" y="141732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7" name="Text 25"/>
          <p:cNvSpPr/>
          <p:nvPr/>
        </p:nvSpPr>
        <p:spPr>
          <a:xfrm>
            <a:off x="6263640" y="1920240"/>
            <a:ext cx="2286000" cy="411480"/>
          </a:xfrm>
          <a:prstGeom prst="rect">
            <a:avLst/>
          </a:prstGeom>
          <a:noFill/>
          <a:ln/>
        </p:spPr>
        <p:txBody>
          <a:bodyPr wrap="square" rtlCol="0" anchor="ctr"/>
          <a:lstStyle/>
          <a:p>
            <a:pPr marL="0" indent="0" algn="ctr">
              <a:buNone/>
            </a:pPr>
            <a:r>
              <a:rPr lang="en-US" sz="1300" b="1" dirty="0">
                <a:solidFill>
                  <a:srgbClr val="E65100"/>
                </a:solidFill>
                <a:latin typeface="Georgia" pitchFamily="34" charset="0"/>
                <a:ea typeface="Georgia" pitchFamily="34" charset="-122"/>
                <a:cs typeface="Georgia" pitchFamily="34" charset="-120"/>
              </a:rPr>
              <a:t>Ứng dụng ngay</a:t>
            </a:r>
            <a:endParaRPr lang="en-US" sz="1300" dirty="0"/>
          </a:p>
        </p:txBody>
      </p:sp>
      <p:sp>
        <p:nvSpPr>
          <p:cNvPr id="28" name="Text 26"/>
          <p:cNvSpPr/>
          <p:nvPr/>
        </p:nvSpPr>
        <p:spPr>
          <a:xfrm>
            <a:off x="6263640" y="2423160"/>
            <a:ext cx="2286000" cy="2011680"/>
          </a:xfrm>
          <a:prstGeom prst="rect">
            <a:avLst/>
          </a:prstGeom>
          <a:noFill/>
          <a:ln/>
        </p:spPr>
        <p:txBody>
          <a:bodyPr wrap="square" rtlCol="0" anchor="ctr"/>
          <a:lstStyle/>
          <a:p>
            <a:pPr marL="0" indent="0" algn="ctr">
              <a:lnSpc>
                <a:spcPct val="130000"/>
              </a:lnSpc>
              <a:buNone/>
            </a:pPr>
            <a:r>
              <a:rPr lang="en-US" sz="1600" dirty="0">
                <a:solidFill>
                  <a:srgbClr val="212121"/>
                </a:solidFill>
                <a:latin typeface="Calibri" pitchFamily="34" charset="0"/>
                <a:ea typeface="Calibri" pitchFamily="34" charset="-122"/>
                <a:cs typeface="Calibri" pitchFamily="34" charset="-120"/>
              </a:rPr>
              <a:t>scanf("%s", str) không cần dấu &amp; — vì str ĐÃ LÀ địa chỉ rồi!</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55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457200" y="914400"/>
            <a:ext cx="8229600" cy="1097280"/>
          </a:xfrm>
          <a:prstGeom prst="rect">
            <a:avLst/>
          </a:prstGeom>
          <a:noFill/>
          <a:ln/>
        </p:spPr>
        <p:txBody>
          <a:bodyPr wrap="square" rtlCol="0" anchor="ctr"/>
          <a:lstStyle/>
          <a:p>
            <a:pPr marL="0" indent="0" algn="ctr">
              <a:buNone/>
            </a:pPr>
            <a:r>
              <a:rPr lang="en-US" sz="7200" b="1" dirty="0">
                <a:solidFill>
                  <a:srgbClr val="F9A825"/>
                </a:solidFill>
                <a:latin typeface="Georgia" pitchFamily="34" charset="0"/>
                <a:ea typeface="Georgia" pitchFamily="34" charset="-122"/>
                <a:cs typeface="Georgia" pitchFamily="34" charset="-120"/>
              </a:rPr>
              <a:t>03</a:t>
            </a:r>
            <a:endParaRPr lang="en-US" sz="7200" dirty="0"/>
          </a:p>
        </p:txBody>
      </p:sp>
      <p:sp>
        <p:nvSpPr>
          <p:cNvPr id="4" name="Shape 2"/>
          <p:cNvSpPr/>
          <p:nvPr/>
        </p:nvSpPr>
        <p:spPr>
          <a:xfrm>
            <a:off x="3200400" y="2103120"/>
            <a:ext cx="2743200" cy="27432"/>
          </a:xfrm>
          <a:prstGeom prst="rect">
            <a:avLst/>
          </a:prstGeom>
          <a:solidFill>
            <a:srgbClr val="F9A825"/>
          </a:solidFill>
          <a:ln/>
        </p:spPr>
      </p:sp>
      <p:sp>
        <p:nvSpPr>
          <p:cNvPr id="5" name="Text 3"/>
          <p:cNvSpPr/>
          <p:nvPr/>
        </p:nvSpPr>
        <p:spPr>
          <a:xfrm>
            <a:off x="457200" y="2286000"/>
            <a:ext cx="8229600" cy="914400"/>
          </a:xfrm>
          <a:prstGeom prst="rect">
            <a:avLst/>
          </a:prstGeom>
          <a:noFill/>
          <a:ln/>
        </p:spPr>
        <p:txBody>
          <a:bodyPr wrap="square" rtlCol="0" anchor="ctr"/>
          <a:lstStyle/>
          <a:p>
            <a:pPr marL="0" indent="0" algn="ctr">
              <a:buNone/>
            </a:pPr>
            <a:r>
              <a:rPr lang="en-US" sz="2600" b="1" kern="0" spc="300" dirty="0">
                <a:solidFill>
                  <a:srgbClr val="FFFFFF"/>
                </a:solidFill>
                <a:latin typeface="Georgia" pitchFamily="34" charset="0"/>
                <a:ea typeface="Georgia" pitchFamily="34" charset="-122"/>
                <a:cs typeface="Georgia" pitchFamily="34" charset="-120"/>
              </a:rPr>
              <a:t>NHẬP / XUẤT CHUỖI</a:t>
            </a:r>
            <a:endParaRPr lang="en-US" sz="2600" dirty="0"/>
          </a:p>
        </p:txBody>
      </p:sp>
      <p:sp>
        <p:nvSpPr>
          <p:cNvPr id="6" name="Text 4"/>
          <p:cNvSpPr/>
          <p:nvPr/>
        </p:nvSpPr>
        <p:spPr>
          <a:xfrm>
            <a:off x="914400" y="3291840"/>
            <a:ext cx="7315200" cy="548640"/>
          </a:xfrm>
          <a:prstGeom prst="rect">
            <a:avLst/>
          </a:prstGeom>
          <a:noFill/>
          <a:ln/>
        </p:spPr>
        <p:txBody>
          <a:bodyPr wrap="square" rtlCol="0" anchor="ctr"/>
          <a:lstStyle/>
          <a:p>
            <a:pPr marL="0" indent="0" algn="ctr">
              <a:buNone/>
            </a:pPr>
            <a:r>
              <a:rPr lang="en-US" sz="1300" i="1" dirty="0">
                <a:solidFill>
                  <a:srgbClr val="AAAAAA"/>
                </a:solidFill>
                <a:latin typeface="Calibri" pitchFamily="34" charset="0"/>
                <a:ea typeface="Calibri" pitchFamily="34" charset="-122"/>
                <a:cs typeface="Calibri" pitchFamily="34" charset="-120"/>
              </a:rPr>
              <a:t>scanf vs fgets — chọn vũ khí phù hợp</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18" name="Shape 16"/>
          <p:cNvSpPr/>
          <p:nvPr/>
        </p:nvSpPr>
        <p:spPr>
          <a:xfrm>
            <a:off x="518089" y="3403906"/>
            <a:ext cx="8229600" cy="411480"/>
          </a:xfrm>
          <a:prstGeom prst="rect">
            <a:avLst/>
          </a:prstGeom>
          <a:solidFill>
            <a:srgbClr val="F5F6FA"/>
          </a:solidFill>
          <a:ln/>
          <a:effectLst>
            <a:outerShdw blurRad="38100" dist="12700" dir="8100000" algn="bl" rotWithShape="0">
              <a:srgbClr val="000000">
                <a:alpha val="8000"/>
              </a:srgbClr>
            </a:outerShdw>
          </a:effectLst>
        </p:spPr>
      </p:sp>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III: NHẬP / XUẤT CHUỖI</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10</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a:t>
            </a:r>
            <a:r>
              <a:rPr lang="en-US" sz="800" smtClean="0">
                <a:solidFill>
                  <a:srgbClr val="AAAAAA"/>
                </a:solidFill>
                <a:latin typeface="Calibri" pitchFamily="34" charset="0"/>
                <a:ea typeface="Calibri" pitchFamily="34" charset="-122"/>
                <a:cs typeface="Calibri" pitchFamily="34" charset="-120"/>
              </a:rPr>
              <a:t>Đăng</a:t>
            </a:r>
            <a:endParaRPr lang="en-US" sz="80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scanf("%s") — Nhập Chuỗi Nhưng Sợ Dấu Cách</a:t>
            </a:r>
            <a:endParaRPr lang="en-US" sz="2200" dirty="0"/>
          </a:p>
        </p:txBody>
      </p:sp>
      <p:sp>
        <p:nvSpPr>
          <p:cNvPr id="9" name="Shape 7"/>
          <p:cNvSpPr/>
          <p:nvPr/>
        </p:nvSpPr>
        <p:spPr>
          <a:xfrm>
            <a:off x="457200" y="1234439"/>
            <a:ext cx="3931920" cy="1969499"/>
          </a:xfrm>
          <a:prstGeom prst="rect">
            <a:avLst/>
          </a:prstGeom>
          <a:solidFill>
            <a:srgbClr val="FFF3E0"/>
          </a:solidFill>
          <a:ln/>
          <a:effectLst>
            <a:outerShdw blurRad="50800" dist="25400" dir="8100000" algn="bl" rotWithShape="0">
              <a:srgbClr val="000000">
                <a:alpha val="10000"/>
              </a:srgbClr>
            </a:outerShdw>
          </a:effectLst>
        </p:spPr>
      </p:sp>
      <p:sp>
        <p:nvSpPr>
          <p:cNvPr id="10" name="Shape 8"/>
          <p:cNvSpPr/>
          <p:nvPr/>
        </p:nvSpPr>
        <p:spPr>
          <a:xfrm>
            <a:off x="457200" y="1234440"/>
            <a:ext cx="54864" cy="1969498"/>
          </a:xfrm>
          <a:prstGeom prst="rect">
            <a:avLst/>
          </a:prstGeom>
          <a:solidFill>
            <a:srgbClr val="E65100"/>
          </a:solidFill>
          <a:ln/>
        </p:spPr>
      </p:sp>
      <p:sp>
        <p:nvSpPr>
          <p:cNvPr id="11" name="Text 9"/>
          <p:cNvSpPr/>
          <p:nvPr/>
        </p:nvSpPr>
        <p:spPr>
          <a:xfrm>
            <a:off x="658368" y="1344168"/>
            <a:ext cx="3566160" cy="365760"/>
          </a:xfrm>
          <a:prstGeom prst="rect">
            <a:avLst/>
          </a:prstGeom>
          <a:noFill/>
          <a:ln/>
        </p:spPr>
        <p:txBody>
          <a:bodyPr wrap="square" rtlCol="0" anchor="ctr"/>
          <a:lstStyle/>
          <a:p>
            <a:pPr marL="0" indent="0">
              <a:buNone/>
            </a:pPr>
            <a:r>
              <a:rPr lang="en-US" sz="1300" b="1" dirty="0">
                <a:solidFill>
                  <a:srgbClr val="E65100"/>
                </a:solidFill>
                <a:latin typeface="Georgia" pitchFamily="34" charset="0"/>
                <a:ea typeface="Georgia" pitchFamily="34" charset="-122"/>
                <a:cs typeface="Georgia" pitchFamily="34" charset="-120"/>
              </a:rPr>
              <a:t>ĐẶC ĐIỂM SCANF</a:t>
            </a:r>
            <a:endParaRPr lang="en-US" sz="1300" dirty="0"/>
          </a:p>
        </p:txBody>
      </p:sp>
      <p:sp>
        <p:nvSpPr>
          <p:cNvPr id="12" name="Text 10"/>
          <p:cNvSpPr/>
          <p:nvPr/>
        </p:nvSpPr>
        <p:spPr>
          <a:xfrm>
            <a:off x="658368" y="1737360"/>
            <a:ext cx="3566160" cy="1287238"/>
          </a:xfrm>
          <a:prstGeom prst="rect">
            <a:avLst/>
          </a:prstGeom>
          <a:noFill/>
          <a:ln/>
        </p:spPr>
        <p:txBody>
          <a:bodyPr wrap="square" rtlCol="0" anchor="ctr"/>
          <a:lstStyle/>
          <a:p>
            <a:pPr marL="0" indent="0">
              <a:lnSpc>
                <a:spcPct val="125000"/>
              </a:lnSpc>
              <a:buNone/>
            </a:pPr>
            <a:r>
              <a:rPr lang="en-US" sz="1400" b="1" dirty="0">
                <a:solidFill>
                  <a:srgbClr val="212121"/>
                </a:solidFill>
                <a:latin typeface="Calibri" pitchFamily="34" charset="0"/>
                <a:ea typeface="Calibri" pitchFamily="34" charset="-122"/>
                <a:cs typeface="Calibri" pitchFamily="34" charset="-120"/>
              </a:rPr>
              <a:t>Cú pháp</a:t>
            </a:r>
            <a:r>
              <a:rPr lang="en-US" sz="1400" dirty="0">
                <a:solidFill>
                  <a:srgbClr val="212121"/>
                </a:solidFill>
                <a:latin typeface="Calibri" pitchFamily="34" charset="0"/>
                <a:ea typeface="Calibri" pitchFamily="34" charset="-122"/>
                <a:cs typeface="Calibri" pitchFamily="34" charset="-120"/>
              </a:rPr>
              <a:t>: scanf("%s", str);</a:t>
            </a:r>
            <a:endParaRPr lang="en-US" sz="1400" dirty="0"/>
          </a:p>
          <a:p>
            <a:pPr marL="0" indent="0">
              <a:lnSpc>
                <a:spcPct val="150000"/>
              </a:lnSpc>
              <a:buNone/>
            </a:pPr>
            <a:r>
              <a:rPr lang="en-US" sz="1400" b="1" dirty="0">
                <a:solidFill>
                  <a:srgbClr val="212121"/>
                </a:solidFill>
                <a:latin typeface="Calibri" pitchFamily="34" charset="0"/>
                <a:ea typeface="Calibri" pitchFamily="34" charset="-122"/>
                <a:cs typeface="Calibri" pitchFamily="34" charset="-120"/>
              </a:rPr>
              <a:t>Lưu ý</a:t>
            </a:r>
            <a:r>
              <a:rPr lang="en-US" sz="1400" dirty="0">
                <a:solidFill>
                  <a:srgbClr val="212121"/>
                </a:solidFill>
                <a:latin typeface="Calibri" pitchFamily="34" charset="0"/>
                <a:ea typeface="Calibri" pitchFamily="34" charset="-122"/>
                <a:cs typeface="Calibri" pitchFamily="34" charset="-120"/>
              </a:rPr>
              <a:t>: KHÔNG cần dấu &amp; (str đã là con trỏ)</a:t>
            </a:r>
            <a:endParaRPr lang="en-US" sz="1400" dirty="0"/>
          </a:p>
          <a:p>
            <a:pPr marL="0" indent="0">
              <a:lnSpc>
                <a:spcPct val="125000"/>
              </a:lnSpc>
              <a:buNone/>
            </a:pPr>
            <a:r>
              <a:rPr lang="en-US" sz="1400" b="1" dirty="0">
                <a:solidFill>
                  <a:srgbClr val="FF0000"/>
                </a:solidFill>
                <a:latin typeface="Calibri" pitchFamily="34" charset="0"/>
                <a:ea typeface="Calibri" pitchFamily="34" charset="-122"/>
                <a:cs typeface="Calibri" pitchFamily="34" charset="-120"/>
              </a:rPr>
              <a:t>Dừng đọc </a:t>
            </a:r>
            <a:r>
              <a:rPr lang="en-US" sz="1400" dirty="0">
                <a:solidFill>
                  <a:srgbClr val="212121"/>
                </a:solidFill>
                <a:latin typeface="Calibri" pitchFamily="34" charset="0"/>
                <a:ea typeface="Calibri" pitchFamily="34" charset="-122"/>
                <a:cs typeface="Calibri" pitchFamily="34" charset="-120"/>
              </a:rPr>
              <a:t>khi gặp </a:t>
            </a:r>
            <a:r>
              <a:rPr lang="en-US" sz="1400" b="1" dirty="0">
                <a:solidFill>
                  <a:srgbClr val="212121"/>
                </a:solidFill>
                <a:latin typeface="Calibri" pitchFamily="34" charset="0"/>
                <a:ea typeface="Calibri" pitchFamily="34" charset="-122"/>
                <a:cs typeface="Calibri" pitchFamily="34" charset="-120"/>
              </a:rPr>
              <a:t>khoảng trắng/tab/Enter</a:t>
            </a:r>
            <a:endParaRPr lang="en-US" sz="1400" b="1" dirty="0"/>
          </a:p>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Chỉ đọc được MỘT từ duy nhất</a:t>
            </a:r>
            <a:endParaRPr lang="en-US" sz="1400" dirty="0"/>
          </a:p>
        </p:txBody>
      </p:sp>
      <p:sp>
        <p:nvSpPr>
          <p:cNvPr id="13" name="Shape 11"/>
          <p:cNvSpPr/>
          <p:nvPr/>
        </p:nvSpPr>
        <p:spPr>
          <a:xfrm>
            <a:off x="4754880" y="1234440"/>
            <a:ext cx="3931920" cy="1969498"/>
          </a:xfrm>
          <a:prstGeom prst="rect">
            <a:avLst/>
          </a:prstGeom>
          <a:solidFill>
            <a:srgbClr val="263238"/>
          </a:solidFill>
          <a:ln/>
          <a:effectLst>
            <a:outerShdw blurRad="38100" dist="12700" dir="8100000" algn="bl" rotWithShape="0">
              <a:srgbClr val="000000">
                <a:alpha val="8000"/>
              </a:srgbClr>
            </a:outerShdw>
          </a:effectLst>
        </p:spPr>
      </p:sp>
      <p:sp>
        <p:nvSpPr>
          <p:cNvPr id="14" name="Text 12"/>
          <p:cNvSpPr/>
          <p:nvPr/>
        </p:nvSpPr>
        <p:spPr>
          <a:xfrm>
            <a:off x="4892040" y="1325880"/>
            <a:ext cx="3657600" cy="1878058"/>
          </a:xfrm>
          <a:prstGeom prst="rect">
            <a:avLst/>
          </a:prstGeom>
          <a:noFill/>
          <a:ln/>
        </p:spPr>
        <p:txBody>
          <a:bodyPr wrap="square" rtlCol="0" anchor="t"/>
          <a:lstStyle/>
          <a:p>
            <a:pPr marL="0" indent="0">
              <a:lnSpc>
                <a:spcPct val="130000"/>
              </a:lnSpc>
              <a:buNone/>
            </a:pPr>
            <a:r>
              <a:rPr lang="en-US" sz="1100" dirty="0">
                <a:solidFill>
                  <a:srgbClr val="E0E0E0"/>
                </a:solidFill>
                <a:latin typeface="Consolas" pitchFamily="34" charset="0"/>
                <a:ea typeface="Consolas" pitchFamily="34" charset="-122"/>
                <a:cs typeface="Consolas" pitchFamily="34" charset="-120"/>
              </a:rPr>
              <a:t>#include &lt;stdio.h&gt;</a:t>
            </a:r>
            <a:endParaRPr lang="en-US" sz="1100" dirty="0"/>
          </a:p>
          <a:p>
            <a:pPr marL="0" indent="0">
              <a:lnSpc>
                <a:spcPct val="130000"/>
              </a:lnSpc>
              <a:buNone/>
            </a:pPr>
            <a:r>
              <a:rPr lang="en-US" sz="1100" dirty="0">
                <a:solidFill>
                  <a:srgbClr val="E0E0E0"/>
                </a:solidFill>
                <a:latin typeface="Consolas" pitchFamily="34" charset="0"/>
                <a:ea typeface="Consolas" pitchFamily="34" charset="-122"/>
                <a:cs typeface="Consolas" pitchFamily="34" charset="-120"/>
              </a:rPr>
              <a:t>int main() {</a:t>
            </a:r>
            <a:endParaRPr lang="en-US" sz="1100" dirty="0"/>
          </a:p>
          <a:p>
            <a:pPr marL="0" indent="0">
              <a:lnSpc>
                <a:spcPct val="130000"/>
              </a:lnSpc>
              <a:buNone/>
            </a:pPr>
            <a:r>
              <a:rPr lang="en-US" sz="1100" dirty="0">
                <a:solidFill>
                  <a:srgbClr val="E0E0E0"/>
                </a:solidFill>
                <a:latin typeface="Consolas" pitchFamily="34" charset="0"/>
                <a:ea typeface="Consolas" pitchFamily="34" charset="-122"/>
                <a:cs typeface="Consolas" pitchFamily="34" charset="-120"/>
              </a:rPr>
              <a:t>  char ten[20];</a:t>
            </a:r>
            <a:endParaRPr lang="en-US" sz="1100" dirty="0"/>
          </a:p>
          <a:p>
            <a:pPr marL="0" indent="0">
              <a:lnSpc>
                <a:spcPct val="130000"/>
              </a:lnSpc>
              <a:buNone/>
            </a:pPr>
            <a:r>
              <a:rPr lang="en-US" sz="1100" dirty="0">
                <a:solidFill>
                  <a:srgbClr val="E0E0E0"/>
                </a:solidFill>
                <a:latin typeface="Consolas" pitchFamily="34" charset="0"/>
                <a:ea typeface="Consolas" pitchFamily="34" charset="-122"/>
                <a:cs typeface="Consolas" pitchFamily="34" charset="-120"/>
              </a:rPr>
              <a:t>  printf("Nhap ten: ");</a:t>
            </a:r>
            <a:endParaRPr lang="en-US" sz="1100" dirty="0"/>
          </a:p>
          <a:p>
            <a:pPr marL="0" indent="0">
              <a:lnSpc>
                <a:spcPct val="130000"/>
              </a:lnSpc>
              <a:buNone/>
            </a:pPr>
            <a:r>
              <a:rPr lang="en-US" sz="1100" dirty="0">
                <a:solidFill>
                  <a:srgbClr val="E0E0E0"/>
                </a:solidFill>
                <a:latin typeface="Consolas" pitchFamily="34" charset="0"/>
                <a:ea typeface="Consolas" pitchFamily="34" charset="-122"/>
                <a:cs typeface="Consolas" pitchFamily="34" charset="-120"/>
              </a:rPr>
              <a:t>  scanf("%s", ten);</a:t>
            </a:r>
            <a:endParaRPr lang="en-US" sz="1100" dirty="0"/>
          </a:p>
          <a:p>
            <a:pPr marL="0" indent="0">
              <a:lnSpc>
                <a:spcPct val="130000"/>
              </a:lnSpc>
              <a:buNone/>
            </a:pPr>
            <a:r>
              <a:rPr lang="en-US" sz="1100" dirty="0">
                <a:solidFill>
                  <a:srgbClr val="E0E0E0"/>
                </a:solidFill>
                <a:latin typeface="Consolas" pitchFamily="34" charset="0"/>
                <a:ea typeface="Consolas" pitchFamily="34" charset="-122"/>
                <a:cs typeface="Consolas" pitchFamily="34" charset="-120"/>
              </a:rPr>
              <a:t>  printf("Ten: %s", ten);</a:t>
            </a:r>
            <a:endParaRPr lang="en-US" sz="1100" dirty="0"/>
          </a:p>
          <a:p>
            <a:pPr marL="0" indent="0">
              <a:lnSpc>
                <a:spcPct val="130000"/>
              </a:lnSpc>
              <a:buNone/>
            </a:pPr>
            <a:r>
              <a:rPr lang="en-US" sz="1100" dirty="0">
                <a:solidFill>
                  <a:srgbClr val="E0E0E0"/>
                </a:solidFill>
                <a:latin typeface="Consolas" pitchFamily="34" charset="0"/>
                <a:ea typeface="Consolas" pitchFamily="34" charset="-122"/>
                <a:cs typeface="Consolas" pitchFamily="34" charset="-120"/>
              </a:rPr>
              <a:t>  return 0;</a:t>
            </a:r>
            <a:endParaRPr lang="en-US" sz="1100" dirty="0"/>
          </a:p>
          <a:p>
            <a:pPr marL="0" indent="0">
              <a:lnSpc>
                <a:spcPct val="130000"/>
              </a:lnSpc>
              <a:buNone/>
            </a:pPr>
            <a:r>
              <a:rPr lang="en-US" sz="1100" dirty="0">
                <a:solidFill>
                  <a:srgbClr val="E0E0E0"/>
                </a:solidFill>
                <a:latin typeface="Consolas" pitchFamily="34" charset="0"/>
                <a:ea typeface="Consolas" pitchFamily="34" charset="-122"/>
                <a:cs typeface="Consolas" pitchFamily="34" charset="-120"/>
              </a:rPr>
              <a:t>}</a:t>
            </a:r>
            <a:endParaRPr lang="en-US" sz="1100" dirty="0"/>
          </a:p>
        </p:txBody>
      </p:sp>
      <p:sp>
        <p:nvSpPr>
          <p:cNvPr id="15" name="Shape 13"/>
          <p:cNvSpPr/>
          <p:nvPr/>
        </p:nvSpPr>
        <p:spPr>
          <a:xfrm>
            <a:off x="519152" y="3992492"/>
            <a:ext cx="8229600" cy="502920"/>
          </a:xfrm>
          <a:prstGeom prst="rect">
            <a:avLst/>
          </a:prstGeom>
          <a:solidFill>
            <a:srgbClr val="FFEBEE"/>
          </a:solidFill>
          <a:ln/>
          <a:effectLst>
            <a:outerShdw blurRad="38100" dist="12700" dir="8100000" algn="bl" rotWithShape="0">
              <a:srgbClr val="000000">
                <a:alpha val="8000"/>
              </a:srgbClr>
            </a:outerShdw>
          </a:effectLst>
        </p:spPr>
      </p:sp>
      <p:sp>
        <p:nvSpPr>
          <p:cNvPr id="16" name="Shape 14"/>
          <p:cNvSpPr/>
          <p:nvPr/>
        </p:nvSpPr>
        <p:spPr>
          <a:xfrm>
            <a:off x="457200" y="3386819"/>
            <a:ext cx="54864" cy="502920"/>
          </a:xfrm>
          <a:prstGeom prst="rect">
            <a:avLst/>
          </a:prstGeom>
          <a:solidFill>
            <a:schemeClr val="tx1">
              <a:lumMod val="50000"/>
              <a:lumOff val="50000"/>
            </a:schemeClr>
          </a:solidFill>
          <a:ln/>
        </p:spPr>
      </p:sp>
      <p:sp>
        <p:nvSpPr>
          <p:cNvPr id="17" name="Text 15"/>
          <p:cNvSpPr/>
          <p:nvPr/>
        </p:nvSpPr>
        <p:spPr>
          <a:xfrm>
            <a:off x="640080" y="3432539"/>
            <a:ext cx="7863840" cy="411480"/>
          </a:xfrm>
          <a:prstGeom prst="rect">
            <a:avLst/>
          </a:prstGeom>
          <a:noFill/>
          <a:ln/>
        </p:spPr>
        <p:txBody>
          <a:bodyPr wrap="square" rtlCol="0" anchor="ctr"/>
          <a:lstStyle/>
          <a:p>
            <a:pPr marL="0" indent="0">
              <a:buNone/>
            </a:pPr>
            <a:r>
              <a:rPr lang="en-US" sz="1400" b="1" dirty="0">
                <a:solidFill>
                  <a:schemeClr val="accent3">
                    <a:lumMod val="50000"/>
                  </a:schemeClr>
                </a:solidFill>
                <a:latin typeface="Calibri" pitchFamily="34" charset="0"/>
                <a:ea typeface="Calibri" pitchFamily="34" charset="-122"/>
                <a:cs typeface="Calibri" pitchFamily="34" charset="-120"/>
              </a:rPr>
              <a:t>Demo: Nhập "Nguyen Van A" → str chỉ chứa "Nguyen"  (phần "Van A" bị bỏ lại trong bộ đệm!)</a:t>
            </a:r>
            <a:endParaRPr lang="en-US" sz="1400" dirty="0">
              <a:solidFill>
                <a:schemeClr val="accent3">
                  <a:lumMod val="50000"/>
                </a:schemeClr>
              </a:solidFill>
            </a:endParaRPr>
          </a:p>
        </p:txBody>
      </p:sp>
      <p:sp>
        <p:nvSpPr>
          <p:cNvPr id="19" name="Text 17"/>
          <p:cNvSpPr/>
          <p:nvPr/>
        </p:nvSpPr>
        <p:spPr>
          <a:xfrm>
            <a:off x="594360" y="4080627"/>
            <a:ext cx="7955280" cy="365760"/>
          </a:xfrm>
          <a:prstGeom prst="rect">
            <a:avLst/>
          </a:prstGeom>
          <a:noFill/>
          <a:ln/>
        </p:spPr>
        <p:txBody>
          <a:bodyPr wrap="square" rtlCol="0" anchor="ctr"/>
          <a:lstStyle/>
          <a:p>
            <a:pPr marL="0" indent="0">
              <a:buNone/>
            </a:pPr>
            <a:r>
              <a:rPr lang="en-US" sz="1400" b="1" dirty="0">
                <a:solidFill>
                  <a:srgbClr val="C00000"/>
                </a:solidFill>
                <a:latin typeface="Calibri" pitchFamily="34" charset="0"/>
                <a:ea typeface="Calibri" pitchFamily="34" charset="-122"/>
                <a:cs typeface="Calibri" pitchFamily="34" charset="-120"/>
              </a:rPr>
              <a:t>Nguy hiểm: Không kiểm soát được độ dài chuỗi nhập → có thể tràn bộ đệm (buffer overflow)</a:t>
            </a:r>
            <a:endParaRPr lang="en-US" sz="1400" b="1" dirty="0">
              <a:solidFill>
                <a:srgbClr val="C00000"/>
              </a:solidFill>
            </a:endParaRPr>
          </a:p>
        </p:txBody>
      </p:sp>
      <p:sp>
        <p:nvSpPr>
          <p:cNvPr id="20" name="Shape 14"/>
          <p:cNvSpPr/>
          <p:nvPr/>
        </p:nvSpPr>
        <p:spPr>
          <a:xfrm>
            <a:off x="464288" y="4022810"/>
            <a:ext cx="54864" cy="502920"/>
          </a:xfrm>
          <a:prstGeom prst="rect">
            <a:avLst/>
          </a:prstGeom>
          <a:solidFill>
            <a:srgbClr val="C62828"/>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III: NHẬP / XUẤT CHUỖI</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11</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pPr marL="0" indent="0">
              <a:buNone/>
            </a:pPr>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a:t>
            </a:r>
            <a:r>
              <a:rPr lang="en-US" sz="800" smtClean="0">
                <a:solidFill>
                  <a:srgbClr val="AAAAAA"/>
                </a:solidFill>
                <a:latin typeface="Calibri" pitchFamily="34" charset="0"/>
                <a:ea typeface="Calibri" pitchFamily="34" charset="-122"/>
                <a:cs typeface="Calibri" pitchFamily="34" charset="-120"/>
              </a:rPr>
              <a:t>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fgets() — Hàm "Kiên Nhẫn" Đọc Trọn Vẹn Chuỗi</a:t>
            </a:r>
            <a:endParaRPr lang="en-US" sz="2200" dirty="0"/>
          </a:p>
        </p:txBody>
      </p:sp>
      <p:sp>
        <p:nvSpPr>
          <p:cNvPr id="9" name="Shape 7"/>
          <p:cNvSpPr/>
          <p:nvPr/>
        </p:nvSpPr>
        <p:spPr>
          <a:xfrm>
            <a:off x="457200" y="1234440"/>
            <a:ext cx="3931920" cy="1958508"/>
          </a:xfrm>
          <a:prstGeom prst="rect">
            <a:avLst/>
          </a:prstGeom>
          <a:solidFill>
            <a:srgbClr val="E8F5E9"/>
          </a:solidFill>
          <a:ln/>
          <a:effectLst>
            <a:outerShdw blurRad="50800" dist="25400" dir="8100000" algn="bl" rotWithShape="0">
              <a:srgbClr val="000000">
                <a:alpha val="10000"/>
              </a:srgbClr>
            </a:outerShdw>
          </a:effectLst>
        </p:spPr>
      </p:sp>
      <p:sp>
        <p:nvSpPr>
          <p:cNvPr id="10" name="Shape 8"/>
          <p:cNvSpPr/>
          <p:nvPr/>
        </p:nvSpPr>
        <p:spPr>
          <a:xfrm>
            <a:off x="457200" y="1234440"/>
            <a:ext cx="54864" cy="1463040"/>
          </a:xfrm>
          <a:prstGeom prst="rect">
            <a:avLst/>
          </a:prstGeom>
          <a:solidFill>
            <a:srgbClr val="2E7D32"/>
          </a:solidFill>
          <a:ln/>
        </p:spPr>
      </p:sp>
      <p:sp>
        <p:nvSpPr>
          <p:cNvPr id="11" name="Text 9"/>
          <p:cNvSpPr/>
          <p:nvPr/>
        </p:nvSpPr>
        <p:spPr>
          <a:xfrm>
            <a:off x="658368" y="1344168"/>
            <a:ext cx="3566160" cy="365760"/>
          </a:xfrm>
          <a:prstGeom prst="rect">
            <a:avLst/>
          </a:prstGeom>
          <a:noFill/>
          <a:ln/>
        </p:spPr>
        <p:txBody>
          <a:bodyPr wrap="square" rtlCol="0" anchor="ctr"/>
          <a:lstStyle/>
          <a:p>
            <a:pPr marL="0" indent="0">
              <a:buNone/>
            </a:pPr>
            <a:r>
              <a:rPr lang="en-US" sz="1300" b="1" dirty="0">
                <a:solidFill>
                  <a:srgbClr val="2E7D32"/>
                </a:solidFill>
                <a:latin typeface="Georgia" pitchFamily="34" charset="0"/>
                <a:ea typeface="Georgia" pitchFamily="34" charset="-122"/>
                <a:cs typeface="Georgia" pitchFamily="34" charset="-120"/>
              </a:rPr>
              <a:t>ĐẶC ĐIỂM FGETS</a:t>
            </a:r>
            <a:endParaRPr lang="en-US" sz="1300" dirty="0"/>
          </a:p>
        </p:txBody>
      </p:sp>
      <p:sp>
        <p:nvSpPr>
          <p:cNvPr id="12" name="Text 10"/>
          <p:cNvSpPr/>
          <p:nvPr/>
        </p:nvSpPr>
        <p:spPr>
          <a:xfrm>
            <a:off x="658368" y="1737359"/>
            <a:ext cx="3566160" cy="1331905"/>
          </a:xfrm>
          <a:prstGeom prst="rect">
            <a:avLst/>
          </a:prstGeom>
          <a:noFill/>
          <a:ln/>
        </p:spPr>
        <p:txBody>
          <a:bodyPr wrap="square" rtlCol="0" anchor="ctr"/>
          <a:lstStyle/>
          <a:p>
            <a:pPr>
              <a:lnSpc>
                <a:spcPct val="125000"/>
              </a:lnSpc>
            </a:pPr>
            <a:r>
              <a:rPr lang="en-US" sz="1600" smtClean="0">
                <a:solidFill>
                  <a:srgbClr val="212121"/>
                </a:solidFill>
                <a:latin typeface="Calibri" pitchFamily="34" charset="0"/>
                <a:ea typeface="Calibri" pitchFamily="34" charset="-122"/>
                <a:cs typeface="Calibri" pitchFamily="34" charset="-120"/>
              </a:rPr>
              <a:t>fgets(str</a:t>
            </a:r>
            <a:r>
              <a:rPr lang="en-US" sz="1600" dirty="0">
                <a:solidFill>
                  <a:srgbClr val="212121"/>
                </a:solidFill>
                <a:latin typeface="Calibri" pitchFamily="34" charset="0"/>
                <a:ea typeface="Calibri" pitchFamily="34" charset="-122"/>
                <a:cs typeface="Calibri" pitchFamily="34" charset="-120"/>
              </a:rPr>
              <a:t>, sizeof(str), stdin);</a:t>
            </a:r>
            <a:endParaRPr lang="en-US" sz="1600" dirty="0"/>
          </a:p>
          <a:p>
            <a:pPr>
              <a:lnSpc>
                <a:spcPct val="125000"/>
              </a:lnSpc>
            </a:pPr>
            <a:r>
              <a:rPr lang="en-US" sz="1600">
                <a:solidFill>
                  <a:srgbClr val="212121"/>
                </a:solidFill>
                <a:latin typeface="Calibri" pitchFamily="34" charset="0"/>
                <a:ea typeface="Calibri" pitchFamily="34" charset="-122"/>
                <a:cs typeface="Calibri" pitchFamily="34" charset="-120"/>
              </a:rPr>
              <a:t>→ Đọc </a:t>
            </a:r>
            <a:r>
              <a:rPr lang="en-US" sz="1600" dirty="0">
                <a:solidFill>
                  <a:srgbClr val="212121"/>
                </a:solidFill>
                <a:latin typeface="Calibri" pitchFamily="34" charset="0"/>
                <a:ea typeface="Calibri" pitchFamily="34" charset="-122"/>
                <a:cs typeface="Calibri" pitchFamily="34" charset="-120"/>
              </a:rPr>
              <a:t>tối đa n-1 ký tự hoặc đến Enter</a:t>
            </a:r>
            <a:endParaRPr lang="en-US" sz="1600" dirty="0"/>
          </a:p>
          <a:p>
            <a:pPr>
              <a:lnSpc>
                <a:spcPct val="125000"/>
              </a:lnSpc>
            </a:pPr>
            <a:r>
              <a:rPr lang="en-US" sz="1600">
                <a:solidFill>
                  <a:srgbClr val="212121"/>
                </a:solidFill>
                <a:latin typeface="Calibri" pitchFamily="34" charset="0"/>
                <a:ea typeface="Calibri" pitchFamily="34" charset="-122"/>
                <a:cs typeface="Calibri" pitchFamily="34" charset="-120"/>
              </a:rPr>
              <a:t>→ An </a:t>
            </a:r>
            <a:r>
              <a:rPr lang="en-US" sz="1600" dirty="0">
                <a:solidFill>
                  <a:srgbClr val="212121"/>
                </a:solidFill>
                <a:latin typeface="Calibri" pitchFamily="34" charset="0"/>
                <a:ea typeface="Calibri" pitchFamily="34" charset="-122"/>
                <a:cs typeface="Calibri" pitchFamily="34" charset="-120"/>
              </a:rPr>
              <a:t>toàn: kiểm soát được độ dài tối đa</a:t>
            </a:r>
            <a:endParaRPr lang="en-US" sz="1600" dirty="0"/>
          </a:p>
          <a:p>
            <a:pPr>
              <a:lnSpc>
                <a:spcPct val="125000"/>
              </a:lnSpc>
            </a:pPr>
            <a:r>
              <a:rPr lang="en-US" sz="1600">
                <a:solidFill>
                  <a:srgbClr val="212121"/>
                </a:solidFill>
                <a:latin typeface="Calibri" pitchFamily="34" charset="0"/>
                <a:ea typeface="Calibri" pitchFamily="34" charset="-122"/>
                <a:cs typeface="Calibri" pitchFamily="34" charset="-120"/>
              </a:rPr>
              <a:t>→ </a:t>
            </a:r>
            <a:r>
              <a:rPr lang="en-US" sz="1600" b="1">
                <a:solidFill>
                  <a:srgbClr val="212121"/>
                </a:solidFill>
                <a:latin typeface="Calibri" pitchFamily="34" charset="0"/>
                <a:ea typeface="Calibri" pitchFamily="34" charset="-122"/>
                <a:cs typeface="Calibri" pitchFamily="34" charset="-120"/>
              </a:rPr>
              <a:t>Lưu </a:t>
            </a:r>
            <a:r>
              <a:rPr lang="en-US" sz="1600" b="1" dirty="0">
                <a:solidFill>
                  <a:srgbClr val="212121"/>
                </a:solidFill>
                <a:latin typeface="Calibri" pitchFamily="34" charset="0"/>
                <a:ea typeface="Calibri" pitchFamily="34" charset="-122"/>
                <a:cs typeface="Calibri" pitchFamily="34" charset="-120"/>
              </a:rPr>
              <a:t>ý</a:t>
            </a:r>
            <a:r>
              <a:rPr lang="en-US" sz="1600" dirty="0">
                <a:solidFill>
                  <a:srgbClr val="212121"/>
                </a:solidFill>
                <a:latin typeface="Calibri" pitchFamily="34" charset="0"/>
                <a:ea typeface="Calibri" pitchFamily="34" charset="-122"/>
                <a:cs typeface="Calibri" pitchFamily="34" charset="-120"/>
              </a:rPr>
              <a:t>: giữ lại ký tự '\n' cuối chuỗi</a:t>
            </a:r>
            <a:endParaRPr lang="en-US" sz="1600" dirty="0"/>
          </a:p>
        </p:txBody>
      </p:sp>
      <p:sp>
        <p:nvSpPr>
          <p:cNvPr id="13" name="Shape 11"/>
          <p:cNvSpPr/>
          <p:nvPr/>
        </p:nvSpPr>
        <p:spPr>
          <a:xfrm>
            <a:off x="4754880" y="1234440"/>
            <a:ext cx="3931920" cy="1958508"/>
          </a:xfrm>
          <a:prstGeom prst="rect">
            <a:avLst/>
          </a:prstGeom>
          <a:solidFill>
            <a:srgbClr val="263238"/>
          </a:solidFill>
          <a:ln/>
          <a:effectLst>
            <a:outerShdw blurRad="38100" dist="12700" dir="8100000" algn="bl" rotWithShape="0">
              <a:srgbClr val="000000">
                <a:alpha val="8000"/>
              </a:srgbClr>
            </a:outerShdw>
          </a:effectLst>
        </p:spPr>
      </p:sp>
      <p:sp>
        <p:nvSpPr>
          <p:cNvPr id="14" name="Text 12"/>
          <p:cNvSpPr/>
          <p:nvPr/>
        </p:nvSpPr>
        <p:spPr>
          <a:xfrm>
            <a:off x="4892040" y="1325880"/>
            <a:ext cx="3657600" cy="1793004"/>
          </a:xfrm>
          <a:prstGeom prst="rect">
            <a:avLst/>
          </a:prstGeom>
          <a:noFill/>
          <a:ln/>
        </p:spPr>
        <p:txBody>
          <a:bodyPr wrap="square" rtlCol="0" anchor="t"/>
          <a:lstStyle/>
          <a:p>
            <a:pPr marL="0" indent="0">
              <a:lnSpc>
                <a:spcPct val="130000"/>
              </a:lnSpc>
              <a:buNone/>
            </a:pPr>
            <a:r>
              <a:rPr lang="en-US" sz="1100" dirty="0">
                <a:solidFill>
                  <a:srgbClr val="E0E0E0"/>
                </a:solidFill>
                <a:latin typeface="Consolas" pitchFamily="34" charset="0"/>
                <a:ea typeface="Consolas" pitchFamily="34" charset="-122"/>
                <a:cs typeface="Consolas" pitchFamily="34" charset="-120"/>
              </a:rPr>
              <a:t>#include &lt;stdio.h&gt;</a:t>
            </a:r>
            <a:endParaRPr lang="en-US" sz="1100" dirty="0"/>
          </a:p>
          <a:p>
            <a:pPr marL="0" indent="0">
              <a:lnSpc>
                <a:spcPct val="130000"/>
              </a:lnSpc>
              <a:buNone/>
            </a:pPr>
            <a:r>
              <a:rPr lang="en-US" sz="1100" dirty="0">
                <a:solidFill>
                  <a:srgbClr val="E0E0E0"/>
                </a:solidFill>
                <a:latin typeface="Consolas" pitchFamily="34" charset="0"/>
                <a:ea typeface="Consolas" pitchFamily="34" charset="-122"/>
                <a:cs typeface="Consolas" pitchFamily="34" charset="-120"/>
              </a:rPr>
              <a:t>int main() {</a:t>
            </a:r>
            <a:endParaRPr lang="en-US" sz="1100" dirty="0"/>
          </a:p>
          <a:p>
            <a:pPr marL="0" indent="0">
              <a:lnSpc>
                <a:spcPct val="130000"/>
              </a:lnSpc>
              <a:buNone/>
            </a:pPr>
            <a:r>
              <a:rPr lang="en-US" sz="1100" dirty="0">
                <a:solidFill>
                  <a:srgbClr val="E0E0E0"/>
                </a:solidFill>
                <a:latin typeface="Consolas" pitchFamily="34" charset="0"/>
                <a:ea typeface="Consolas" pitchFamily="34" charset="-122"/>
                <a:cs typeface="Consolas" pitchFamily="34" charset="-120"/>
              </a:rPr>
              <a:t>  char name[30];</a:t>
            </a:r>
            <a:endParaRPr lang="en-US" sz="1100" dirty="0"/>
          </a:p>
          <a:p>
            <a:pPr marL="0" indent="0">
              <a:lnSpc>
                <a:spcPct val="130000"/>
              </a:lnSpc>
              <a:buNone/>
            </a:pPr>
            <a:r>
              <a:rPr lang="en-US" sz="1100" dirty="0">
                <a:solidFill>
                  <a:srgbClr val="E0E0E0"/>
                </a:solidFill>
                <a:latin typeface="Consolas" pitchFamily="34" charset="0"/>
                <a:ea typeface="Consolas" pitchFamily="34" charset="-122"/>
                <a:cs typeface="Consolas" pitchFamily="34" charset="-120"/>
              </a:rPr>
              <a:t>  printf("Nhap ten: ");</a:t>
            </a:r>
            <a:endParaRPr lang="en-US" sz="1100" dirty="0"/>
          </a:p>
          <a:p>
            <a:pPr marL="0" indent="0">
              <a:lnSpc>
                <a:spcPct val="130000"/>
              </a:lnSpc>
              <a:buNone/>
            </a:pPr>
            <a:r>
              <a:rPr lang="en-US" sz="1100" dirty="0">
                <a:solidFill>
                  <a:srgbClr val="E0E0E0"/>
                </a:solidFill>
                <a:latin typeface="Consolas" pitchFamily="34" charset="0"/>
                <a:ea typeface="Consolas" pitchFamily="34" charset="-122"/>
                <a:cs typeface="Consolas" pitchFamily="34" charset="-120"/>
              </a:rPr>
              <a:t>  fgets(name, sizeof(name), stdin);</a:t>
            </a:r>
            <a:endParaRPr lang="en-US" sz="1100" dirty="0"/>
          </a:p>
          <a:p>
            <a:pPr marL="0" indent="0">
              <a:lnSpc>
                <a:spcPct val="130000"/>
              </a:lnSpc>
              <a:buNone/>
            </a:pPr>
            <a:r>
              <a:rPr lang="en-US" sz="1100" dirty="0">
                <a:solidFill>
                  <a:srgbClr val="E0E0E0"/>
                </a:solidFill>
                <a:latin typeface="Consolas" pitchFamily="34" charset="0"/>
                <a:ea typeface="Consolas" pitchFamily="34" charset="-122"/>
                <a:cs typeface="Consolas" pitchFamily="34" charset="-120"/>
              </a:rPr>
              <a:t>  printf("Ten: %s", name);</a:t>
            </a:r>
            <a:endParaRPr lang="en-US" sz="1100" dirty="0"/>
          </a:p>
          <a:p>
            <a:pPr marL="0" indent="0">
              <a:lnSpc>
                <a:spcPct val="130000"/>
              </a:lnSpc>
              <a:buNone/>
            </a:pPr>
            <a:r>
              <a:rPr lang="en-US" sz="1100" dirty="0">
                <a:solidFill>
                  <a:srgbClr val="E0E0E0"/>
                </a:solidFill>
                <a:latin typeface="Consolas" pitchFamily="34" charset="0"/>
                <a:ea typeface="Consolas" pitchFamily="34" charset="-122"/>
                <a:cs typeface="Consolas" pitchFamily="34" charset="-120"/>
              </a:rPr>
              <a:t>  return 0;</a:t>
            </a:r>
            <a:endParaRPr lang="en-US" sz="1100" dirty="0"/>
          </a:p>
          <a:p>
            <a:pPr marL="0" indent="0">
              <a:lnSpc>
                <a:spcPct val="130000"/>
              </a:lnSpc>
              <a:buNone/>
            </a:pPr>
            <a:r>
              <a:rPr lang="en-US" sz="1100" dirty="0">
                <a:solidFill>
                  <a:srgbClr val="E0E0E0"/>
                </a:solidFill>
                <a:latin typeface="Consolas" pitchFamily="34" charset="0"/>
                <a:ea typeface="Consolas" pitchFamily="34" charset="-122"/>
                <a:cs typeface="Consolas" pitchFamily="34" charset="-120"/>
              </a:rPr>
              <a:t>}</a:t>
            </a:r>
            <a:endParaRPr lang="en-US" sz="1100" dirty="0"/>
          </a:p>
        </p:txBody>
      </p:sp>
      <p:sp>
        <p:nvSpPr>
          <p:cNvPr id="15" name="Shape 13"/>
          <p:cNvSpPr/>
          <p:nvPr/>
        </p:nvSpPr>
        <p:spPr>
          <a:xfrm>
            <a:off x="457200" y="3344286"/>
            <a:ext cx="8229600" cy="502920"/>
          </a:xfrm>
          <a:prstGeom prst="rect">
            <a:avLst/>
          </a:prstGeom>
          <a:solidFill>
            <a:srgbClr val="E8F5E9"/>
          </a:solidFill>
          <a:ln/>
          <a:effectLst>
            <a:outerShdw blurRad="38100" dist="12700" dir="8100000" algn="bl" rotWithShape="0">
              <a:srgbClr val="000000">
                <a:alpha val="8000"/>
              </a:srgbClr>
            </a:outerShdw>
          </a:effectLst>
        </p:spPr>
      </p:sp>
      <p:sp>
        <p:nvSpPr>
          <p:cNvPr id="16" name="Shape 14"/>
          <p:cNvSpPr/>
          <p:nvPr/>
        </p:nvSpPr>
        <p:spPr>
          <a:xfrm>
            <a:off x="457200" y="3344286"/>
            <a:ext cx="54864" cy="502920"/>
          </a:xfrm>
          <a:prstGeom prst="rect">
            <a:avLst/>
          </a:prstGeom>
          <a:solidFill>
            <a:srgbClr val="2E7D32"/>
          </a:solidFill>
          <a:ln/>
        </p:spPr>
      </p:sp>
      <p:sp>
        <p:nvSpPr>
          <p:cNvPr id="17" name="Text 15"/>
          <p:cNvSpPr/>
          <p:nvPr/>
        </p:nvSpPr>
        <p:spPr>
          <a:xfrm>
            <a:off x="640080" y="3390006"/>
            <a:ext cx="7863840" cy="411480"/>
          </a:xfrm>
          <a:prstGeom prst="rect">
            <a:avLst/>
          </a:prstGeom>
          <a:noFill/>
          <a:ln/>
        </p:spPr>
        <p:txBody>
          <a:bodyPr wrap="square"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Demo: Nhập "Nguyen Van A" → str chứa "Nguyen Van A\n"  (đầy đủ, nhưng có '\n' cuối)</a:t>
            </a:r>
            <a:endParaRPr lang="en-US" sz="1400" dirty="0"/>
          </a:p>
        </p:txBody>
      </p:sp>
      <p:sp>
        <p:nvSpPr>
          <p:cNvPr id="18" name="Shape 16"/>
          <p:cNvSpPr/>
          <p:nvPr/>
        </p:nvSpPr>
        <p:spPr>
          <a:xfrm>
            <a:off x="457200" y="3998544"/>
            <a:ext cx="8229600" cy="411480"/>
          </a:xfrm>
          <a:prstGeom prst="rect">
            <a:avLst/>
          </a:prstGeom>
          <a:solidFill>
            <a:srgbClr val="FFEBEE"/>
          </a:solidFill>
          <a:ln/>
          <a:effectLst>
            <a:outerShdw blurRad="38100" dist="12700" dir="8100000" algn="bl" rotWithShape="0">
              <a:srgbClr val="000000">
                <a:alpha val="8000"/>
              </a:srgbClr>
            </a:outerShdw>
          </a:effectLst>
        </p:spPr>
      </p:sp>
      <p:sp>
        <p:nvSpPr>
          <p:cNvPr id="19" name="Shape 17"/>
          <p:cNvSpPr/>
          <p:nvPr/>
        </p:nvSpPr>
        <p:spPr>
          <a:xfrm>
            <a:off x="457200" y="3998544"/>
            <a:ext cx="54864" cy="411480"/>
          </a:xfrm>
          <a:prstGeom prst="rect">
            <a:avLst/>
          </a:prstGeom>
          <a:solidFill>
            <a:srgbClr val="C62828"/>
          </a:solidFill>
          <a:ln/>
        </p:spPr>
      </p:sp>
      <p:sp>
        <p:nvSpPr>
          <p:cNvPr id="20" name="Text 18"/>
          <p:cNvSpPr/>
          <p:nvPr/>
        </p:nvSpPr>
        <p:spPr>
          <a:xfrm>
            <a:off x="640080" y="4016832"/>
            <a:ext cx="8046720" cy="365760"/>
          </a:xfrm>
          <a:prstGeom prst="rect">
            <a:avLst/>
          </a:prstGeom>
          <a:noFill/>
          <a:ln/>
        </p:spPr>
        <p:txBody>
          <a:bodyPr wrap="square" rtlCol="0" anchor="ctr"/>
          <a:lstStyle/>
          <a:p>
            <a:pPr marL="0" indent="0">
              <a:buNone/>
            </a:pPr>
            <a:r>
              <a:rPr lang="en-US" sz="1400" b="1" dirty="0">
                <a:solidFill>
                  <a:srgbClr val="C62828"/>
                </a:solidFill>
                <a:latin typeface="Calibri" pitchFamily="34" charset="0"/>
                <a:ea typeface="Calibri" pitchFamily="34" charset="-122"/>
                <a:cs typeface="Calibri" pitchFamily="34" charset="-120"/>
              </a:rPr>
              <a:t>Hàm gets() đã bị loại bỏ khỏi C chuẩn vì không an toàn (không giới hạn độ dài)  →  Luôn dùng fgets!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III: NHẬP / XUẤT CHUỖI</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12</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scanf vs fgets — Chọn "Vũ Khí" Phù Hợp</a:t>
            </a:r>
            <a:endParaRPr lang="en-US" sz="2200" dirty="0"/>
          </a:p>
        </p:txBody>
      </p:sp>
      <p:sp>
        <p:nvSpPr>
          <p:cNvPr id="9" name="Shape 7"/>
          <p:cNvSpPr/>
          <p:nvPr/>
        </p:nvSpPr>
        <p:spPr>
          <a:xfrm>
            <a:off x="457200" y="1280160"/>
            <a:ext cx="8229600" cy="411480"/>
          </a:xfrm>
          <a:prstGeom prst="rect">
            <a:avLst/>
          </a:prstGeom>
          <a:solidFill>
            <a:srgbClr val="1B2558"/>
          </a:solidFill>
          <a:ln/>
        </p:spPr>
      </p:sp>
      <p:sp>
        <p:nvSpPr>
          <p:cNvPr id="10" name="Text 8"/>
          <p:cNvSpPr/>
          <p:nvPr/>
        </p:nvSpPr>
        <p:spPr>
          <a:xfrm>
            <a:off x="548640" y="1325880"/>
            <a:ext cx="182880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Tiêu chí</a:t>
            </a:r>
            <a:endParaRPr lang="en-US" sz="1100" dirty="0"/>
          </a:p>
        </p:txBody>
      </p:sp>
      <p:sp>
        <p:nvSpPr>
          <p:cNvPr id="11" name="Text 9"/>
          <p:cNvSpPr/>
          <p:nvPr/>
        </p:nvSpPr>
        <p:spPr>
          <a:xfrm>
            <a:off x="2560320" y="1325880"/>
            <a:ext cx="292608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scanf("%s")</a:t>
            </a:r>
            <a:endParaRPr lang="en-US" sz="1100" dirty="0"/>
          </a:p>
        </p:txBody>
      </p:sp>
      <p:sp>
        <p:nvSpPr>
          <p:cNvPr id="12" name="Text 10"/>
          <p:cNvSpPr/>
          <p:nvPr/>
        </p:nvSpPr>
        <p:spPr>
          <a:xfrm>
            <a:off x="5669280" y="1325880"/>
            <a:ext cx="292608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fgets()</a:t>
            </a:r>
            <a:endParaRPr lang="en-US" sz="1100" dirty="0"/>
          </a:p>
        </p:txBody>
      </p:sp>
      <p:sp>
        <p:nvSpPr>
          <p:cNvPr id="13" name="Shape 11"/>
          <p:cNvSpPr/>
          <p:nvPr/>
        </p:nvSpPr>
        <p:spPr>
          <a:xfrm>
            <a:off x="457200" y="1691640"/>
            <a:ext cx="8229600" cy="438912"/>
          </a:xfrm>
          <a:prstGeom prst="rect">
            <a:avLst/>
          </a:prstGeom>
          <a:solidFill>
            <a:srgbClr val="F5F6FA"/>
          </a:solidFill>
          <a:ln/>
        </p:spPr>
      </p:sp>
      <p:sp>
        <p:nvSpPr>
          <p:cNvPr id="14" name="Text 12"/>
          <p:cNvSpPr/>
          <p:nvPr/>
        </p:nvSpPr>
        <p:spPr>
          <a:xfrm>
            <a:off x="548640" y="1709928"/>
            <a:ext cx="1828800" cy="402336"/>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Đọc dấu cách</a:t>
            </a:r>
            <a:endParaRPr lang="en-US" sz="1100" dirty="0"/>
          </a:p>
        </p:txBody>
      </p:sp>
      <p:sp>
        <p:nvSpPr>
          <p:cNvPr id="15" name="Text 13"/>
          <p:cNvSpPr/>
          <p:nvPr/>
        </p:nvSpPr>
        <p:spPr>
          <a:xfrm>
            <a:off x="2560320" y="1709928"/>
            <a:ext cx="2926080" cy="402336"/>
          </a:xfrm>
          <a:prstGeom prst="rect">
            <a:avLst/>
          </a:prstGeom>
          <a:noFill/>
          <a:ln/>
        </p:spPr>
        <p:txBody>
          <a:bodyPr wrap="square" rtlCol="0" anchor="ctr"/>
          <a:lstStyle/>
          <a:p>
            <a:pPr marL="0" indent="0">
              <a:buNone/>
            </a:pPr>
            <a:r>
              <a:rPr lang="en-US" sz="1100" dirty="0">
                <a:solidFill>
                  <a:srgbClr val="C62828"/>
                </a:solidFill>
                <a:latin typeface="Calibri" pitchFamily="34" charset="0"/>
                <a:ea typeface="Calibri" pitchFamily="34" charset="-122"/>
                <a:cs typeface="Calibri" pitchFamily="34" charset="-120"/>
              </a:rPr>
              <a:t>Không</a:t>
            </a:r>
            <a:endParaRPr lang="en-US" sz="1100" dirty="0"/>
          </a:p>
        </p:txBody>
      </p:sp>
      <p:sp>
        <p:nvSpPr>
          <p:cNvPr id="16" name="Text 14"/>
          <p:cNvSpPr/>
          <p:nvPr/>
        </p:nvSpPr>
        <p:spPr>
          <a:xfrm>
            <a:off x="5669280" y="1709928"/>
            <a:ext cx="2926080" cy="402336"/>
          </a:xfrm>
          <a:prstGeom prst="rect">
            <a:avLst/>
          </a:prstGeom>
          <a:noFill/>
          <a:ln/>
        </p:spPr>
        <p:txBody>
          <a:bodyPr wrap="square" rtlCol="0" anchor="ctr"/>
          <a:lstStyle/>
          <a:p>
            <a:pPr marL="0" indent="0">
              <a:buNone/>
            </a:pPr>
            <a:r>
              <a:rPr lang="en-US" sz="1100" dirty="0">
                <a:solidFill>
                  <a:srgbClr val="2E7D32"/>
                </a:solidFill>
                <a:latin typeface="Calibri" pitchFamily="34" charset="0"/>
                <a:ea typeface="Calibri" pitchFamily="34" charset="-122"/>
                <a:cs typeface="Calibri" pitchFamily="34" charset="-120"/>
              </a:rPr>
              <a:t>Có</a:t>
            </a:r>
            <a:endParaRPr lang="en-US" sz="1100" dirty="0"/>
          </a:p>
        </p:txBody>
      </p:sp>
      <p:sp>
        <p:nvSpPr>
          <p:cNvPr id="17" name="Shape 15"/>
          <p:cNvSpPr/>
          <p:nvPr/>
        </p:nvSpPr>
        <p:spPr>
          <a:xfrm>
            <a:off x="457200" y="2167128"/>
            <a:ext cx="8229600" cy="438912"/>
          </a:xfrm>
          <a:prstGeom prst="rect">
            <a:avLst/>
          </a:prstGeom>
          <a:solidFill>
            <a:srgbClr val="FFFFFF"/>
          </a:solidFill>
          <a:ln/>
        </p:spPr>
      </p:sp>
      <p:sp>
        <p:nvSpPr>
          <p:cNvPr id="18" name="Text 16"/>
          <p:cNvSpPr/>
          <p:nvPr/>
        </p:nvSpPr>
        <p:spPr>
          <a:xfrm>
            <a:off x="548640" y="2185416"/>
            <a:ext cx="1828800" cy="402336"/>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Giới hạn độ dài</a:t>
            </a:r>
            <a:endParaRPr lang="en-US" sz="1100" dirty="0"/>
          </a:p>
        </p:txBody>
      </p:sp>
      <p:sp>
        <p:nvSpPr>
          <p:cNvPr id="19" name="Text 17"/>
          <p:cNvSpPr/>
          <p:nvPr/>
        </p:nvSpPr>
        <p:spPr>
          <a:xfrm>
            <a:off x="2560320" y="2185416"/>
            <a:ext cx="2926080" cy="402336"/>
          </a:xfrm>
          <a:prstGeom prst="rect">
            <a:avLst/>
          </a:prstGeom>
          <a:noFill/>
          <a:ln/>
        </p:spPr>
        <p:txBody>
          <a:bodyPr wrap="square" rtlCol="0" anchor="ctr"/>
          <a:lstStyle/>
          <a:p>
            <a:pPr marL="0" indent="0">
              <a:buNone/>
            </a:pPr>
            <a:r>
              <a:rPr lang="en-US" sz="1100" dirty="0">
                <a:solidFill>
                  <a:srgbClr val="C62828"/>
                </a:solidFill>
                <a:latin typeface="Calibri" pitchFamily="34" charset="0"/>
                <a:ea typeface="Calibri" pitchFamily="34" charset="-122"/>
                <a:cs typeface="Calibri" pitchFamily="34" charset="-120"/>
              </a:rPr>
              <a:t>Không tự động</a:t>
            </a:r>
            <a:endParaRPr lang="en-US" sz="1100" dirty="0"/>
          </a:p>
        </p:txBody>
      </p:sp>
      <p:sp>
        <p:nvSpPr>
          <p:cNvPr id="20" name="Text 18"/>
          <p:cNvSpPr/>
          <p:nvPr/>
        </p:nvSpPr>
        <p:spPr>
          <a:xfrm>
            <a:off x="5669280" y="2185416"/>
            <a:ext cx="2926080" cy="402336"/>
          </a:xfrm>
          <a:prstGeom prst="rect">
            <a:avLst/>
          </a:prstGeom>
          <a:noFill/>
          <a:ln/>
        </p:spPr>
        <p:txBody>
          <a:bodyPr wrap="square" rtlCol="0" anchor="ctr"/>
          <a:lstStyle/>
          <a:p>
            <a:pPr marL="0" indent="0">
              <a:buNone/>
            </a:pPr>
            <a:r>
              <a:rPr lang="en-US" sz="1100" dirty="0">
                <a:solidFill>
                  <a:srgbClr val="2E7D32"/>
                </a:solidFill>
                <a:latin typeface="Calibri" pitchFamily="34" charset="0"/>
                <a:ea typeface="Calibri" pitchFamily="34" charset="-122"/>
                <a:cs typeface="Calibri" pitchFamily="34" charset="-120"/>
              </a:rPr>
              <a:t>Tham số n</a:t>
            </a:r>
            <a:endParaRPr lang="en-US" sz="1100" dirty="0"/>
          </a:p>
        </p:txBody>
      </p:sp>
      <p:sp>
        <p:nvSpPr>
          <p:cNvPr id="21" name="Shape 19"/>
          <p:cNvSpPr/>
          <p:nvPr/>
        </p:nvSpPr>
        <p:spPr>
          <a:xfrm>
            <a:off x="457200" y="2642616"/>
            <a:ext cx="8229600" cy="438912"/>
          </a:xfrm>
          <a:prstGeom prst="rect">
            <a:avLst/>
          </a:prstGeom>
          <a:solidFill>
            <a:srgbClr val="F5F6FA"/>
          </a:solidFill>
          <a:ln/>
        </p:spPr>
      </p:sp>
      <p:sp>
        <p:nvSpPr>
          <p:cNvPr id="22" name="Text 20"/>
          <p:cNvSpPr/>
          <p:nvPr/>
        </p:nvSpPr>
        <p:spPr>
          <a:xfrm>
            <a:off x="548640" y="2660904"/>
            <a:ext cx="1828800" cy="402336"/>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An toàn bộ nhớ</a:t>
            </a:r>
            <a:endParaRPr lang="en-US" sz="1100" dirty="0"/>
          </a:p>
        </p:txBody>
      </p:sp>
      <p:sp>
        <p:nvSpPr>
          <p:cNvPr id="23" name="Text 21"/>
          <p:cNvSpPr/>
          <p:nvPr/>
        </p:nvSpPr>
        <p:spPr>
          <a:xfrm>
            <a:off x="2560320" y="2660904"/>
            <a:ext cx="2926080" cy="402336"/>
          </a:xfrm>
          <a:prstGeom prst="rect">
            <a:avLst/>
          </a:prstGeom>
          <a:noFill/>
          <a:ln/>
        </p:spPr>
        <p:txBody>
          <a:bodyPr wrap="square" rtlCol="0" anchor="ctr"/>
          <a:lstStyle/>
          <a:p>
            <a:pPr marL="0" indent="0">
              <a:buNone/>
            </a:pPr>
            <a:r>
              <a:rPr lang="en-US" sz="1100" dirty="0">
                <a:solidFill>
                  <a:srgbClr val="E65100"/>
                </a:solidFill>
                <a:latin typeface="Calibri" pitchFamily="34" charset="0"/>
                <a:ea typeface="Calibri" pitchFamily="34" charset="-122"/>
                <a:cs typeface="Calibri" pitchFamily="34" charset="-120"/>
              </a:rPr>
              <a:t>Rủi ro tràn</a:t>
            </a:r>
            <a:endParaRPr lang="en-US" sz="1100" dirty="0"/>
          </a:p>
        </p:txBody>
      </p:sp>
      <p:sp>
        <p:nvSpPr>
          <p:cNvPr id="24" name="Text 22"/>
          <p:cNvSpPr/>
          <p:nvPr/>
        </p:nvSpPr>
        <p:spPr>
          <a:xfrm>
            <a:off x="5669280" y="2660904"/>
            <a:ext cx="2926080" cy="402336"/>
          </a:xfrm>
          <a:prstGeom prst="rect">
            <a:avLst/>
          </a:prstGeom>
          <a:noFill/>
          <a:ln/>
        </p:spPr>
        <p:txBody>
          <a:bodyPr wrap="square" rtlCol="0" anchor="ctr"/>
          <a:lstStyle/>
          <a:p>
            <a:pPr marL="0" indent="0">
              <a:buNone/>
            </a:pPr>
            <a:r>
              <a:rPr lang="en-US" sz="1100" dirty="0">
                <a:solidFill>
                  <a:srgbClr val="2E7D32"/>
                </a:solidFill>
                <a:latin typeface="Calibri" pitchFamily="34" charset="0"/>
                <a:ea typeface="Calibri" pitchFamily="34" charset="-122"/>
                <a:cs typeface="Calibri" pitchFamily="34" charset="-120"/>
              </a:rPr>
              <a:t>An toàn</a:t>
            </a:r>
            <a:endParaRPr lang="en-US" sz="1100" dirty="0"/>
          </a:p>
        </p:txBody>
      </p:sp>
      <p:sp>
        <p:nvSpPr>
          <p:cNvPr id="25" name="Shape 23"/>
          <p:cNvSpPr/>
          <p:nvPr/>
        </p:nvSpPr>
        <p:spPr>
          <a:xfrm>
            <a:off x="457200" y="3118104"/>
            <a:ext cx="8229600" cy="438912"/>
          </a:xfrm>
          <a:prstGeom prst="rect">
            <a:avLst/>
          </a:prstGeom>
          <a:solidFill>
            <a:srgbClr val="FFFFFF"/>
          </a:solidFill>
          <a:ln/>
        </p:spPr>
      </p:sp>
      <p:sp>
        <p:nvSpPr>
          <p:cNvPr id="26" name="Text 24"/>
          <p:cNvSpPr/>
          <p:nvPr/>
        </p:nvSpPr>
        <p:spPr>
          <a:xfrm>
            <a:off x="548640" y="3136392"/>
            <a:ext cx="1828800" cy="402336"/>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Giữ '\n' cuối</a:t>
            </a:r>
            <a:endParaRPr lang="en-US" sz="1100" dirty="0"/>
          </a:p>
        </p:txBody>
      </p:sp>
      <p:sp>
        <p:nvSpPr>
          <p:cNvPr id="27" name="Text 25"/>
          <p:cNvSpPr/>
          <p:nvPr/>
        </p:nvSpPr>
        <p:spPr>
          <a:xfrm>
            <a:off x="2560320" y="3136392"/>
            <a:ext cx="2926080" cy="402336"/>
          </a:xfrm>
          <a:prstGeom prst="rect">
            <a:avLst/>
          </a:prstGeom>
          <a:noFill/>
          <a:ln/>
        </p:spPr>
        <p:txBody>
          <a:bodyPr wrap="square" rtlCol="0" anchor="ctr"/>
          <a:lstStyle/>
          <a:p>
            <a:pPr marL="0" indent="0">
              <a:buNone/>
            </a:pPr>
            <a:r>
              <a:rPr lang="en-US" sz="1100" dirty="0">
                <a:solidFill>
                  <a:srgbClr val="2E7D32"/>
                </a:solidFill>
                <a:latin typeface="Calibri" pitchFamily="34" charset="0"/>
                <a:ea typeface="Calibri" pitchFamily="34" charset="-122"/>
                <a:cs typeface="Calibri" pitchFamily="34" charset="-120"/>
              </a:rPr>
              <a:t>Không</a:t>
            </a:r>
            <a:endParaRPr lang="en-US" sz="1100" dirty="0"/>
          </a:p>
        </p:txBody>
      </p:sp>
      <p:sp>
        <p:nvSpPr>
          <p:cNvPr id="28" name="Text 26"/>
          <p:cNvSpPr/>
          <p:nvPr/>
        </p:nvSpPr>
        <p:spPr>
          <a:xfrm>
            <a:off x="5669280" y="3136392"/>
            <a:ext cx="2926080" cy="402336"/>
          </a:xfrm>
          <a:prstGeom prst="rect">
            <a:avLst/>
          </a:prstGeom>
          <a:noFill/>
          <a:ln/>
        </p:spPr>
        <p:txBody>
          <a:bodyPr wrap="square" rtlCol="0" anchor="ctr"/>
          <a:lstStyle/>
          <a:p>
            <a:pPr marL="0" indent="0">
              <a:buNone/>
            </a:pPr>
            <a:r>
              <a:rPr lang="en-US" sz="1100" dirty="0">
                <a:solidFill>
                  <a:srgbClr val="E65100"/>
                </a:solidFill>
                <a:latin typeface="Calibri" pitchFamily="34" charset="0"/>
                <a:ea typeface="Calibri" pitchFamily="34" charset="-122"/>
                <a:cs typeface="Calibri" pitchFamily="34" charset="-120"/>
              </a:rPr>
              <a:t>Có (cần xử lý)</a:t>
            </a:r>
            <a:endParaRPr lang="en-US" sz="1100" dirty="0"/>
          </a:p>
        </p:txBody>
      </p:sp>
      <p:sp>
        <p:nvSpPr>
          <p:cNvPr id="29" name="Shape 27"/>
          <p:cNvSpPr/>
          <p:nvPr/>
        </p:nvSpPr>
        <p:spPr>
          <a:xfrm>
            <a:off x="457200" y="3593592"/>
            <a:ext cx="8229600" cy="438912"/>
          </a:xfrm>
          <a:prstGeom prst="rect">
            <a:avLst/>
          </a:prstGeom>
          <a:solidFill>
            <a:srgbClr val="F5F6FA"/>
          </a:solidFill>
          <a:ln/>
        </p:spPr>
      </p:sp>
      <p:sp>
        <p:nvSpPr>
          <p:cNvPr id="30" name="Text 28"/>
          <p:cNvSpPr/>
          <p:nvPr/>
        </p:nvSpPr>
        <p:spPr>
          <a:xfrm>
            <a:off x="548640" y="3611880"/>
            <a:ext cx="1828800" cy="402336"/>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Dùng khi nào</a:t>
            </a:r>
            <a:endParaRPr lang="en-US" sz="1100" dirty="0"/>
          </a:p>
        </p:txBody>
      </p:sp>
      <p:sp>
        <p:nvSpPr>
          <p:cNvPr id="31" name="Text 29"/>
          <p:cNvSpPr/>
          <p:nvPr/>
        </p:nvSpPr>
        <p:spPr>
          <a:xfrm>
            <a:off x="2560320" y="3611880"/>
            <a:ext cx="2926080" cy="402336"/>
          </a:xfrm>
          <a:prstGeom prst="rect">
            <a:avLst/>
          </a:prstGeom>
          <a:noFill/>
          <a:ln/>
        </p:spPr>
        <p:txBody>
          <a:bodyPr wrap="square" rtlCol="0" anchor="ctr"/>
          <a:lstStyle/>
          <a:p>
            <a:pPr marL="0" indent="0">
              <a:buNone/>
            </a:pPr>
            <a:r>
              <a:rPr lang="en-US" sz="1100" dirty="0">
                <a:solidFill>
                  <a:srgbClr val="424242"/>
                </a:solidFill>
                <a:latin typeface="Calibri" pitchFamily="34" charset="0"/>
                <a:ea typeface="Calibri" pitchFamily="34" charset="-122"/>
                <a:cs typeface="Calibri" pitchFamily="34" charset="-120"/>
              </a:rPr>
              <a:t>Nhập 1 từ đơn giản</a:t>
            </a:r>
            <a:endParaRPr lang="en-US" sz="1100" dirty="0"/>
          </a:p>
        </p:txBody>
      </p:sp>
      <p:sp>
        <p:nvSpPr>
          <p:cNvPr id="32" name="Text 30"/>
          <p:cNvSpPr/>
          <p:nvPr/>
        </p:nvSpPr>
        <p:spPr>
          <a:xfrm>
            <a:off x="5669280" y="3611880"/>
            <a:ext cx="2926080" cy="402336"/>
          </a:xfrm>
          <a:prstGeom prst="rect">
            <a:avLst/>
          </a:prstGeom>
          <a:noFill/>
          <a:ln/>
        </p:spPr>
        <p:txBody>
          <a:bodyPr wrap="square" rtlCol="0" anchor="ctr"/>
          <a:lstStyle/>
          <a:p>
            <a:pPr marL="0" indent="0">
              <a:buNone/>
            </a:pPr>
            <a:r>
              <a:rPr lang="en-US" sz="1100" dirty="0">
                <a:solidFill>
                  <a:srgbClr val="424242"/>
                </a:solidFill>
                <a:latin typeface="Calibri" pitchFamily="34" charset="0"/>
                <a:ea typeface="Calibri" pitchFamily="34" charset="-122"/>
                <a:cs typeface="Calibri" pitchFamily="34" charset="-120"/>
              </a:rPr>
              <a:t>Nhập chuỗi có dấu cách</a:t>
            </a:r>
            <a:endParaRPr lang="en-US" sz="1100" dirty="0"/>
          </a:p>
        </p:txBody>
      </p:sp>
      <p:sp>
        <p:nvSpPr>
          <p:cNvPr id="33" name="Shape 31"/>
          <p:cNvSpPr/>
          <p:nvPr/>
        </p:nvSpPr>
        <p:spPr>
          <a:xfrm>
            <a:off x="457200" y="4206240"/>
            <a:ext cx="8229600" cy="457200"/>
          </a:xfrm>
          <a:prstGeom prst="rect">
            <a:avLst/>
          </a:prstGeom>
          <a:solidFill>
            <a:srgbClr val="E8F5E9"/>
          </a:solidFill>
          <a:ln/>
          <a:effectLst>
            <a:outerShdw blurRad="38100" dist="12700" dir="8100000" algn="bl" rotWithShape="0">
              <a:srgbClr val="000000">
                <a:alpha val="8000"/>
              </a:srgbClr>
            </a:outerShdw>
          </a:effectLst>
        </p:spPr>
      </p:sp>
      <p:sp>
        <p:nvSpPr>
          <p:cNvPr id="34" name="Text 32"/>
          <p:cNvSpPr/>
          <p:nvPr/>
        </p:nvSpPr>
        <p:spPr>
          <a:xfrm>
            <a:off x="640080" y="4251960"/>
            <a:ext cx="7863840" cy="365760"/>
          </a:xfrm>
          <a:prstGeom prst="rect">
            <a:avLst/>
          </a:prstGeom>
          <a:noFill/>
          <a:ln/>
        </p:spPr>
        <p:txBody>
          <a:bodyPr wrap="square" rtlCol="0" anchor="ctr"/>
          <a:lstStyle/>
          <a:p>
            <a:pPr marL="0" indent="0" algn="ctr">
              <a:buNone/>
            </a:pPr>
            <a:r>
              <a:rPr lang="en-US" sz="1400" b="1" dirty="0">
                <a:solidFill>
                  <a:srgbClr val="2E7D32"/>
                </a:solidFill>
                <a:latin typeface="Georgia" pitchFamily="34" charset="0"/>
                <a:ea typeface="Georgia" pitchFamily="34" charset="-122"/>
                <a:cs typeface="Georgia" pitchFamily="34" charset="-120"/>
              </a:rPr>
              <a:t>Kết luận: Trong bài tập và dự án, hãy ưu tiên fgets()!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III: NHẬP / XUẤT CHUỖI</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Xuất Chuỗi Ra Màn Hình</a:t>
            </a:r>
            <a:endParaRPr lang="en-US" sz="2200" dirty="0"/>
          </a:p>
        </p:txBody>
      </p:sp>
      <p:sp>
        <p:nvSpPr>
          <p:cNvPr id="9" name="Shape 7"/>
          <p:cNvSpPr/>
          <p:nvPr/>
        </p:nvSpPr>
        <p:spPr>
          <a:xfrm>
            <a:off x="457200" y="1234440"/>
            <a:ext cx="8229600" cy="868680"/>
          </a:xfrm>
          <a:prstGeom prst="rect">
            <a:avLst/>
          </a:prstGeom>
          <a:solidFill>
            <a:srgbClr val="F5F6FA"/>
          </a:solidFill>
          <a:ln/>
          <a:effectLst>
            <a:outerShdw blurRad="38100" dist="12700" dir="8100000" algn="bl" rotWithShape="0">
              <a:srgbClr val="000000">
                <a:alpha val="8000"/>
              </a:srgbClr>
            </a:outerShdw>
          </a:effectLst>
        </p:spPr>
      </p:sp>
      <p:sp>
        <p:nvSpPr>
          <p:cNvPr id="10" name="Shape 8"/>
          <p:cNvSpPr/>
          <p:nvPr/>
        </p:nvSpPr>
        <p:spPr>
          <a:xfrm>
            <a:off x="457200" y="1234440"/>
            <a:ext cx="54864" cy="868680"/>
          </a:xfrm>
          <a:prstGeom prst="rect">
            <a:avLst/>
          </a:prstGeom>
          <a:solidFill>
            <a:srgbClr val="1565C0"/>
          </a:solidFill>
          <a:ln/>
        </p:spPr>
      </p:sp>
      <p:sp>
        <p:nvSpPr>
          <p:cNvPr id="11" name="Shape 9"/>
          <p:cNvSpPr/>
          <p:nvPr/>
        </p:nvSpPr>
        <p:spPr>
          <a:xfrm>
            <a:off x="640080" y="1532141"/>
            <a:ext cx="3474720" cy="347472"/>
          </a:xfrm>
          <a:prstGeom prst="rect">
            <a:avLst/>
          </a:prstGeom>
          <a:solidFill>
            <a:srgbClr val="263238"/>
          </a:solidFill>
          <a:ln/>
        </p:spPr>
      </p:sp>
      <p:sp>
        <p:nvSpPr>
          <p:cNvPr id="12" name="Text 10"/>
          <p:cNvSpPr/>
          <p:nvPr/>
        </p:nvSpPr>
        <p:spPr>
          <a:xfrm>
            <a:off x="667512" y="1522476"/>
            <a:ext cx="3474720" cy="310896"/>
          </a:xfrm>
          <a:prstGeom prst="rect">
            <a:avLst/>
          </a:prstGeom>
          <a:noFill/>
          <a:ln/>
        </p:spPr>
        <p:txBody>
          <a:bodyPr wrap="square" rtlCol="0" anchor="ctr"/>
          <a:lstStyle/>
          <a:p>
            <a:pPr marL="0" indent="0">
              <a:buNone/>
            </a:pPr>
            <a:r>
              <a:rPr lang="en-US" sz="1400" dirty="0">
                <a:solidFill>
                  <a:srgbClr val="E0E0E0"/>
                </a:solidFill>
                <a:latin typeface="Consolas" pitchFamily="34" charset="0"/>
                <a:ea typeface="Consolas" pitchFamily="34" charset="-122"/>
                <a:cs typeface="Consolas" pitchFamily="34" charset="-120"/>
              </a:rPr>
              <a:t>printf("%s", str);</a:t>
            </a:r>
            <a:endParaRPr lang="en-US" sz="1400" dirty="0"/>
          </a:p>
        </p:txBody>
      </p:sp>
      <p:sp>
        <p:nvSpPr>
          <p:cNvPr id="13" name="Text 11"/>
          <p:cNvSpPr/>
          <p:nvPr/>
        </p:nvSpPr>
        <p:spPr>
          <a:xfrm>
            <a:off x="4297680" y="1325880"/>
            <a:ext cx="4206240" cy="685800"/>
          </a:xfrm>
          <a:prstGeom prst="rect">
            <a:avLst/>
          </a:prstGeom>
          <a:noFill/>
          <a:ln/>
        </p:spPr>
        <p:txBody>
          <a:bodyPr wrap="square" rtlCol="0" anchor="ctr"/>
          <a:lstStyle/>
          <a:p>
            <a:pPr marL="0" indent="0">
              <a:buNone/>
            </a:pPr>
            <a:r>
              <a:rPr lang="en-US" sz="1600" dirty="0">
                <a:solidFill>
                  <a:srgbClr val="212121"/>
                </a:solidFill>
                <a:latin typeface="Calibri" pitchFamily="34" charset="0"/>
                <a:ea typeface="Calibri" pitchFamily="34" charset="-122"/>
                <a:cs typeface="Calibri" pitchFamily="34" charset="-120"/>
              </a:rPr>
              <a:t>Xuất chuỗi, kết hợp format khác (%d, %f...)</a:t>
            </a:r>
            <a:endParaRPr lang="en-US" sz="1600" dirty="0"/>
          </a:p>
        </p:txBody>
      </p:sp>
      <p:sp>
        <p:nvSpPr>
          <p:cNvPr id="14" name="Shape 12"/>
          <p:cNvSpPr/>
          <p:nvPr/>
        </p:nvSpPr>
        <p:spPr>
          <a:xfrm>
            <a:off x="457200" y="2286000"/>
            <a:ext cx="8229600" cy="868680"/>
          </a:xfrm>
          <a:prstGeom prst="rect">
            <a:avLst/>
          </a:prstGeom>
          <a:solidFill>
            <a:srgbClr val="F5F6FA"/>
          </a:solidFill>
          <a:ln/>
          <a:effectLst>
            <a:outerShdw blurRad="38100" dist="12700" dir="8100000" algn="bl" rotWithShape="0">
              <a:srgbClr val="000000">
                <a:alpha val="8000"/>
              </a:srgbClr>
            </a:outerShdw>
          </a:effectLst>
        </p:spPr>
      </p:sp>
      <p:sp>
        <p:nvSpPr>
          <p:cNvPr id="15" name="Shape 13"/>
          <p:cNvSpPr/>
          <p:nvPr/>
        </p:nvSpPr>
        <p:spPr>
          <a:xfrm>
            <a:off x="457200" y="2286000"/>
            <a:ext cx="54864" cy="868680"/>
          </a:xfrm>
          <a:prstGeom prst="rect">
            <a:avLst/>
          </a:prstGeom>
          <a:solidFill>
            <a:srgbClr val="2E7D32"/>
          </a:solidFill>
          <a:ln/>
        </p:spPr>
      </p:sp>
      <p:sp>
        <p:nvSpPr>
          <p:cNvPr id="16" name="Shape 14"/>
          <p:cNvSpPr/>
          <p:nvPr/>
        </p:nvSpPr>
        <p:spPr>
          <a:xfrm>
            <a:off x="671491" y="2527860"/>
            <a:ext cx="3474720" cy="347472"/>
          </a:xfrm>
          <a:prstGeom prst="rect">
            <a:avLst/>
          </a:prstGeom>
          <a:solidFill>
            <a:srgbClr val="263238"/>
          </a:solidFill>
          <a:ln/>
        </p:spPr>
      </p:sp>
      <p:sp>
        <p:nvSpPr>
          <p:cNvPr id="17" name="Text 15"/>
          <p:cNvSpPr/>
          <p:nvPr/>
        </p:nvSpPr>
        <p:spPr>
          <a:xfrm>
            <a:off x="640080" y="2546148"/>
            <a:ext cx="3337560" cy="310896"/>
          </a:xfrm>
          <a:prstGeom prst="rect">
            <a:avLst/>
          </a:prstGeom>
          <a:noFill/>
          <a:ln/>
        </p:spPr>
        <p:txBody>
          <a:bodyPr wrap="square" rtlCol="0" anchor="ctr"/>
          <a:lstStyle/>
          <a:p>
            <a:pPr marL="0" indent="0">
              <a:buNone/>
            </a:pPr>
            <a:r>
              <a:rPr lang="en-US" sz="1400" dirty="0">
                <a:solidFill>
                  <a:srgbClr val="E0E0E0"/>
                </a:solidFill>
                <a:latin typeface="Consolas" pitchFamily="34" charset="0"/>
                <a:ea typeface="Consolas" pitchFamily="34" charset="-122"/>
                <a:cs typeface="Consolas" pitchFamily="34" charset="-120"/>
              </a:rPr>
              <a:t>fputs(str, stdout);</a:t>
            </a:r>
            <a:endParaRPr lang="en-US" sz="1400" dirty="0"/>
          </a:p>
        </p:txBody>
      </p:sp>
      <p:sp>
        <p:nvSpPr>
          <p:cNvPr id="18" name="Text 16"/>
          <p:cNvSpPr/>
          <p:nvPr/>
        </p:nvSpPr>
        <p:spPr>
          <a:xfrm>
            <a:off x="4297680" y="2377440"/>
            <a:ext cx="4206240" cy="685800"/>
          </a:xfrm>
          <a:prstGeom prst="rect">
            <a:avLst/>
          </a:prstGeom>
          <a:noFill/>
          <a:ln/>
        </p:spPr>
        <p:txBody>
          <a:bodyPr wrap="square" rtlCol="0" anchor="ctr"/>
          <a:lstStyle/>
          <a:p>
            <a:pPr marL="0" indent="0">
              <a:buNone/>
            </a:pPr>
            <a:r>
              <a:rPr lang="en-US" sz="1600" dirty="0">
                <a:solidFill>
                  <a:srgbClr val="212121"/>
                </a:solidFill>
                <a:latin typeface="Calibri" pitchFamily="34" charset="0"/>
                <a:ea typeface="Calibri" pitchFamily="34" charset="-122"/>
                <a:cs typeface="Calibri" pitchFamily="34" charset="-120"/>
              </a:rPr>
              <a:t>Xuất chuỗi đơn giản (không tự thêm '\n')</a:t>
            </a:r>
            <a:endParaRPr lang="en-US" sz="1600" dirty="0"/>
          </a:p>
        </p:txBody>
      </p:sp>
      <p:sp>
        <p:nvSpPr>
          <p:cNvPr id="19" name="Shape 17"/>
          <p:cNvSpPr/>
          <p:nvPr/>
        </p:nvSpPr>
        <p:spPr>
          <a:xfrm>
            <a:off x="457200" y="3337560"/>
            <a:ext cx="8229600" cy="868680"/>
          </a:xfrm>
          <a:prstGeom prst="rect">
            <a:avLst/>
          </a:prstGeom>
          <a:solidFill>
            <a:srgbClr val="F5F6FA"/>
          </a:solidFill>
          <a:ln/>
          <a:effectLst>
            <a:outerShdw blurRad="38100" dist="12700" dir="8100000" algn="bl" rotWithShape="0">
              <a:srgbClr val="000000">
                <a:alpha val="8000"/>
              </a:srgbClr>
            </a:outerShdw>
          </a:effectLst>
        </p:spPr>
      </p:sp>
      <p:sp>
        <p:nvSpPr>
          <p:cNvPr id="20" name="Shape 18"/>
          <p:cNvSpPr/>
          <p:nvPr/>
        </p:nvSpPr>
        <p:spPr>
          <a:xfrm>
            <a:off x="457200" y="3337560"/>
            <a:ext cx="54864" cy="868680"/>
          </a:xfrm>
          <a:prstGeom prst="rect">
            <a:avLst/>
          </a:prstGeom>
          <a:solidFill>
            <a:srgbClr val="E65100"/>
          </a:solidFill>
          <a:ln/>
        </p:spPr>
      </p:sp>
      <p:sp>
        <p:nvSpPr>
          <p:cNvPr id="21" name="Shape 19"/>
          <p:cNvSpPr/>
          <p:nvPr/>
        </p:nvSpPr>
        <p:spPr>
          <a:xfrm>
            <a:off x="640080" y="3579876"/>
            <a:ext cx="3474720" cy="347472"/>
          </a:xfrm>
          <a:prstGeom prst="rect">
            <a:avLst/>
          </a:prstGeom>
          <a:solidFill>
            <a:srgbClr val="263238"/>
          </a:solidFill>
          <a:ln/>
        </p:spPr>
      </p:sp>
      <p:sp>
        <p:nvSpPr>
          <p:cNvPr id="22" name="Text 20"/>
          <p:cNvSpPr/>
          <p:nvPr/>
        </p:nvSpPr>
        <p:spPr>
          <a:xfrm>
            <a:off x="640080" y="3593592"/>
            <a:ext cx="3474720" cy="310896"/>
          </a:xfrm>
          <a:prstGeom prst="rect">
            <a:avLst/>
          </a:prstGeom>
          <a:noFill/>
          <a:ln/>
        </p:spPr>
        <p:txBody>
          <a:bodyPr wrap="square" rtlCol="0" anchor="ctr"/>
          <a:lstStyle/>
          <a:p>
            <a:pPr marL="0" indent="0">
              <a:buNone/>
            </a:pPr>
            <a:r>
              <a:rPr lang="en-US" sz="1400" dirty="0">
                <a:solidFill>
                  <a:srgbClr val="E0E0E0"/>
                </a:solidFill>
                <a:latin typeface="Consolas" pitchFamily="34" charset="0"/>
                <a:ea typeface="Consolas" pitchFamily="34" charset="-122"/>
                <a:cs typeface="Consolas" pitchFamily="34" charset="-120"/>
              </a:rPr>
              <a:t>puts(str);</a:t>
            </a:r>
            <a:endParaRPr lang="en-US" sz="1400" dirty="0"/>
          </a:p>
        </p:txBody>
      </p:sp>
      <p:sp>
        <p:nvSpPr>
          <p:cNvPr id="23" name="Text 21"/>
          <p:cNvSpPr/>
          <p:nvPr/>
        </p:nvSpPr>
        <p:spPr>
          <a:xfrm>
            <a:off x="4297680" y="3429000"/>
            <a:ext cx="4206240" cy="685800"/>
          </a:xfrm>
          <a:prstGeom prst="rect">
            <a:avLst/>
          </a:prstGeom>
          <a:noFill/>
          <a:ln/>
        </p:spPr>
        <p:txBody>
          <a:bodyPr wrap="square" rtlCol="0" anchor="ctr"/>
          <a:lstStyle/>
          <a:p>
            <a:pPr marL="0" indent="0">
              <a:buNone/>
            </a:pPr>
            <a:r>
              <a:rPr lang="en-US" sz="1600" dirty="0">
                <a:solidFill>
                  <a:srgbClr val="212121"/>
                </a:solidFill>
                <a:latin typeface="Calibri" pitchFamily="34" charset="0"/>
                <a:ea typeface="Calibri" pitchFamily="34" charset="-122"/>
                <a:cs typeface="Calibri" pitchFamily="34" charset="-120"/>
              </a:rPr>
              <a:t>Xuất chuỗi + tự thêm '\n' cuối dòng</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55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457200" y="914400"/>
            <a:ext cx="8229600" cy="1097280"/>
          </a:xfrm>
          <a:prstGeom prst="rect">
            <a:avLst/>
          </a:prstGeom>
          <a:noFill/>
          <a:ln/>
        </p:spPr>
        <p:txBody>
          <a:bodyPr wrap="square" rtlCol="0" anchor="ctr"/>
          <a:lstStyle/>
          <a:p>
            <a:pPr marL="0" indent="0" algn="ctr">
              <a:buNone/>
            </a:pPr>
            <a:r>
              <a:rPr lang="en-US" sz="7200" b="1" dirty="0">
                <a:solidFill>
                  <a:srgbClr val="F9A825"/>
                </a:solidFill>
                <a:latin typeface="Georgia" pitchFamily="34" charset="0"/>
                <a:ea typeface="Georgia" pitchFamily="34" charset="-122"/>
                <a:cs typeface="Georgia" pitchFamily="34" charset="-120"/>
              </a:rPr>
              <a:t>04</a:t>
            </a:r>
            <a:endParaRPr lang="en-US" sz="7200" dirty="0"/>
          </a:p>
        </p:txBody>
      </p:sp>
      <p:sp>
        <p:nvSpPr>
          <p:cNvPr id="4" name="Shape 2"/>
          <p:cNvSpPr/>
          <p:nvPr/>
        </p:nvSpPr>
        <p:spPr>
          <a:xfrm>
            <a:off x="3200400" y="2103120"/>
            <a:ext cx="2743200" cy="27432"/>
          </a:xfrm>
          <a:prstGeom prst="rect">
            <a:avLst/>
          </a:prstGeom>
          <a:solidFill>
            <a:srgbClr val="F9A825"/>
          </a:solidFill>
          <a:ln/>
        </p:spPr>
      </p:sp>
      <p:sp>
        <p:nvSpPr>
          <p:cNvPr id="5" name="Text 3"/>
          <p:cNvSpPr/>
          <p:nvPr/>
        </p:nvSpPr>
        <p:spPr>
          <a:xfrm>
            <a:off x="457200" y="2286000"/>
            <a:ext cx="8229600" cy="914400"/>
          </a:xfrm>
          <a:prstGeom prst="rect">
            <a:avLst/>
          </a:prstGeom>
          <a:noFill/>
          <a:ln/>
        </p:spPr>
        <p:txBody>
          <a:bodyPr wrap="square" rtlCol="0" anchor="ctr"/>
          <a:lstStyle/>
          <a:p>
            <a:pPr marL="0" indent="0" algn="ctr">
              <a:buNone/>
            </a:pPr>
            <a:r>
              <a:rPr lang="en-US" sz="2600" b="1" kern="0" spc="300" dirty="0">
                <a:solidFill>
                  <a:srgbClr val="FFFFFF"/>
                </a:solidFill>
                <a:latin typeface="Georgia" pitchFamily="34" charset="0"/>
                <a:ea typeface="Georgia" pitchFamily="34" charset="-122"/>
                <a:cs typeface="Georgia" pitchFamily="34" charset="-120"/>
              </a:rPr>
              <a:t>THƯ VIỆN STRING.H</a:t>
            </a:r>
            <a:endParaRPr lang="en-US" sz="2600" dirty="0"/>
          </a:p>
        </p:txBody>
      </p:sp>
      <p:sp>
        <p:nvSpPr>
          <p:cNvPr id="6" name="Text 4"/>
          <p:cNvSpPr/>
          <p:nvPr/>
        </p:nvSpPr>
        <p:spPr>
          <a:xfrm>
            <a:off x="914400" y="3291840"/>
            <a:ext cx="7315200" cy="548640"/>
          </a:xfrm>
          <a:prstGeom prst="rect">
            <a:avLst/>
          </a:prstGeom>
          <a:noFill/>
          <a:ln/>
        </p:spPr>
        <p:txBody>
          <a:bodyPr wrap="square" rtlCol="0" anchor="ctr"/>
          <a:lstStyle/>
          <a:p>
            <a:pPr marL="0" indent="0" algn="ctr">
              <a:buNone/>
            </a:pPr>
            <a:r>
              <a:rPr lang="en-US" sz="1300" i="1" dirty="0">
                <a:solidFill>
                  <a:srgbClr val="AAAAAA"/>
                </a:solidFill>
                <a:latin typeface="Calibri" pitchFamily="34" charset="0"/>
                <a:ea typeface="Calibri" pitchFamily="34" charset="-122"/>
                <a:cs typeface="Calibri" pitchFamily="34" charset="-120"/>
              </a:rPr>
              <a:t>Bộ công cụ vàng: Đo - Sánh - Nối - Chép - Tìm</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IV: THƯ VIỆN STRING.H</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14</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string.h — Bộ Công Cụ Vàng Xử Lý Chuỗi</a:t>
            </a:r>
            <a:endParaRPr lang="en-US" sz="2200" dirty="0"/>
          </a:p>
        </p:txBody>
      </p:sp>
      <p:sp>
        <p:nvSpPr>
          <p:cNvPr id="9" name="Shape 7"/>
          <p:cNvSpPr/>
          <p:nvPr/>
        </p:nvSpPr>
        <p:spPr>
          <a:xfrm>
            <a:off x="457200" y="1234440"/>
            <a:ext cx="8229600" cy="411480"/>
          </a:xfrm>
          <a:prstGeom prst="rect">
            <a:avLst/>
          </a:prstGeom>
          <a:solidFill>
            <a:srgbClr val="1B2558"/>
          </a:solidFill>
          <a:ln/>
        </p:spPr>
      </p:sp>
      <p:sp>
        <p:nvSpPr>
          <p:cNvPr id="10" name="Text 8"/>
          <p:cNvSpPr/>
          <p:nvPr/>
        </p:nvSpPr>
        <p:spPr>
          <a:xfrm>
            <a:off x="640080" y="1261872"/>
            <a:ext cx="7863840" cy="35661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Bắt buộc:  #include &lt;string.h&gt;  ở đầu chương trình</a:t>
            </a:r>
            <a:endParaRPr lang="en-US" sz="1200" dirty="0"/>
          </a:p>
        </p:txBody>
      </p:sp>
      <p:sp>
        <p:nvSpPr>
          <p:cNvPr id="11" name="Shape 9"/>
          <p:cNvSpPr/>
          <p:nvPr/>
        </p:nvSpPr>
        <p:spPr>
          <a:xfrm>
            <a:off x="624720" y="1828800"/>
            <a:ext cx="1417320" cy="777240"/>
          </a:xfrm>
          <a:prstGeom prst="rect">
            <a:avLst/>
          </a:prstGeom>
          <a:solidFill>
            <a:srgbClr val="1565C0"/>
          </a:solidFill>
          <a:ln/>
          <a:effectLst>
            <a:outerShdw blurRad="50800" dist="25400" dir="8100000" algn="bl" rotWithShape="0">
              <a:srgbClr val="000000">
                <a:alpha val="10000"/>
              </a:srgbClr>
            </a:outerShdw>
          </a:effectLst>
        </p:spPr>
      </p:sp>
      <p:sp>
        <p:nvSpPr>
          <p:cNvPr id="12" name="Text 10"/>
          <p:cNvSpPr/>
          <p:nvPr/>
        </p:nvSpPr>
        <p:spPr>
          <a:xfrm>
            <a:off x="624720" y="1856232"/>
            <a:ext cx="1417320" cy="27432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13" name="Text 11"/>
          <p:cNvSpPr/>
          <p:nvPr/>
        </p:nvSpPr>
        <p:spPr>
          <a:xfrm>
            <a:off x="624720" y="2103120"/>
            <a:ext cx="1417320" cy="4572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ĐO</a:t>
            </a:r>
            <a:endParaRPr lang="en-US" sz="1600" dirty="0"/>
          </a:p>
        </p:txBody>
      </p:sp>
      <p:sp>
        <p:nvSpPr>
          <p:cNvPr id="14" name="Shape 12"/>
          <p:cNvSpPr/>
          <p:nvPr/>
        </p:nvSpPr>
        <p:spPr>
          <a:xfrm>
            <a:off x="624720" y="2606040"/>
            <a:ext cx="1417320" cy="1600200"/>
          </a:xfrm>
          <a:prstGeom prst="rect">
            <a:avLst/>
          </a:prstGeom>
          <a:solidFill>
            <a:srgbClr val="F5F6FA"/>
          </a:solidFill>
          <a:ln/>
          <a:effectLst>
            <a:outerShdw blurRad="38100" dist="12700" dir="8100000" algn="bl" rotWithShape="0">
              <a:srgbClr val="000000">
                <a:alpha val="8000"/>
              </a:srgbClr>
            </a:outerShdw>
          </a:effectLst>
        </p:spPr>
      </p:sp>
      <p:sp>
        <p:nvSpPr>
          <p:cNvPr id="15" name="Text 13"/>
          <p:cNvSpPr/>
          <p:nvPr/>
        </p:nvSpPr>
        <p:spPr>
          <a:xfrm>
            <a:off x="716160" y="2743200"/>
            <a:ext cx="1234440" cy="1371600"/>
          </a:xfrm>
          <a:prstGeom prst="rect">
            <a:avLst/>
          </a:prstGeom>
          <a:noFill/>
          <a:ln/>
        </p:spPr>
        <p:txBody>
          <a:bodyPr wrap="square" rtlCol="0" anchor="ctr"/>
          <a:lstStyle/>
          <a:p>
            <a:pPr marL="0" indent="0" algn="ctr">
              <a:lnSpc>
                <a:spcPct val="130000"/>
              </a:lnSpc>
              <a:buNone/>
            </a:pPr>
            <a:r>
              <a:rPr lang="en-US" sz="1400" dirty="0">
                <a:solidFill>
                  <a:srgbClr val="212121"/>
                </a:solidFill>
                <a:latin typeface="Consolas" pitchFamily="34" charset="0"/>
                <a:ea typeface="Consolas" pitchFamily="34" charset="-122"/>
                <a:cs typeface="Consolas" pitchFamily="34" charset="-120"/>
              </a:rPr>
              <a:t>strlen()</a:t>
            </a:r>
            <a:endParaRPr lang="en-US" sz="1400" dirty="0"/>
          </a:p>
        </p:txBody>
      </p:sp>
      <p:sp>
        <p:nvSpPr>
          <p:cNvPr id="16" name="Text 14"/>
          <p:cNvSpPr/>
          <p:nvPr/>
        </p:nvSpPr>
        <p:spPr>
          <a:xfrm>
            <a:off x="2042040" y="2103120"/>
            <a:ext cx="182880" cy="365760"/>
          </a:xfrm>
          <a:prstGeom prst="rect">
            <a:avLst/>
          </a:prstGeom>
          <a:noFill/>
          <a:ln/>
        </p:spPr>
        <p:txBody>
          <a:bodyPr wrap="square" rtlCol="0" anchor="ctr"/>
          <a:lstStyle/>
          <a:p>
            <a:pPr marL="0" indent="0" algn="ctr">
              <a:buNone/>
            </a:pPr>
            <a:r>
              <a:rPr lang="en-US" sz="1400" b="1" dirty="0">
                <a:solidFill>
                  <a:srgbClr val="1B2558"/>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2224920" y="1828800"/>
            <a:ext cx="1417320" cy="777240"/>
          </a:xfrm>
          <a:prstGeom prst="rect">
            <a:avLst/>
          </a:prstGeom>
          <a:solidFill>
            <a:srgbClr val="2E7D32"/>
          </a:solidFill>
          <a:ln/>
          <a:effectLst>
            <a:outerShdw blurRad="50800" dist="25400" dir="8100000" algn="bl" rotWithShape="0">
              <a:srgbClr val="000000">
                <a:alpha val="10000"/>
              </a:srgbClr>
            </a:outerShdw>
          </a:effectLst>
        </p:spPr>
      </p:sp>
      <p:sp>
        <p:nvSpPr>
          <p:cNvPr id="18" name="Text 16"/>
          <p:cNvSpPr/>
          <p:nvPr/>
        </p:nvSpPr>
        <p:spPr>
          <a:xfrm>
            <a:off x="2224920" y="1856232"/>
            <a:ext cx="1417320" cy="27432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9" name="Text 17"/>
          <p:cNvSpPr/>
          <p:nvPr/>
        </p:nvSpPr>
        <p:spPr>
          <a:xfrm>
            <a:off x="2224920" y="2103120"/>
            <a:ext cx="1417320" cy="4572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SÁNH</a:t>
            </a:r>
            <a:endParaRPr lang="en-US" sz="1600" dirty="0"/>
          </a:p>
        </p:txBody>
      </p:sp>
      <p:sp>
        <p:nvSpPr>
          <p:cNvPr id="20" name="Shape 18"/>
          <p:cNvSpPr/>
          <p:nvPr/>
        </p:nvSpPr>
        <p:spPr>
          <a:xfrm>
            <a:off x="2224920" y="2606040"/>
            <a:ext cx="1417320" cy="1600200"/>
          </a:xfrm>
          <a:prstGeom prst="rect">
            <a:avLst/>
          </a:prstGeom>
          <a:solidFill>
            <a:srgbClr val="F5F6FA"/>
          </a:solidFill>
          <a:ln/>
          <a:effectLst>
            <a:outerShdw blurRad="38100" dist="12700" dir="8100000" algn="bl" rotWithShape="0">
              <a:srgbClr val="000000">
                <a:alpha val="8000"/>
              </a:srgbClr>
            </a:outerShdw>
          </a:effectLst>
        </p:spPr>
      </p:sp>
      <p:sp>
        <p:nvSpPr>
          <p:cNvPr id="21" name="Text 19"/>
          <p:cNvSpPr/>
          <p:nvPr/>
        </p:nvSpPr>
        <p:spPr>
          <a:xfrm>
            <a:off x="2316360" y="2743200"/>
            <a:ext cx="1234440" cy="1371600"/>
          </a:xfrm>
          <a:prstGeom prst="rect">
            <a:avLst/>
          </a:prstGeom>
          <a:noFill/>
          <a:ln/>
        </p:spPr>
        <p:txBody>
          <a:bodyPr wrap="square" rtlCol="0" anchor="ctr"/>
          <a:lstStyle/>
          <a:p>
            <a:pPr marL="0" indent="0" algn="ctr">
              <a:lnSpc>
                <a:spcPct val="130000"/>
              </a:lnSpc>
              <a:buNone/>
            </a:pPr>
            <a:r>
              <a:rPr lang="en-US" sz="1400" dirty="0">
                <a:solidFill>
                  <a:srgbClr val="212121"/>
                </a:solidFill>
                <a:latin typeface="Consolas" pitchFamily="34" charset="0"/>
                <a:ea typeface="Consolas" pitchFamily="34" charset="-122"/>
                <a:cs typeface="Consolas" pitchFamily="34" charset="-120"/>
              </a:rPr>
              <a:t>strcmp()</a:t>
            </a:r>
            <a:endParaRPr lang="en-US" sz="1400" dirty="0"/>
          </a:p>
        </p:txBody>
      </p:sp>
      <p:sp>
        <p:nvSpPr>
          <p:cNvPr id="22" name="Text 20"/>
          <p:cNvSpPr/>
          <p:nvPr/>
        </p:nvSpPr>
        <p:spPr>
          <a:xfrm>
            <a:off x="3642240" y="2103120"/>
            <a:ext cx="182880" cy="365760"/>
          </a:xfrm>
          <a:prstGeom prst="rect">
            <a:avLst/>
          </a:prstGeom>
          <a:noFill/>
          <a:ln/>
        </p:spPr>
        <p:txBody>
          <a:bodyPr wrap="square" rtlCol="0" anchor="ctr"/>
          <a:lstStyle/>
          <a:p>
            <a:pPr marL="0" indent="0" algn="ctr">
              <a:buNone/>
            </a:pPr>
            <a:r>
              <a:rPr lang="en-US" sz="1400" b="1" dirty="0">
                <a:solidFill>
                  <a:srgbClr val="1B2558"/>
                </a:solidFill>
                <a:latin typeface="Calibri" pitchFamily="34" charset="0"/>
                <a:ea typeface="Calibri" pitchFamily="34" charset="-122"/>
                <a:cs typeface="Calibri" pitchFamily="34" charset="-120"/>
              </a:rPr>
              <a:t>→</a:t>
            </a:r>
            <a:endParaRPr lang="en-US" sz="1400" dirty="0"/>
          </a:p>
        </p:txBody>
      </p:sp>
      <p:sp>
        <p:nvSpPr>
          <p:cNvPr id="23" name="Shape 21"/>
          <p:cNvSpPr/>
          <p:nvPr/>
        </p:nvSpPr>
        <p:spPr>
          <a:xfrm>
            <a:off x="3825120" y="1828800"/>
            <a:ext cx="1417320" cy="777240"/>
          </a:xfrm>
          <a:prstGeom prst="rect">
            <a:avLst/>
          </a:prstGeom>
          <a:solidFill>
            <a:srgbClr val="E65100"/>
          </a:solidFill>
          <a:ln/>
          <a:effectLst>
            <a:outerShdw blurRad="50800" dist="25400" dir="8100000" algn="bl" rotWithShape="0">
              <a:srgbClr val="000000">
                <a:alpha val="10000"/>
              </a:srgbClr>
            </a:outerShdw>
          </a:effectLst>
        </p:spPr>
      </p:sp>
      <p:sp>
        <p:nvSpPr>
          <p:cNvPr id="24" name="Text 22"/>
          <p:cNvSpPr/>
          <p:nvPr/>
        </p:nvSpPr>
        <p:spPr>
          <a:xfrm>
            <a:off x="3825120" y="1856232"/>
            <a:ext cx="1417320" cy="27432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5" name="Text 23"/>
          <p:cNvSpPr/>
          <p:nvPr/>
        </p:nvSpPr>
        <p:spPr>
          <a:xfrm>
            <a:off x="3825120" y="2103120"/>
            <a:ext cx="1417320" cy="4572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NỐI</a:t>
            </a:r>
            <a:endParaRPr lang="en-US" sz="1600" dirty="0"/>
          </a:p>
        </p:txBody>
      </p:sp>
      <p:sp>
        <p:nvSpPr>
          <p:cNvPr id="26" name="Shape 24"/>
          <p:cNvSpPr/>
          <p:nvPr/>
        </p:nvSpPr>
        <p:spPr>
          <a:xfrm>
            <a:off x="3825120" y="2606040"/>
            <a:ext cx="1417320" cy="1600200"/>
          </a:xfrm>
          <a:prstGeom prst="rect">
            <a:avLst/>
          </a:prstGeom>
          <a:solidFill>
            <a:srgbClr val="F5F6FA"/>
          </a:solidFill>
          <a:ln/>
          <a:effectLst>
            <a:outerShdw blurRad="38100" dist="12700" dir="8100000" algn="bl" rotWithShape="0">
              <a:srgbClr val="000000">
                <a:alpha val="8000"/>
              </a:srgbClr>
            </a:outerShdw>
          </a:effectLst>
        </p:spPr>
      </p:sp>
      <p:sp>
        <p:nvSpPr>
          <p:cNvPr id="27" name="Text 25"/>
          <p:cNvSpPr/>
          <p:nvPr/>
        </p:nvSpPr>
        <p:spPr>
          <a:xfrm>
            <a:off x="3916560" y="2743200"/>
            <a:ext cx="1234440" cy="1371600"/>
          </a:xfrm>
          <a:prstGeom prst="rect">
            <a:avLst/>
          </a:prstGeom>
          <a:noFill/>
          <a:ln/>
        </p:spPr>
        <p:txBody>
          <a:bodyPr wrap="square" rtlCol="0" anchor="ctr"/>
          <a:lstStyle/>
          <a:p>
            <a:pPr marL="0" indent="0" algn="ctr">
              <a:lnSpc>
                <a:spcPct val="130000"/>
              </a:lnSpc>
              <a:buNone/>
            </a:pPr>
            <a:r>
              <a:rPr lang="en-US" sz="1400" dirty="0">
                <a:solidFill>
                  <a:srgbClr val="212121"/>
                </a:solidFill>
                <a:latin typeface="Consolas" pitchFamily="34" charset="0"/>
                <a:ea typeface="Consolas" pitchFamily="34" charset="-122"/>
                <a:cs typeface="Consolas" pitchFamily="34" charset="-120"/>
              </a:rPr>
              <a:t>strcat()</a:t>
            </a:r>
            <a:endParaRPr lang="en-US" sz="1400" dirty="0"/>
          </a:p>
        </p:txBody>
      </p:sp>
      <p:sp>
        <p:nvSpPr>
          <p:cNvPr id="28" name="Text 26"/>
          <p:cNvSpPr/>
          <p:nvPr/>
        </p:nvSpPr>
        <p:spPr>
          <a:xfrm>
            <a:off x="5242440" y="2103120"/>
            <a:ext cx="182880" cy="365760"/>
          </a:xfrm>
          <a:prstGeom prst="rect">
            <a:avLst/>
          </a:prstGeom>
          <a:noFill/>
          <a:ln/>
        </p:spPr>
        <p:txBody>
          <a:bodyPr wrap="square" rtlCol="0" anchor="ctr"/>
          <a:lstStyle/>
          <a:p>
            <a:pPr marL="0" indent="0" algn="ctr">
              <a:buNone/>
            </a:pPr>
            <a:r>
              <a:rPr lang="en-US" sz="1400" b="1" dirty="0">
                <a:solidFill>
                  <a:srgbClr val="1B2558"/>
                </a:solidFill>
                <a:latin typeface="Calibri" pitchFamily="34" charset="0"/>
                <a:ea typeface="Calibri" pitchFamily="34" charset="-122"/>
                <a:cs typeface="Calibri" pitchFamily="34" charset="-120"/>
              </a:rPr>
              <a:t>→</a:t>
            </a:r>
            <a:endParaRPr lang="en-US" sz="1400" dirty="0"/>
          </a:p>
        </p:txBody>
      </p:sp>
      <p:sp>
        <p:nvSpPr>
          <p:cNvPr id="29" name="Shape 27"/>
          <p:cNvSpPr/>
          <p:nvPr/>
        </p:nvSpPr>
        <p:spPr>
          <a:xfrm>
            <a:off x="5425320" y="1828800"/>
            <a:ext cx="1417320" cy="777240"/>
          </a:xfrm>
          <a:prstGeom prst="rect">
            <a:avLst/>
          </a:prstGeom>
          <a:solidFill>
            <a:srgbClr val="C62828"/>
          </a:solidFill>
          <a:ln/>
          <a:effectLst>
            <a:outerShdw blurRad="50800" dist="25400" dir="8100000" algn="bl" rotWithShape="0">
              <a:srgbClr val="000000">
                <a:alpha val="10000"/>
              </a:srgbClr>
            </a:outerShdw>
          </a:effectLst>
        </p:spPr>
      </p:sp>
      <p:sp>
        <p:nvSpPr>
          <p:cNvPr id="30" name="Text 28"/>
          <p:cNvSpPr/>
          <p:nvPr/>
        </p:nvSpPr>
        <p:spPr>
          <a:xfrm>
            <a:off x="5425320" y="1856232"/>
            <a:ext cx="1417320" cy="27432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31" name="Text 29"/>
          <p:cNvSpPr/>
          <p:nvPr/>
        </p:nvSpPr>
        <p:spPr>
          <a:xfrm>
            <a:off x="5425320" y="2103120"/>
            <a:ext cx="1417320" cy="4572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CHÉP</a:t>
            </a:r>
            <a:endParaRPr lang="en-US" sz="1600" dirty="0"/>
          </a:p>
        </p:txBody>
      </p:sp>
      <p:sp>
        <p:nvSpPr>
          <p:cNvPr id="32" name="Shape 30"/>
          <p:cNvSpPr/>
          <p:nvPr/>
        </p:nvSpPr>
        <p:spPr>
          <a:xfrm>
            <a:off x="5425320" y="2606040"/>
            <a:ext cx="1417320" cy="1600200"/>
          </a:xfrm>
          <a:prstGeom prst="rect">
            <a:avLst/>
          </a:prstGeom>
          <a:solidFill>
            <a:srgbClr val="F5F6FA"/>
          </a:solidFill>
          <a:ln/>
          <a:effectLst>
            <a:outerShdw blurRad="38100" dist="12700" dir="8100000" algn="bl" rotWithShape="0">
              <a:srgbClr val="000000">
                <a:alpha val="8000"/>
              </a:srgbClr>
            </a:outerShdw>
          </a:effectLst>
        </p:spPr>
      </p:sp>
      <p:sp>
        <p:nvSpPr>
          <p:cNvPr id="33" name="Text 31"/>
          <p:cNvSpPr/>
          <p:nvPr/>
        </p:nvSpPr>
        <p:spPr>
          <a:xfrm>
            <a:off x="5516760" y="2743200"/>
            <a:ext cx="1234440" cy="1371600"/>
          </a:xfrm>
          <a:prstGeom prst="rect">
            <a:avLst/>
          </a:prstGeom>
          <a:noFill/>
          <a:ln/>
        </p:spPr>
        <p:txBody>
          <a:bodyPr wrap="square" rtlCol="0" anchor="ctr"/>
          <a:lstStyle/>
          <a:p>
            <a:pPr marL="0" indent="0" algn="ctr">
              <a:lnSpc>
                <a:spcPct val="130000"/>
              </a:lnSpc>
              <a:buNone/>
            </a:pPr>
            <a:r>
              <a:rPr lang="en-US" sz="1400" dirty="0">
                <a:solidFill>
                  <a:srgbClr val="212121"/>
                </a:solidFill>
                <a:latin typeface="Consolas" pitchFamily="34" charset="0"/>
                <a:ea typeface="Consolas" pitchFamily="34" charset="-122"/>
                <a:cs typeface="Consolas" pitchFamily="34" charset="-120"/>
              </a:rPr>
              <a:t>strcpy()</a:t>
            </a:r>
            <a:endParaRPr lang="en-US" sz="1400" dirty="0"/>
          </a:p>
        </p:txBody>
      </p:sp>
      <p:sp>
        <p:nvSpPr>
          <p:cNvPr id="34" name="Text 32"/>
          <p:cNvSpPr/>
          <p:nvPr/>
        </p:nvSpPr>
        <p:spPr>
          <a:xfrm>
            <a:off x="6842640" y="2103120"/>
            <a:ext cx="182880" cy="365760"/>
          </a:xfrm>
          <a:prstGeom prst="rect">
            <a:avLst/>
          </a:prstGeom>
          <a:noFill/>
          <a:ln/>
        </p:spPr>
        <p:txBody>
          <a:bodyPr wrap="square" rtlCol="0" anchor="ctr"/>
          <a:lstStyle/>
          <a:p>
            <a:pPr marL="0" indent="0" algn="ctr">
              <a:buNone/>
            </a:pPr>
            <a:r>
              <a:rPr lang="en-US" sz="1400" b="1" dirty="0">
                <a:solidFill>
                  <a:srgbClr val="1B2558"/>
                </a:solidFill>
                <a:latin typeface="Calibri" pitchFamily="34" charset="0"/>
                <a:ea typeface="Calibri" pitchFamily="34" charset="-122"/>
                <a:cs typeface="Calibri" pitchFamily="34" charset="-120"/>
              </a:rPr>
              <a:t>→</a:t>
            </a:r>
            <a:endParaRPr lang="en-US" sz="1400" dirty="0"/>
          </a:p>
        </p:txBody>
      </p:sp>
      <p:sp>
        <p:nvSpPr>
          <p:cNvPr id="35" name="Shape 33"/>
          <p:cNvSpPr/>
          <p:nvPr/>
        </p:nvSpPr>
        <p:spPr>
          <a:xfrm>
            <a:off x="7025520" y="1828800"/>
            <a:ext cx="1417320" cy="777240"/>
          </a:xfrm>
          <a:prstGeom prst="rect">
            <a:avLst/>
          </a:prstGeom>
          <a:solidFill>
            <a:srgbClr val="1B2558"/>
          </a:solidFill>
          <a:ln/>
          <a:effectLst>
            <a:outerShdw blurRad="50800" dist="25400" dir="8100000" algn="bl" rotWithShape="0">
              <a:srgbClr val="000000">
                <a:alpha val="10000"/>
              </a:srgbClr>
            </a:outerShdw>
          </a:effectLst>
        </p:spPr>
      </p:sp>
      <p:sp>
        <p:nvSpPr>
          <p:cNvPr id="36" name="Text 34"/>
          <p:cNvSpPr/>
          <p:nvPr/>
        </p:nvSpPr>
        <p:spPr>
          <a:xfrm>
            <a:off x="7025520" y="1856232"/>
            <a:ext cx="1417320" cy="27432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37" name="Text 35"/>
          <p:cNvSpPr/>
          <p:nvPr/>
        </p:nvSpPr>
        <p:spPr>
          <a:xfrm>
            <a:off x="7025520" y="2103120"/>
            <a:ext cx="1417320" cy="4572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TÌM</a:t>
            </a:r>
            <a:endParaRPr lang="en-US" sz="1600" dirty="0"/>
          </a:p>
        </p:txBody>
      </p:sp>
      <p:sp>
        <p:nvSpPr>
          <p:cNvPr id="38" name="Shape 36"/>
          <p:cNvSpPr/>
          <p:nvPr/>
        </p:nvSpPr>
        <p:spPr>
          <a:xfrm>
            <a:off x="7025520" y="2606040"/>
            <a:ext cx="1417320" cy="1600200"/>
          </a:xfrm>
          <a:prstGeom prst="rect">
            <a:avLst/>
          </a:prstGeom>
          <a:solidFill>
            <a:srgbClr val="F5F6FA"/>
          </a:solidFill>
          <a:ln/>
          <a:effectLst>
            <a:outerShdw blurRad="38100" dist="12700" dir="8100000" algn="bl" rotWithShape="0">
              <a:srgbClr val="000000">
                <a:alpha val="8000"/>
              </a:srgbClr>
            </a:outerShdw>
          </a:effectLst>
        </p:spPr>
      </p:sp>
      <p:sp>
        <p:nvSpPr>
          <p:cNvPr id="39" name="Text 37"/>
          <p:cNvSpPr/>
          <p:nvPr/>
        </p:nvSpPr>
        <p:spPr>
          <a:xfrm>
            <a:off x="7116960" y="2743200"/>
            <a:ext cx="1234440" cy="1371600"/>
          </a:xfrm>
          <a:prstGeom prst="rect">
            <a:avLst/>
          </a:prstGeom>
          <a:noFill/>
          <a:ln/>
        </p:spPr>
        <p:txBody>
          <a:bodyPr wrap="square" rtlCol="0" anchor="ctr"/>
          <a:lstStyle/>
          <a:p>
            <a:pPr marL="0" indent="0" algn="ctr">
              <a:lnSpc>
                <a:spcPct val="130000"/>
              </a:lnSpc>
              <a:buNone/>
            </a:pPr>
            <a:r>
              <a:rPr lang="en-US" sz="1400" dirty="0">
                <a:solidFill>
                  <a:srgbClr val="212121"/>
                </a:solidFill>
                <a:latin typeface="Consolas" pitchFamily="34" charset="0"/>
                <a:ea typeface="Consolas" pitchFamily="34" charset="-122"/>
                <a:cs typeface="Consolas" pitchFamily="34" charset="-120"/>
              </a:rPr>
              <a:t>strchr()</a:t>
            </a:r>
            <a:endParaRPr lang="en-US" sz="1400" dirty="0"/>
          </a:p>
          <a:p>
            <a:pPr marL="0" indent="0" algn="ctr">
              <a:lnSpc>
                <a:spcPct val="130000"/>
              </a:lnSpc>
              <a:buNone/>
            </a:pPr>
            <a:r>
              <a:rPr lang="en-US" sz="1400" dirty="0">
                <a:solidFill>
                  <a:srgbClr val="212121"/>
                </a:solidFill>
                <a:latin typeface="Consolas" pitchFamily="34" charset="0"/>
                <a:ea typeface="Consolas" pitchFamily="34" charset="-122"/>
                <a:cs typeface="Consolas" pitchFamily="34" charset="-120"/>
              </a:rPr>
              <a:t>strstr()</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IV: THƯ VIỆN STRING.H</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15</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Đo Và So — Hai Thao Tác Cơ Bản Nhất</a:t>
            </a:r>
            <a:endParaRPr lang="en-US" sz="2200" dirty="0"/>
          </a:p>
        </p:txBody>
      </p:sp>
      <p:sp>
        <p:nvSpPr>
          <p:cNvPr id="9" name="Shape 7"/>
          <p:cNvSpPr/>
          <p:nvPr/>
        </p:nvSpPr>
        <p:spPr>
          <a:xfrm>
            <a:off x="457200" y="1234440"/>
            <a:ext cx="3931920" cy="1371600"/>
          </a:xfrm>
          <a:prstGeom prst="rect">
            <a:avLst/>
          </a:prstGeom>
          <a:solidFill>
            <a:srgbClr val="E3F2FD"/>
          </a:solidFill>
          <a:ln/>
          <a:effectLst>
            <a:outerShdw blurRad="50800" dist="25400" dir="8100000" algn="bl" rotWithShape="0">
              <a:srgbClr val="000000">
                <a:alpha val="10000"/>
              </a:srgbClr>
            </a:outerShdw>
          </a:effectLst>
        </p:spPr>
      </p:sp>
      <p:sp>
        <p:nvSpPr>
          <p:cNvPr id="10" name="Shape 8"/>
          <p:cNvSpPr/>
          <p:nvPr/>
        </p:nvSpPr>
        <p:spPr>
          <a:xfrm>
            <a:off x="457200" y="1234440"/>
            <a:ext cx="54864" cy="1371600"/>
          </a:xfrm>
          <a:prstGeom prst="rect">
            <a:avLst/>
          </a:prstGeom>
          <a:solidFill>
            <a:srgbClr val="1565C0"/>
          </a:solidFill>
          <a:ln/>
        </p:spPr>
      </p:sp>
      <p:sp>
        <p:nvSpPr>
          <p:cNvPr id="11" name="Text 9"/>
          <p:cNvSpPr/>
          <p:nvPr/>
        </p:nvSpPr>
        <p:spPr>
          <a:xfrm>
            <a:off x="658368" y="1344168"/>
            <a:ext cx="3566160" cy="365760"/>
          </a:xfrm>
          <a:prstGeom prst="rect">
            <a:avLst/>
          </a:prstGeom>
          <a:noFill/>
          <a:ln/>
        </p:spPr>
        <p:txBody>
          <a:bodyPr wrap="square" rtlCol="0" anchor="ctr"/>
          <a:lstStyle/>
          <a:p>
            <a:pPr marL="0" indent="0">
              <a:buNone/>
            </a:pPr>
            <a:r>
              <a:rPr lang="en-US" sz="1300" b="1" dirty="0">
                <a:solidFill>
                  <a:srgbClr val="1565C0"/>
                </a:solidFill>
                <a:latin typeface="Georgia" pitchFamily="34" charset="0"/>
                <a:ea typeface="Georgia" pitchFamily="34" charset="-122"/>
                <a:cs typeface="Georgia" pitchFamily="34" charset="-120"/>
              </a:rPr>
              <a:t>strlen(str)</a:t>
            </a:r>
            <a:endParaRPr lang="en-US" sz="1300" dirty="0"/>
          </a:p>
        </p:txBody>
      </p:sp>
      <p:sp>
        <p:nvSpPr>
          <p:cNvPr id="12" name="Text 10"/>
          <p:cNvSpPr/>
          <p:nvPr/>
        </p:nvSpPr>
        <p:spPr>
          <a:xfrm>
            <a:off x="658368" y="1737360"/>
            <a:ext cx="3566160" cy="731520"/>
          </a:xfrm>
          <a:prstGeom prst="rect">
            <a:avLst/>
          </a:prstGeom>
          <a:noFill/>
          <a:ln/>
        </p:spPr>
        <p:txBody>
          <a:bodyPr wrap="square" rtlCol="0" anchor="ctr"/>
          <a:lstStyle/>
          <a:p>
            <a:pPr marL="0" indent="0">
              <a:lnSpc>
                <a:spcPct val="125000"/>
              </a:lnSpc>
              <a:buNone/>
            </a:pPr>
            <a:r>
              <a:rPr lang="en-US" sz="1100" dirty="0">
                <a:solidFill>
                  <a:srgbClr val="212121"/>
                </a:solidFill>
                <a:latin typeface="Calibri" pitchFamily="34" charset="0"/>
                <a:ea typeface="Calibri" pitchFamily="34" charset="-122"/>
                <a:cs typeface="Calibri" pitchFamily="34" charset="-120"/>
              </a:rPr>
              <a:t>Trả về số ký tự (không tính '\0')</a:t>
            </a:r>
            <a:endParaRPr lang="en-US" sz="1100" dirty="0"/>
          </a:p>
          <a:p>
            <a:pPr marL="0" indent="0">
              <a:lnSpc>
                <a:spcPct val="125000"/>
              </a:lnSpc>
              <a:buNone/>
            </a:pPr>
            <a:r>
              <a:rPr lang="en-US" sz="1100" dirty="0">
                <a:solidFill>
                  <a:srgbClr val="212121"/>
                </a:solidFill>
                <a:latin typeface="Calibri" pitchFamily="34" charset="0"/>
                <a:ea typeface="Calibri" pitchFamily="34" charset="-122"/>
                <a:cs typeface="Calibri" pitchFamily="34" charset="-120"/>
              </a:rPr>
              <a:t>VD: strlen("Hello") = 5</a:t>
            </a:r>
            <a:endParaRPr lang="en-US" sz="1100" dirty="0"/>
          </a:p>
          <a:p>
            <a:pPr marL="0" indent="0">
              <a:lnSpc>
                <a:spcPct val="125000"/>
              </a:lnSpc>
              <a:buNone/>
            </a:pPr>
            <a:endParaRPr lang="en-US" sz="1100" dirty="0"/>
          </a:p>
          <a:p>
            <a:pPr marL="0" indent="0">
              <a:lnSpc>
                <a:spcPct val="125000"/>
              </a:lnSpc>
              <a:buNone/>
            </a:pPr>
            <a:r>
              <a:rPr lang="en-US" sz="1100" dirty="0">
                <a:solidFill>
                  <a:srgbClr val="212121"/>
                </a:solidFill>
                <a:latin typeface="Calibri" pitchFamily="34" charset="0"/>
                <a:ea typeface="Calibri" pitchFamily="34" charset="-122"/>
                <a:cs typeface="Calibri" pitchFamily="34" charset="-120"/>
              </a:rPr>
              <a:t>Cần: #include &lt;string.h&gt;</a:t>
            </a:r>
            <a:endParaRPr lang="en-US" sz="1100" dirty="0"/>
          </a:p>
        </p:txBody>
      </p:sp>
      <p:sp>
        <p:nvSpPr>
          <p:cNvPr id="13" name="Shape 11"/>
          <p:cNvSpPr/>
          <p:nvPr/>
        </p:nvSpPr>
        <p:spPr>
          <a:xfrm>
            <a:off x="4754880" y="1234440"/>
            <a:ext cx="3931920" cy="1371600"/>
          </a:xfrm>
          <a:prstGeom prst="rect">
            <a:avLst/>
          </a:prstGeom>
          <a:solidFill>
            <a:srgbClr val="E8F5E9"/>
          </a:solidFill>
          <a:ln/>
          <a:effectLst>
            <a:outerShdw blurRad="50800" dist="25400" dir="8100000" algn="bl" rotWithShape="0">
              <a:srgbClr val="000000">
                <a:alpha val="10000"/>
              </a:srgbClr>
            </a:outerShdw>
          </a:effectLst>
        </p:spPr>
      </p:sp>
      <p:sp>
        <p:nvSpPr>
          <p:cNvPr id="14" name="Shape 12"/>
          <p:cNvSpPr/>
          <p:nvPr/>
        </p:nvSpPr>
        <p:spPr>
          <a:xfrm>
            <a:off x="4754880" y="1234440"/>
            <a:ext cx="54864" cy="1371600"/>
          </a:xfrm>
          <a:prstGeom prst="rect">
            <a:avLst/>
          </a:prstGeom>
          <a:solidFill>
            <a:srgbClr val="2E7D32"/>
          </a:solidFill>
          <a:ln/>
        </p:spPr>
      </p:sp>
      <p:sp>
        <p:nvSpPr>
          <p:cNvPr id="15" name="Text 13"/>
          <p:cNvSpPr/>
          <p:nvPr/>
        </p:nvSpPr>
        <p:spPr>
          <a:xfrm>
            <a:off x="4956048" y="1344168"/>
            <a:ext cx="3566160" cy="365760"/>
          </a:xfrm>
          <a:prstGeom prst="rect">
            <a:avLst/>
          </a:prstGeom>
          <a:noFill/>
          <a:ln/>
        </p:spPr>
        <p:txBody>
          <a:bodyPr wrap="square" rtlCol="0" anchor="ctr"/>
          <a:lstStyle/>
          <a:p>
            <a:pPr marL="0" indent="0">
              <a:buNone/>
            </a:pPr>
            <a:r>
              <a:rPr lang="en-US" sz="1300" b="1" dirty="0">
                <a:solidFill>
                  <a:srgbClr val="2E7D32"/>
                </a:solidFill>
                <a:latin typeface="Georgia" pitchFamily="34" charset="0"/>
                <a:ea typeface="Georgia" pitchFamily="34" charset="-122"/>
                <a:cs typeface="Georgia" pitchFamily="34" charset="-120"/>
              </a:rPr>
              <a:t>strcmp(str1, str2)</a:t>
            </a:r>
            <a:endParaRPr lang="en-US" sz="1300" dirty="0"/>
          </a:p>
        </p:txBody>
      </p:sp>
      <p:sp>
        <p:nvSpPr>
          <p:cNvPr id="16" name="Text 14"/>
          <p:cNvSpPr/>
          <p:nvPr/>
        </p:nvSpPr>
        <p:spPr>
          <a:xfrm>
            <a:off x="4956048" y="1737360"/>
            <a:ext cx="3566160" cy="731520"/>
          </a:xfrm>
          <a:prstGeom prst="rect">
            <a:avLst/>
          </a:prstGeom>
          <a:noFill/>
          <a:ln/>
        </p:spPr>
        <p:txBody>
          <a:bodyPr wrap="square" rtlCol="0" anchor="ctr"/>
          <a:lstStyle/>
          <a:p>
            <a:pPr marL="0" indent="0">
              <a:lnSpc>
                <a:spcPct val="125000"/>
              </a:lnSpc>
              <a:buNone/>
            </a:pPr>
            <a:r>
              <a:rPr lang="en-US" sz="1100" dirty="0">
                <a:solidFill>
                  <a:srgbClr val="212121"/>
                </a:solidFill>
                <a:latin typeface="Calibri" pitchFamily="34" charset="0"/>
                <a:ea typeface="Calibri" pitchFamily="34" charset="-122"/>
                <a:cs typeface="Calibri" pitchFamily="34" charset="-120"/>
              </a:rPr>
              <a:t>Trả về 0 → giống nhau</a:t>
            </a:r>
            <a:endParaRPr lang="en-US" sz="1100" dirty="0"/>
          </a:p>
          <a:p>
            <a:pPr marL="0" indent="0">
              <a:lnSpc>
                <a:spcPct val="125000"/>
              </a:lnSpc>
              <a:buNone/>
            </a:pPr>
            <a:r>
              <a:rPr lang="en-US" sz="1100" dirty="0">
                <a:solidFill>
                  <a:srgbClr val="212121"/>
                </a:solidFill>
                <a:latin typeface="Calibri" pitchFamily="34" charset="0"/>
                <a:ea typeface="Calibri" pitchFamily="34" charset="-122"/>
                <a:cs typeface="Calibri" pitchFamily="34" charset="-120"/>
              </a:rPr>
              <a:t>Trả về &lt; 0 → str1 "nhỏ hơn" str2</a:t>
            </a:r>
            <a:endParaRPr lang="en-US" sz="1100" dirty="0"/>
          </a:p>
          <a:p>
            <a:pPr marL="0" indent="0">
              <a:lnSpc>
                <a:spcPct val="125000"/>
              </a:lnSpc>
              <a:buNone/>
            </a:pPr>
            <a:r>
              <a:rPr lang="en-US" sz="1100" dirty="0">
                <a:solidFill>
                  <a:srgbClr val="212121"/>
                </a:solidFill>
                <a:latin typeface="Calibri" pitchFamily="34" charset="0"/>
                <a:ea typeface="Calibri" pitchFamily="34" charset="-122"/>
                <a:cs typeface="Calibri" pitchFamily="34" charset="-120"/>
              </a:rPr>
              <a:t>Trả về &gt; 0 → str1 "lớn hơn" str2</a:t>
            </a:r>
            <a:endParaRPr lang="en-US" sz="1100" dirty="0"/>
          </a:p>
        </p:txBody>
      </p:sp>
      <p:sp>
        <p:nvSpPr>
          <p:cNvPr id="17" name="Shape 15"/>
          <p:cNvSpPr/>
          <p:nvPr/>
        </p:nvSpPr>
        <p:spPr>
          <a:xfrm>
            <a:off x="457200" y="2788920"/>
            <a:ext cx="8229600" cy="384048"/>
          </a:xfrm>
          <a:prstGeom prst="rect">
            <a:avLst/>
          </a:prstGeom>
          <a:solidFill>
            <a:srgbClr val="F5F6FA"/>
          </a:solidFill>
          <a:ln/>
          <a:effectLst>
            <a:outerShdw blurRad="38100" dist="12700" dir="8100000" algn="bl" rotWithShape="0">
              <a:srgbClr val="000000">
                <a:alpha val="8000"/>
              </a:srgbClr>
            </a:outerShdw>
          </a:effectLst>
        </p:spPr>
      </p:sp>
      <p:sp>
        <p:nvSpPr>
          <p:cNvPr id="18" name="Shape 16"/>
          <p:cNvSpPr/>
          <p:nvPr/>
        </p:nvSpPr>
        <p:spPr>
          <a:xfrm>
            <a:off x="457200" y="2788920"/>
            <a:ext cx="54864" cy="384048"/>
          </a:xfrm>
          <a:prstGeom prst="rect">
            <a:avLst/>
          </a:prstGeom>
          <a:solidFill>
            <a:srgbClr val="2E7D32"/>
          </a:solidFill>
          <a:ln/>
        </p:spPr>
      </p:sp>
      <p:sp>
        <p:nvSpPr>
          <p:cNvPr id="19" name="Text 17"/>
          <p:cNvSpPr/>
          <p:nvPr/>
        </p:nvSpPr>
        <p:spPr>
          <a:xfrm>
            <a:off x="640080" y="2807208"/>
            <a:ext cx="2926080" cy="347472"/>
          </a:xfrm>
          <a:prstGeom prst="rect">
            <a:avLst/>
          </a:prstGeom>
          <a:noFill/>
          <a:ln/>
        </p:spPr>
        <p:txBody>
          <a:bodyPr wrap="square" rtlCol="0" anchor="ctr"/>
          <a:lstStyle/>
          <a:p>
            <a:pPr marL="0" indent="0">
              <a:buNone/>
            </a:pPr>
            <a:r>
              <a:rPr lang="en-US" sz="1000" b="1" dirty="0">
                <a:solidFill>
                  <a:srgbClr val="2E7D32"/>
                </a:solidFill>
                <a:latin typeface="Consolas" pitchFamily="34" charset="0"/>
                <a:ea typeface="Consolas" pitchFamily="34" charset="-122"/>
                <a:cs typeface="Consolas" pitchFamily="34" charset="-120"/>
              </a:rPr>
              <a:t>stricmp(s1, s2)</a:t>
            </a:r>
            <a:endParaRPr lang="en-US" sz="1000" dirty="0"/>
          </a:p>
        </p:txBody>
      </p:sp>
      <p:sp>
        <p:nvSpPr>
          <p:cNvPr id="20" name="Text 18"/>
          <p:cNvSpPr/>
          <p:nvPr/>
        </p:nvSpPr>
        <p:spPr>
          <a:xfrm>
            <a:off x="3657600" y="2807208"/>
            <a:ext cx="4846320" cy="34747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So sánh KHÔNG phân biệt hoa/thường</a:t>
            </a:r>
            <a:endParaRPr lang="en-US" sz="1100" dirty="0"/>
          </a:p>
        </p:txBody>
      </p:sp>
      <p:sp>
        <p:nvSpPr>
          <p:cNvPr id="21" name="Shape 19"/>
          <p:cNvSpPr/>
          <p:nvPr/>
        </p:nvSpPr>
        <p:spPr>
          <a:xfrm>
            <a:off x="457200" y="3246120"/>
            <a:ext cx="8229600" cy="384048"/>
          </a:xfrm>
          <a:prstGeom prst="rect">
            <a:avLst/>
          </a:prstGeom>
          <a:solidFill>
            <a:srgbClr val="F5F6FA"/>
          </a:solidFill>
          <a:ln/>
          <a:effectLst>
            <a:outerShdw blurRad="38100" dist="12700" dir="8100000" algn="bl" rotWithShape="0">
              <a:srgbClr val="000000">
                <a:alpha val="8000"/>
              </a:srgbClr>
            </a:outerShdw>
          </a:effectLst>
        </p:spPr>
      </p:sp>
      <p:sp>
        <p:nvSpPr>
          <p:cNvPr id="22" name="Shape 20"/>
          <p:cNvSpPr/>
          <p:nvPr/>
        </p:nvSpPr>
        <p:spPr>
          <a:xfrm>
            <a:off x="457200" y="3246120"/>
            <a:ext cx="54864" cy="384048"/>
          </a:xfrm>
          <a:prstGeom prst="rect">
            <a:avLst/>
          </a:prstGeom>
          <a:solidFill>
            <a:srgbClr val="1565C0"/>
          </a:solidFill>
          <a:ln/>
        </p:spPr>
      </p:sp>
      <p:sp>
        <p:nvSpPr>
          <p:cNvPr id="23" name="Text 21"/>
          <p:cNvSpPr/>
          <p:nvPr/>
        </p:nvSpPr>
        <p:spPr>
          <a:xfrm>
            <a:off x="640080" y="3264408"/>
            <a:ext cx="2926080" cy="347472"/>
          </a:xfrm>
          <a:prstGeom prst="rect">
            <a:avLst/>
          </a:prstGeom>
          <a:noFill/>
          <a:ln/>
        </p:spPr>
        <p:txBody>
          <a:bodyPr wrap="square" rtlCol="0" anchor="ctr"/>
          <a:lstStyle/>
          <a:p>
            <a:pPr marL="0" indent="0">
              <a:buNone/>
            </a:pPr>
            <a:r>
              <a:rPr lang="en-US" sz="1000" b="1" dirty="0">
                <a:solidFill>
                  <a:srgbClr val="1565C0"/>
                </a:solidFill>
                <a:latin typeface="Consolas" pitchFamily="34" charset="0"/>
                <a:ea typeface="Consolas" pitchFamily="34" charset="-122"/>
                <a:cs typeface="Consolas" pitchFamily="34" charset="-120"/>
              </a:rPr>
              <a:t>strncmp(s1, s2, n)</a:t>
            </a:r>
            <a:endParaRPr lang="en-US" sz="1000" dirty="0"/>
          </a:p>
        </p:txBody>
      </p:sp>
      <p:sp>
        <p:nvSpPr>
          <p:cNvPr id="24" name="Text 22"/>
          <p:cNvSpPr/>
          <p:nvPr/>
        </p:nvSpPr>
        <p:spPr>
          <a:xfrm>
            <a:off x="3657600" y="3264408"/>
            <a:ext cx="4846320" cy="34747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Chỉ so sánh n ký tự đầu tiên</a:t>
            </a:r>
            <a:endParaRPr lang="en-US" sz="1100" dirty="0"/>
          </a:p>
        </p:txBody>
      </p:sp>
      <p:sp>
        <p:nvSpPr>
          <p:cNvPr id="25" name="Shape 23"/>
          <p:cNvSpPr/>
          <p:nvPr/>
        </p:nvSpPr>
        <p:spPr>
          <a:xfrm>
            <a:off x="457200" y="3840480"/>
            <a:ext cx="8229600" cy="502920"/>
          </a:xfrm>
          <a:prstGeom prst="rect">
            <a:avLst/>
          </a:prstGeom>
          <a:solidFill>
            <a:srgbClr val="FFEBEE"/>
          </a:solidFill>
          <a:ln/>
          <a:effectLst>
            <a:outerShdw blurRad="50800" dist="25400" dir="8100000" algn="bl" rotWithShape="0">
              <a:srgbClr val="000000">
                <a:alpha val="10000"/>
              </a:srgbClr>
            </a:outerShdw>
          </a:effectLst>
        </p:spPr>
      </p:sp>
      <p:sp>
        <p:nvSpPr>
          <p:cNvPr id="26" name="Shape 24"/>
          <p:cNvSpPr/>
          <p:nvPr/>
        </p:nvSpPr>
        <p:spPr>
          <a:xfrm>
            <a:off x="457200" y="3840480"/>
            <a:ext cx="8229600" cy="54864"/>
          </a:xfrm>
          <a:prstGeom prst="rect">
            <a:avLst/>
          </a:prstGeom>
          <a:solidFill>
            <a:srgbClr val="C62828"/>
          </a:solidFill>
          <a:ln/>
        </p:spPr>
      </p:sp>
      <p:sp>
        <p:nvSpPr>
          <p:cNvPr id="27" name="Text 25"/>
          <p:cNvSpPr/>
          <p:nvPr/>
        </p:nvSpPr>
        <p:spPr>
          <a:xfrm>
            <a:off x="640080" y="3931920"/>
            <a:ext cx="7863840" cy="365760"/>
          </a:xfrm>
          <a:prstGeom prst="rect">
            <a:avLst/>
          </a:prstGeom>
          <a:noFill/>
          <a:ln/>
        </p:spPr>
        <p:txBody>
          <a:bodyPr wrap="square" rtlCol="0" anchor="ctr"/>
          <a:lstStyle/>
          <a:p>
            <a:pPr marL="0" indent="0" algn="ctr">
              <a:buNone/>
            </a:pPr>
            <a:r>
              <a:rPr lang="en-US" sz="1200" b="1" dirty="0">
                <a:solidFill>
                  <a:srgbClr val="C62828"/>
                </a:solidFill>
                <a:latin typeface="Calibri" pitchFamily="34" charset="0"/>
                <a:ea typeface="Calibri" pitchFamily="34" charset="-122"/>
                <a:cs typeface="Calibri" pitchFamily="34" charset="-120"/>
              </a:rPr>
              <a:t>CẢNH BÁO: Không dùng == để so sánh chuỗi!  (== so sánh địa chỉ, KHÔNG phải nội dung)</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IV: THƯ VIỆN STRING.H</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16</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Nối &amp; Chép — Biến Đổi Chuỗi</a:t>
            </a:r>
            <a:endParaRPr lang="en-US" sz="2200" dirty="0"/>
          </a:p>
        </p:txBody>
      </p:sp>
      <p:sp>
        <p:nvSpPr>
          <p:cNvPr id="9" name="Shape 7"/>
          <p:cNvSpPr/>
          <p:nvPr/>
        </p:nvSpPr>
        <p:spPr>
          <a:xfrm>
            <a:off x="457200" y="1234440"/>
            <a:ext cx="3931920" cy="3383280"/>
          </a:xfrm>
          <a:prstGeom prst="rect">
            <a:avLst/>
          </a:prstGeom>
          <a:solidFill>
            <a:srgbClr val="FFF3E0"/>
          </a:solidFill>
          <a:ln/>
          <a:effectLst>
            <a:outerShdw blurRad="50800" dist="25400" dir="8100000" algn="bl" rotWithShape="0">
              <a:srgbClr val="000000">
                <a:alpha val="10000"/>
              </a:srgbClr>
            </a:outerShdw>
          </a:effectLst>
        </p:spPr>
      </p:sp>
      <p:sp>
        <p:nvSpPr>
          <p:cNvPr id="10" name="Shape 8"/>
          <p:cNvSpPr/>
          <p:nvPr/>
        </p:nvSpPr>
        <p:spPr>
          <a:xfrm>
            <a:off x="457200" y="1234440"/>
            <a:ext cx="54864" cy="3383280"/>
          </a:xfrm>
          <a:prstGeom prst="rect">
            <a:avLst/>
          </a:prstGeom>
          <a:solidFill>
            <a:srgbClr val="E65100"/>
          </a:solidFill>
          <a:ln/>
        </p:spPr>
      </p:sp>
      <p:sp>
        <p:nvSpPr>
          <p:cNvPr id="11" name="Text 9"/>
          <p:cNvSpPr/>
          <p:nvPr/>
        </p:nvSpPr>
        <p:spPr>
          <a:xfrm>
            <a:off x="658368" y="1344168"/>
            <a:ext cx="3566160" cy="365760"/>
          </a:xfrm>
          <a:prstGeom prst="rect">
            <a:avLst/>
          </a:prstGeom>
          <a:noFill/>
          <a:ln/>
        </p:spPr>
        <p:txBody>
          <a:bodyPr wrap="square" rtlCol="0" anchor="ctr"/>
          <a:lstStyle/>
          <a:p>
            <a:pPr marL="0" indent="0">
              <a:buNone/>
            </a:pPr>
            <a:r>
              <a:rPr lang="en-US" sz="1300" b="1" dirty="0">
                <a:solidFill>
                  <a:srgbClr val="E65100"/>
                </a:solidFill>
                <a:latin typeface="Georgia" pitchFamily="34" charset="0"/>
                <a:ea typeface="Georgia" pitchFamily="34" charset="-122"/>
                <a:cs typeface="Georgia" pitchFamily="34" charset="-120"/>
              </a:rPr>
              <a:t>GHÉP NỐI CHUỖI</a:t>
            </a:r>
            <a:endParaRPr lang="en-US" sz="1300" dirty="0"/>
          </a:p>
        </p:txBody>
      </p:sp>
      <p:sp>
        <p:nvSpPr>
          <p:cNvPr id="12" name="Text 10"/>
          <p:cNvSpPr/>
          <p:nvPr/>
        </p:nvSpPr>
        <p:spPr>
          <a:xfrm>
            <a:off x="658368" y="1737360"/>
            <a:ext cx="3566160" cy="2743200"/>
          </a:xfrm>
          <a:prstGeom prst="rect">
            <a:avLst/>
          </a:prstGeom>
          <a:noFill/>
          <a:ln/>
        </p:spPr>
        <p:txBody>
          <a:bodyPr wrap="square" rtlCol="0" anchor="ctr"/>
          <a:lstStyle/>
          <a:p>
            <a:pPr marL="0" indent="0">
              <a:lnSpc>
                <a:spcPct val="125000"/>
              </a:lnSpc>
              <a:buNone/>
            </a:pPr>
            <a:r>
              <a:rPr lang="en-US" sz="1600" dirty="0">
                <a:solidFill>
                  <a:srgbClr val="212121"/>
                </a:solidFill>
                <a:latin typeface="Calibri" pitchFamily="34" charset="0"/>
                <a:ea typeface="Calibri" pitchFamily="34" charset="-122"/>
                <a:cs typeface="Calibri" pitchFamily="34" charset="-120"/>
              </a:rPr>
              <a:t>strcat(str1, str2)</a:t>
            </a:r>
            <a:endParaRPr lang="en-US" sz="1600" dirty="0"/>
          </a:p>
          <a:p>
            <a:pPr marL="0" indent="0">
              <a:lnSpc>
                <a:spcPct val="125000"/>
              </a:lnSpc>
              <a:buNone/>
            </a:pPr>
            <a:r>
              <a:rPr lang="en-US" sz="1600" dirty="0">
                <a:solidFill>
                  <a:srgbClr val="212121"/>
                </a:solidFill>
                <a:latin typeface="Calibri" pitchFamily="34" charset="0"/>
                <a:ea typeface="Calibri" pitchFamily="34" charset="-122"/>
                <a:cs typeface="Calibri" pitchFamily="34" charset="-120"/>
              </a:rPr>
              <a:t>Nối str2 vào cuối str1</a:t>
            </a:r>
            <a:endParaRPr lang="en-US" sz="1600" dirty="0"/>
          </a:p>
          <a:p>
            <a:pPr marL="0" indent="0">
              <a:lnSpc>
                <a:spcPct val="125000"/>
              </a:lnSpc>
              <a:buNone/>
            </a:pPr>
            <a:r>
              <a:rPr lang="en-US" sz="1600" dirty="0">
                <a:solidFill>
                  <a:srgbClr val="212121"/>
                </a:solidFill>
                <a:latin typeface="Calibri" pitchFamily="34" charset="0"/>
                <a:ea typeface="Calibri" pitchFamily="34" charset="-122"/>
                <a:cs typeface="Calibri" pitchFamily="34" charset="-120"/>
              </a:rPr>
              <a:t>str1 phải đủ chỗ chứa!</a:t>
            </a:r>
            <a:endParaRPr lang="en-US" sz="1600" dirty="0"/>
          </a:p>
          <a:p>
            <a:pPr marL="0" indent="0">
              <a:lnSpc>
                <a:spcPct val="125000"/>
              </a:lnSpc>
              <a:buNone/>
            </a:pPr>
            <a:endParaRPr lang="en-US" sz="1600" dirty="0"/>
          </a:p>
          <a:p>
            <a:pPr marL="0" indent="0">
              <a:lnSpc>
                <a:spcPct val="125000"/>
              </a:lnSpc>
              <a:buNone/>
            </a:pPr>
            <a:r>
              <a:rPr lang="en-US" sz="1600" dirty="0">
                <a:solidFill>
                  <a:srgbClr val="212121"/>
                </a:solidFill>
                <a:latin typeface="Calibri" pitchFamily="34" charset="0"/>
                <a:ea typeface="Calibri" pitchFamily="34" charset="-122"/>
                <a:cs typeface="Calibri" pitchFamily="34" charset="-120"/>
              </a:rPr>
              <a:t>strncat(str1, str2, n)</a:t>
            </a:r>
            <a:endParaRPr lang="en-US" sz="1600" dirty="0"/>
          </a:p>
          <a:p>
            <a:pPr marL="0" indent="0">
              <a:lnSpc>
                <a:spcPct val="125000"/>
              </a:lnSpc>
              <a:buNone/>
            </a:pPr>
            <a:r>
              <a:rPr lang="en-US" sz="1600" dirty="0">
                <a:solidFill>
                  <a:srgbClr val="212121"/>
                </a:solidFill>
                <a:latin typeface="Calibri" pitchFamily="34" charset="0"/>
                <a:ea typeface="Calibri" pitchFamily="34" charset="-122"/>
                <a:cs typeface="Calibri" pitchFamily="34" charset="-120"/>
              </a:rPr>
              <a:t>Chỉ nối n ký tự đầu của str2</a:t>
            </a:r>
            <a:endParaRPr lang="en-US" sz="1600" dirty="0"/>
          </a:p>
          <a:p>
            <a:pPr marL="0" indent="0">
              <a:lnSpc>
                <a:spcPct val="125000"/>
              </a:lnSpc>
              <a:buNone/>
            </a:pPr>
            <a:endParaRPr lang="en-US" sz="1600" dirty="0"/>
          </a:p>
          <a:p>
            <a:pPr marL="0" indent="0">
              <a:lnSpc>
                <a:spcPct val="125000"/>
              </a:lnSpc>
              <a:buNone/>
            </a:pPr>
            <a:r>
              <a:rPr lang="en-US" sz="1600" dirty="0">
                <a:solidFill>
                  <a:srgbClr val="212121"/>
                </a:solidFill>
                <a:latin typeface="Calibri" pitchFamily="34" charset="0"/>
                <a:ea typeface="Calibri" pitchFamily="34" charset="-122"/>
                <a:cs typeface="Calibri" pitchFamily="34" charset="-120"/>
              </a:rPr>
              <a:t>Quy tắc: đích trước, nguồn sau</a:t>
            </a:r>
            <a:endParaRPr lang="en-US" sz="1600" dirty="0"/>
          </a:p>
        </p:txBody>
      </p:sp>
      <p:sp>
        <p:nvSpPr>
          <p:cNvPr id="13" name="Shape 11"/>
          <p:cNvSpPr/>
          <p:nvPr/>
        </p:nvSpPr>
        <p:spPr>
          <a:xfrm>
            <a:off x="4754880" y="1234440"/>
            <a:ext cx="3931920" cy="3383280"/>
          </a:xfrm>
          <a:prstGeom prst="rect">
            <a:avLst/>
          </a:prstGeom>
          <a:solidFill>
            <a:srgbClr val="E3F2FD"/>
          </a:solidFill>
          <a:ln/>
          <a:effectLst>
            <a:outerShdw blurRad="50800" dist="25400" dir="8100000" algn="bl" rotWithShape="0">
              <a:srgbClr val="000000">
                <a:alpha val="10000"/>
              </a:srgbClr>
            </a:outerShdw>
          </a:effectLst>
        </p:spPr>
      </p:sp>
      <p:sp>
        <p:nvSpPr>
          <p:cNvPr id="14" name="Shape 12"/>
          <p:cNvSpPr/>
          <p:nvPr/>
        </p:nvSpPr>
        <p:spPr>
          <a:xfrm>
            <a:off x="4754880" y="1234440"/>
            <a:ext cx="54864" cy="3383280"/>
          </a:xfrm>
          <a:prstGeom prst="rect">
            <a:avLst/>
          </a:prstGeom>
          <a:solidFill>
            <a:srgbClr val="1565C0"/>
          </a:solidFill>
          <a:ln/>
        </p:spPr>
      </p:sp>
      <p:sp>
        <p:nvSpPr>
          <p:cNvPr id="15" name="Text 13"/>
          <p:cNvSpPr/>
          <p:nvPr/>
        </p:nvSpPr>
        <p:spPr>
          <a:xfrm>
            <a:off x="4956048" y="1344168"/>
            <a:ext cx="3566160" cy="365760"/>
          </a:xfrm>
          <a:prstGeom prst="rect">
            <a:avLst/>
          </a:prstGeom>
          <a:noFill/>
          <a:ln/>
        </p:spPr>
        <p:txBody>
          <a:bodyPr wrap="square" rtlCol="0" anchor="ctr"/>
          <a:lstStyle/>
          <a:p>
            <a:pPr marL="0" indent="0">
              <a:buNone/>
            </a:pPr>
            <a:r>
              <a:rPr lang="en-US" sz="1300" b="1" dirty="0">
                <a:solidFill>
                  <a:srgbClr val="1565C0"/>
                </a:solidFill>
                <a:latin typeface="Georgia" pitchFamily="34" charset="0"/>
                <a:ea typeface="Georgia" pitchFamily="34" charset="-122"/>
                <a:cs typeface="Georgia" pitchFamily="34" charset="-120"/>
              </a:rPr>
              <a:t>SAO CHÉP CHUỖI</a:t>
            </a:r>
            <a:endParaRPr lang="en-US" sz="1300" dirty="0"/>
          </a:p>
        </p:txBody>
      </p:sp>
      <p:sp>
        <p:nvSpPr>
          <p:cNvPr id="16" name="Text 14"/>
          <p:cNvSpPr/>
          <p:nvPr/>
        </p:nvSpPr>
        <p:spPr>
          <a:xfrm>
            <a:off x="4956048" y="1737360"/>
            <a:ext cx="3566160" cy="2743200"/>
          </a:xfrm>
          <a:prstGeom prst="rect">
            <a:avLst/>
          </a:prstGeom>
          <a:noFill/>
          <a:ln/>
        </p:spPr>
        <p:txBody>
          <a:bodyPr wrap="square" rtlCol="0" anchor="ctr"/>
          <a:lstStyle/>
          <a:p>
            <a:pPr marL="0" indent="0">
              <a:lnSpc>
                <a:spcPct val="125000"/>
              </a:lnSpc>
              <a:buNone/>
            </a:pPr>
            <a:r>
              <a:rPr lang="en-US" sz="1600" dirty="0">
                <a:solidFill>
                  <a:srgbClr val="212121"/>
                </a:solidFill>
                <a:latin typeface="Calibri" pitchFamily="34" charset="0"/>
                <a:ea typeface="Calibri" pitchFamily="34" charset="-122"/>
                <a:cs typeface="Calibri" pitchFamily="34" charset="-120"/>
              </a:rPr>
              <a:t>strcpy(str1, str2)</a:t>
            </a:r>
            <a:endParaRPr lang="en-US" sz="1600" dirty="0"/>
          </a:p>
          <a:p>
            <a:pPr marL="0" indent="0">
              <a:lnSpc>
                <a:spcPct val="125000"/>
              </a:lnSpc>
              <a:buNone/>
            </a:pPr>
            <a:r>
              <a:rPr lang="en-US" sz="1600" dirty="0">
                <a:solidFill>
                  <a:srgbClr val="212121"/>
                </a:solidFill>
                <a:latin typeface="Calibri" pitchFamily="34" charset="0"/>
                <a:ea typeface="Calibri" pitchFamily="34" charset="-122"/>
                <a:cs typeface="Calibri" pitchFamily="34" charset="-120"/>
              </a:rPr>
              <a:t>Copy toàn bộ str2 vào str1</a:t>
            </a:r>
            <a:endParaRPr lang="en-US" sz="1600" dirty="0"/>
          </a:p>
          <a:p>
            <a:pPr marL="0" indent="0">
              <a:lnSpc>
                <a:spcPct val="125000"/>
              </a:lnSpc>
              <a:buNone/>
            </a:pPr>
            <a:r>
              <a:rPr lang="en-US" sz="1600" dirty="0">
                <a:solidFill>
                  <a:srgbClr val="212121"/>
                </a:solidFill>
                <a:latin typeface="Calibri" pitchFamily="34" charset="0"/>
                <a:ea typeface="Calibri" pitchFamily="34" charset="-122"/>
                <a:cs typeface="Calibri" pitchFamily="34" charset="-120"/>
              </a:rPr>
              <a:t>str1 bị ghi đè hoàn toàn!</a:t>
            </a:r>
            <a:endParaRPr lang="en-US" sz="1600" dirty="0"/>
          </a:p>
          <a:p>
            <a:pPr marL="0" indent="0">
              <a:lnSpc>
                <a:spcPct val="125000"/>
              </a:lnSpc>
              <a:buNone/>
            </a:pPr>
            <a:endParaRPr lang="en-US" sz="1600" dirty="0"/>
          </a:p>
          <a:p>
            <a:pPr marL="0" indent="0">
              <a:lnSpc>
                <a:spcPct val="125000"/>
              </a:lnSpc>
              <a:buNone/>
            </a:pPr>
            <a:r>
              <a:rPr lang="en-US" sz="1600" dirty="0">
                <a:solidFill>
                  <a:srgbClr val="212121"/>
                </a:solidFill>
                <a:latin typeface="Calibri" pitchFamily="34" charset="0"/>
                <a:ea typeface="Calibri" pitchFamily="34" charset="-122"/>
                <a:cs typeface="Calibri" pitchFamily="34" charset="-120"/>
              </a:rPr>
              <a:t>strdup(str)</a:t>
            </a:r>
            <a:endParaRPr lang="en-US" sz="1600" dirty="0"/>
          </a:p>
          <a:p>
            <a:pPr marL="0" indent="0">
              <a:lnSpc>
                <a:spcPct val="125000"/>
              </a:lnSpc>
              <a:buNone/>
            </a:pPr>
            <a:r>
              <a:rPr lang="en-US" sz="1600" dirty="0">
                <a:solidFill>
                  <a:srgbClr val="212121"/>
                </a:solidFill>
                <a:latin typeface="Calibri" pitchFamily="34" charset="0"/>
                <a:ea typeface="Calibri" pitchFamily="34" charset="-122"/>
                <a:cs typeface="Calibri" pitchFamily="34" charset="-120"/>
              </a:rPr>
              <a:t>Nhân bản chuỗi (tự cấp phát bộ nhớ)</a:t>
            </a:r>
            <a:endParaRPr lang="en-US" sz="1600" dirty="0"/>
          </a:p>
          <a:p>
            <a:pPr marL="0" indent="0">
              <a:lnSpc>
                <a:spcPct val="125000"/>
              </a:lnSpc>
              <a:buNone/>
            </a:pPr>
            <a:endParaRPr lang="en-US" sz="1600" dirty="0"/>
          </a:p>
          <a:p>
            <a:pPr marL="0" indent="0">
              <a:lnSpc>
                <a:spcPct val="125000"/>
              </a:lnSpc>
              <a:buNone/>
            </a:pPr>
            <a:r>
              <a:rPr lang="en-US" sz="1600" dirty="0">
                <a:solidFill>
                  <a:srgbClr val="212121"/>
                </a:solidFill>
                <a:latin typeface="Calibri" pitchFamily="34" charset="0"/>
                <a:ea typeface="Calibri" pitchFamily="34" charset="-122"/>
                <a:cs typeface="Calibri" pitchFamily="34" charset="-120"/>
              </a:rPr>
              <a:t>Luôn đảm bảo str1 đủ kích thước</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IV: THƯ VIỆN STRING.H</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17</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Tìm Kim Trong Đống "Ký Tự"</a:t>
            </a:r>
            <a:endParaRPr lang="en-US" sz="2200" dirty="0"/>
          </a:p>
        </p:txBody>
      </p:sp>
      <p:sp>
        <p:nvSpPr>
          <p:cNvPr id="9" name="Shape 7"/>
          <p:cNvSpPr/>
          <p:nvPr/>
        </p:nvSpPr>
        <p:spPr>
          <a:xfrm>
            <a:off x="457200" y="1234440"/>
            <a:ext cx="8229600" cy="960120"/>
          </a:xfrm>
          <a:prstGeom prst="rect">
            <a:avLst/>
          </a:prstGeom>
          <a:solidFill>
            <a:srgbClr val="F5F6FA"/>
          </a:solidFill>
          <a:ln/>
          <a:effectLst>
            <a:outerShdw blurRad="50800" dist="25400" dir="8100000" algn="bl" rotWithShape="0">
              <a:srgbClr val="000000">
                <a:alpha val="10000"/>
              </a:srgbClr>
            </a:outerShdw>
          </a:effectLst>
        </p:spPr>
      </p:sp>
      <p:sp>
        <p:nvSpPr>
          <p:cNvPr id="10" name="Shape 8"/>
          <p:cNvSpPr/>
          <p:nvPr/>
        </p:nvSpPr>
        <p:spPr>
          <a:xfrm>
            <a:off x="457200" y="1234440"/>
            <a:ext cx="54864" cy="960120"/>
          </a:xfrm>
          <a:prstGeom prst="rect">
            <a:avLst/>
          </a:prstGeom>
          <a:solidFill>
            <a:srgbClr val="1565C0"/>
          </a:solidFill>
          <a:ln/>
        </p:spPr>
      </p:sp>
      <p:sp>
        <p:nvSpPr>
          <p:cNvPr id="11" name="Shape 9"/>
          <p:cNvSpPr/>
          <p:nvPr/>
        </p:nvSpPr>
        <p:spPr>
          <a:xfrm>
            <a:off x="640080" y="1344168"/>
            <a:ext cx="3200400" cy="320040"/>
          </a:xfrm>
          <a:prstGeom prst="rect">
            <a:avLst/>
          </a:prstGeom>
          <a:solidFill>
            <a:srgbClr val="263238"/>
          </a:solidFill>
          <a:ln/>
        </p:spPr>
      </p:sp>
      <p:sp>
        <p:nvSpPr>
          <p:cNvPr id="12" name="Text 10"/>
          <p:cNvSpPr/>
          <p:nvPr/>
        </p:nvSpPr>
        <p:spPr>
          <a:xfrm>
            <a:off x="777240" y="1362456"/>
            <a:ext cx="2926080" cy="283464"/>
          </a:xfrm>
          <a:prstGeom prst="rect">
            <a:avLst/>
          </a:prstGeom>
          <a:noFill/>
          <a:ln/>
        </p:spPr>
        <p:txBody>
          <a:bodyPr wrap="square" rtlCol="0" anchor="ctr"/>
          <a:lstStyle/>
          <a:p>
            <a:pPr marL="0" indent="0">
              <a:buNone/>
            </a:pPr>
            <a:r>
              <a:rPr lang="en-US" sz="1100" dirty="0">
                <a:solidFill>
                  <a:srgbClr val="E0E0E0"/>
                </a:solidFill>
                <a:latin typeface="Consolas" pitchFamily="34" charset="0"/>
                <a:ea typeface="Consolas" pitchFamily="34" charset="-122"/>
                <a:cs typeface="Consolas" pitchFamily="34" charset="-120"/>
              </a:rPr>
              <a:t>strchr(str, ch)</a:t>
            </a:r>
            <a:endParaRPr lang="en-US" sz="1100" dirty="0"/>
          </a:p>
        </p:txBody>
      </p:sp>
      <p:sp>
        <p:nvSpPr>
          <p:cNvPr id="13" name="Text 11"/>
          <p:cNvSpPr/>
          <p:nvPr/>
        </p:nvSpPr>
        <p:spPr>
          <a:xfrm>
            <a:off x="4023360" y="1307592"/>
            <a:ext cx="4572000" cy="36576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Tìm ký tự ch xuất hiện ĐẦU TIÊN trong str</a:t>
            </a:r>
            <a:endParaRPr lang="en-US" sz="1100" dirty="0"/>
          </a:p>
        </p:txBody>
      </p:sp>
      <p:sp>
        <p:nvSpPr>
          <p:cNvPr id="14" name="Text 12"/>
          <p:cNvSpPr/>
          <p:nvPr/>
        </p:nvSpPr>
        <p:spPr>
          <a:xfrm>
            <a:off x="640080" y="1737360"/>
            <a:ext cx="7863840" cy="365760"/>
          </a:xfrm>
          <a:prstGeom prst="rect">
            <a:avLst/>
          </a:prstGeom>
          <a:noFill/>
          <a:ln/>
        </p:spPr>
        <p:txBody>
          <a:bodyPr wrap="square" rtlCol="0" anchor="ctr"/>
          <a:lstStyle/>
          <a:p>
            <a:pPr marL="0" indent="0">
              <a:buNone/>
            </a:pPr>
            <a:r>
              <a:rPr lang="en-US" sz="1000" i="1" dirty="0">
                <a:solidFill>
                  <a:srgbClr val="424242"/>
                </a:solidFill>
                <a:latin typeface="Calibri" pitchFamily="34" charset="0"/>
                <a:ea typeface="Calibri" pitchFamily="34" charset="-122"/>
                <a:cs typeface="Calibri" pitchFamily="34" charset="-120"/>
              </a:rPr>
              <a:t>VD: strchr(email, '@')  → kiểm tra email hợp lệ</a:t>
            </a:r>
            <a:endParaRPr lang="en-US" sz="1000" dirty="0"/>
          </a:p>
        </p:txBody>
      </p:sp>
      <p:sp>
        <p:nvSpPr>
          <p:cNvPr id="15" name="Shape 13"/>
          <p:cNvSpPr/>
          <p:nvPr/>
        </p:nvSpPr>
        <p:spPr>
          <a:xfrm>
            <a:off x="457200" y="2331720"/>
            <a:ext cx="8229600" cy="960120"/>
          </a:xfrm>
          <a:prstGeom prst="rect">
            <a:avLst/>
          </a:prstGeom>
          <a:solidFill>
            <a:srgbClr val="F5F6FA"/>
          </a:solidFill>
          <a:ln/>
          <a:effectLst>
            <a:outerShdw blurRad="50800" dist="25400" dir="8100000" algn="bl" rotWithShape="0">
              <a:srgbClr val="000000">
                <a:alpha val="10000"/>
              </a:srgbClr>
            </a:outerShdw>
          </a:effectLst>
        </p:spPr>
      </p:sp>
      <p:sp>
        <p:nvSpPr>
          <p:cNvPr id="16" name="Shape 14"/>
          <p:cNvSpPr/>
          <p:nvPr/>
        </p:nvSpPr>
        <p:spPr>
          <a:xfrm>
            <a:off x="457200" y="2331720"/>
            <a:ext cx="54864" cy="960120"/>
          </a:xfrm>
          <a:prstGeom prst="rect">
            <a:avLst/>
          </a:prstGeom>
          <a:solidFill>
            <a:srgbClr val="2E7D32"/>
          </a:solidFill>
          <a:ln/>
        </p:spPr>
      </p:sp>
      <p:sp>
        <p:nvSpPr>
          <p:cNvPr id="17" name="Shape 15"/>
          <p:cNvSpPr/>
          <p:nvPr/>
        </p:nvSpPr>
        <p:spPr>
          <a:xfrm>
            <a:off x="640080" y="2441448"/>
            <a:ext cx="3200400" cy="320040"/>
          </a:xfrm>
          <a:prstGeom prst="rect">
            <a:avLst/>
          </a:prstGeom>
          <a:solidFill>
            <a:srgbClr val="263238"/>
          </a:solidFill>
          <a:ln/>
        </p:spPr>
      </p:sp>
      <p:sp>
        <p:nvSpPr>
          <p:cNvPr id="18" name="Text 16"/>
          <p:cNvSpPr/>
          <p:nvPr/>
        </p:nvSpPr>
        <p:spPr>
          <a:xfrm>
            <a:off x="777240" y="2459736"/>
            <a:ext cx="2926080" cy="283464"/>
          </a:xfrm>
          <a:prstGeom prst="rect">
            <a:avLst/>
          </a:prstGeom>
          <a:noFill/>
          <a:ln/>
        </p:spPr>
        <p:txBody>
          <a:bodyPr wrap="square" rtlCol="0" anchor="ctr"/>
          <a:lstStyle/>
          <a:p>
            <a:pPr marL="0" indent="0">
              <a:buNone/>
            </a:pPr>
            <a:r>
              <a:rPr lang="en-US" sz="1100" dirty="0">
                <a:solidFill>
                  <a:srgbClr val="E0E0E0"/>
                </a:solidFill>
                <a:latin typeface="Consolas" pitchFamily="34" charset="0"/>
                <a:ea typeface="Consolas" pitchFamily="34" charset="-122"/>
                <a:cs typeface="Consolas" pitchFamily="34" charset="-120"/>
              </a:rPr>
              <a:t>strrchr(str, ch)</a:t>
            </a:r>
            <a:endParaRPr lang="en-US" sz="1100" dirty="0"/>
          </a:p>
        </p:txBody>
      </p:sp>
      <p:sp>
        <p:nvSpPr>
          <p:cNvPr id="19" name="Text 17"/>
          <p:cNvSpPr/>
          <p:nvPr/>
        </p:nvSpPr>
        <p:spPr>
          <a:xfrm>
            <a:off x="4023360" y="2404872"/>
            <a:ext cx="4572000" cy="36576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Tìm ký tự ch xuất hiện CUỐI CÙNG trong str</a:t>
            </a:r>
            <a:endParaRPr lang="en-US" sz="1100" dirty="0"/>
          </a:p>
        </p:txBody>
      </p:sp>
      <p:sp>
        <p:nvSpPr>
          <p:cNvPr id="20" name="Text 18"/>
          <p:cNvSpPr/>
          <p:nvPr/>
        </p:nvSpPr>
        <p:spPr>
          <a:xfrm>
            <a:off x="640080" y="2834640"/>
            <a:ext cx="7863840" cy="365760"/>
          </a:xfrm>
          <a:prstGeom prst="rect">
            <a:avLst/>
          </a:prstGeom>
          <a:noFill/>
          <a:ln/>
        </p:spPr>
        <p:txBody>
          <a:bodyPr wrap="square" rtlCol="0" anchor="ctr"/>
          <a:lstStyle/>
          <a:p>
            <a:pPr marL="0" indent="0">
              <a:buNone/>
            </a:pPr>
            <a:r>
              <a:rPr lang="en-US" sz="1000" i="1" dirty="0">
                <a:solidFill>
                  <a:srgbClr val="424242"/>
                </a:solidFill>
                <a:latin typeface="Calibri" pitchFamily="34" charset="0"/>
                <a:ea typeface="Calibri" pitchFamily="34" charset="-122"/>
                <a:cs typeface="Calibri" pitchFamily="34" charset="-120"/>
              </a:rPr>
              <a:t>VD: strrchr(path, '/')  → tách tên file từ đường dẫn</a:t>
            </a:r>
            <a:endParaRPr lang="en-US" sz="1000" dirty="0"/>
          </a:p>
        </p:txBody>
      </p:sp>
      <p:sp>
        <p:nvSpPr>
          <p:cNvPr id="21" name="Shape 19"/>
          <p:cNvSpPr/>
          <p:nvPr/>
        </p:nvSpPr>
        <p:spPr>
          <a:xfrm>
            <a:off x="457200" y="3429000"/>
            <a:ext cx="8229600" cy="960120"/>
          </a:xfrm>
          <a:prstGeom prst="rect">
            <a:avLst/>
          </a:prstGeom>
          <a:solidFill>
            <a:srgbClr val="F5F6FA"/>
          </a:solidFill>
          <a:ln/>
          <a:effectLst>
            <a:outerShdw blurRad="50800" dist="25400" dir="8100000" algn="bl" rotWithShape="0">
              <a:srgbClr val="000000">
                <a:alpha val="10000"/>
              </a:srgbClr>
            </a:outerShdw>
          </a:effectLst>
        </p:spPr>
      </p:sp>
      <p:sp>
        <p:nvSpPr>
          <p:cNvPr id="22" name="Shape 20"/>
          <p:cNvSpPr/>
          <p:nvPr/>
        </p:nvSpPr>
        <p:spPr>
          <a:xfrm>
            <a:off x="457200" y="3429000"/>
            <a:ext cx="54864" cy="960120"/>
          </a:xfrm>
          <a:prstGeom prst="rect">
            <a:avLst/>
          </a:prstGeom>
          <a:solidFill>
            <a:srgbClr val="E65100"/>
          </a:solidFill>
          <a:ln/>
        </p:spPr>
      </p:sp>
      <p:sp>
        <p:nvSpPr>
          <p:cNvPr id="23" name="Shape 21"/>
          <p:cNvSpPr/>
          <p:nvPr/>
        </p:nvSpPr>
        <p:spPr>
          <a:xfrm>
            <a:off x="640080" y="3538728"/>
            <a:ext cx="3200400" cy="320040"/>
          </a:xfrm>
          <a:prstGeom prst="rect">
            <a:avLst/>
          </a:prstGeom>
          <a:solidFill>
            <a:srgbClr val="263238"/>
          </a:solidFill>
          <a:ln/>
        </p:spPr>
      </p:sp>
      <p:sp>
        <p:nvSpPr>
          <p:cNvPr id="24" name="Text 22"/>
          <p:cNvSpPr/>
          <p:nvPr/>
        </p:nvSpPr>
        <p:spPr>
          <a:xfrm>
            <a:off x="777240" y="3557016"/>
            <a:ext cx="2926080" cy="283464"/>
          </a:xfrm>
          <a:prstGeom prst="rect">
            <a:avLst/>
          </a:prstGeom>
          <a:noFill/>
          <a:ln/>
        </p:spPr>
        <p:txBody>
          <a:bodyPr wrap="square" rtlCol="0" anchor="ctr"/>
          <a:lstStyle/>
          <a:p>
            <a:pPr marL="0" indent="0">
              <a:buNone/>
            </a:pPr>
            <a:r>
              <a:rPr lang="en-US" sz="1100" dirty="0">
                <a:solidFill>
                  <a:srgbClr val="E0E0E0"/>
                </a:solidFill>
                <a:latin typeface="Consolas" pitchFamily="34" charset="0"/>
                <a:ea typeface="Consolas" pitchFamily="34" charset="-122"/>
                <a:cs typeface="Consolas" pitchFamily="34" charset="-120"/>
              </a:rPr>
              <a:t>strstr(str1, str2)</a:t>
            </a:r>
            <a:endParaRPr lang="en-US" sz="1100" dirty="0"/>
          </a:p>
        </p:txBody>
      </p:sp>
      <p:sp>
        <p:nvSpPr>
          <p:cNvPr id="25" name="Text 23"/>
          <p:cNvSpPr/>
          <p:nvPr/>
        </p:nvSpPr>
        <p:spPr>
          <a:xfrm>
            <a:off x="4023360" y="3502152"/>
            <a:ext cx="4572000" cy="36576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Tìm chuỗi con str2 trong chuỗi str1</a:t>
            </a:r>
            <a:endParaRPr lang="en-US" sz="1100" dirty="0"/>
          </a:p>
        </p:txBody>
      </p:sp>
      <p:sp>
        <p:nvSpPr>
          <p:cNvPr id="26" name="Text 24"/>
          <p:cNvSpPr/>
          <p:nvPr/>
        </p:nvSpPr>
        <p:spPr>
          <a:xfrm>
            <a:off x="640080" y="3931920"/>
            <a:ext cx="7863840" cy="365760"/>
          </a:xfrm>
          <a:prstGeom prst="rect">
            <a:avLst/>
          </a:prstGeom>
          <a:noFill/>
          <a:ln/>
        </p:spPr>
        <p:txBody>
          <a:bodyPr wrap="square" rtlCol="0" anchor="ctr"/>
          <a:lstStyle/>
          <a:p>
            <a:pPr marL="0" indent="0">
              <a:buNone/>
            </a:pPr>
            <a:r>
              <a:rPr lang="en-US" sz="1000" i="1" dirty="0">
                <a:solidFill>
                  <a:srgbClr val="424242"/>
                </a:solidFill>
                <a:latin typeface="Calibri" pitchFamily="34" charset="0"/>
                <a:ea typeface="Calibri" pitchFamily="34" charset="-122"/>
                <a:cs typeface="Calibri" pitchFamily="34" charset="-120"/>
              </a:rPr>
              <a:t>VD: strstr(log, "error")  → tìm lỗi trong file log</a:t>
            </a:r>
            <a:endParaRPr lang="en-US" sz="1000" dirty="0"/>
          </a:p>
        </p:txBody>
      </p:sp>
      <p:sp>
        <p:nvSpPr>
          <p:cNvPr id="27" name="Text 25"/>
          <p:cNvSpPr/>
          <p:nvPr/>
        </p:nvSpPr>
        <p:spPr>
          <a:xfrm>
            <a:off x="914400" y="4343400"/>
            <a:ext cx="7315200" cy="228600"/>
          </a:xfrm>
          <a:prstGeom prst="rect">
            <a:avLst/>
          </a:prstGeom>
          <a:noFill/>
          <a:ln/>
        </p:spPr>
        <p:txBody>
          <a:bodyPr wrap="square" rtlCol="0" anchor="ctr"/>
          <a:lstStyle/>
          <a:p>
            <a:pPr marL="0" indent="0" algn="ctr">
              <a:buNone/>
            </a:pPr>
            <a:r>
              <a:rPr lang="en-US" sz="1000" i="1" dirty="0">
                <a:solidFill>
                  <a:srgbClr val="757575"/>
                </a:solidFill>
                <a:latin typeface="Calibri" pitchFamily="34" charset="0"/>
                <a:ea typeface="Calibri" pitchFamily="34" charset="-122"/>
                <a:cs typeface="Calibri" pitchFamily="34" charset="-120"/>
              </a:rPr>
              <a:t>Kết quả: Trả về con trỏ tới vị trí tìm thấy, hoặc NULL nếu không tìm thấy</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IV: THƯ VIỆN STRING.H</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18</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Thêm Công Cụ: ctype.h Và stdlib.h</a:t>
            </a:r>
            <a:endParaRPr lang="en-US" sz="2200" dirty="0"/>
          </a:p>
        </p:txBody>
      </p:sp>
      <p:sp>
        <p:nvSpPr>
          <p:cNvPr id="9" name="Shape 7"/>
          <p:cNvSpPr/>
          <p:nvPr/>
        </p:nvSpPr>
        <p:spPr>
          <a:xfrm>
            <a:off x="457200" y="1234440"/>
            <a:ext cx="3840480" cy="3383280"/>
          </a:xfrm>
          <a:prstGeom prst="rect">
            <a:avLst/>
          </a:prstGeom>
          <a:solidFill>
            <a:srgbClr val="E3F2FD"/>
          </a:solidFill>
          <a:ln/>
          <a:effectLst>
            <a:outerShdw blurRad="50800" dist="25400" dir="8100000" algn="bl" rotWithShape="0">
              <a:srgbClr val="000000">
                <a:alpha val="10000"/>
              </a:srgbClr>
            </a:outerShdw>
          </a:effectLst>
        </p:spPr>
      </p:sp>
      <p:sp>
        <p:nvSpPr>
          <p:cNvPr id="10" name="Shape 8"/>
          <p:cNvSpPr/>
          <p:nvPr/>
        </p:nvSpPr>
        <p:spPr>
          <a:xfrm>
            <a:off x="457200" y="1234440"/>
            <a:ext cx="54864" cy="3383280"/>
          </a:xfrm>
          <a:prstGeom prst="rect">
            <a:avLst/>
          </a:prstGeom>
          <a:solidFill>
            <a:srgbClr val="1565C0"/>
          </a:solidFill>
          <a:ln/>
        </p:spPr>
      </p:sp>
      <p:sp>
        <p:nvSpPr>
          <p:cNvPr id="11" name="Text 9"/>
          <p:cNvSpPr/>
          <p:nvPr/>
        </p:nvSpPr>
        <p:spPr>
          <a:xfrm>
            <a:off x="658368" y="1344168"/>
            <a:ext cx="3474720" cy="365760"/>
          </a:xfrm>
          <a:prstGeom prst="rect">
            <a:avLst/>
          </a:prstGeom>
          <a:noFill/>
          <a:ln/>
        </p:spPr>
        <p:txBody>
          <a:bodyPr wrap="square" rtlCol="0" anchor="ctr"/>
          <a:lstStyle/>
          <a:p>
            <a:pPr marL="0" indent="0">
              <a:buNone/>
            </a:pPr>
            <a:r>
              <a:rPr lang="en-US" sz="1300" b="1" dirty="0">
                <a:solidFill>
                  <a:srgbClr val="1565C0"/>
                </a:solidFill>
                <a:latin typeface="Georgia" pitchFamily="34" charset="0"/>
                <a:ea typeface="Georgia" pitchFamily="34" charset="-122"/>
                <a:cs typeface="Georgia" pitchFamily="34" charset="-120"/>
              </a:rPr>
              <a:t>ctype.h — Xử lý ký tự đơn</a:t>
            </a:r>
            <a:endParaRPr lang="en-US" sz="1300" dirty="0"/>
          </a:p>
        </p:txBody>
      </p:sp>
      <p:sp>
        <p:nvSpPr>
          <p:cNvPr id="12" name="Text 10"/>
          <p:cNvSpPr/>
          <p:nvPr/>
        </p:nvSpPr>
        <p:spPr>
          <a:xfrm>
            <a:off x="658368" y="1737360"/>
            <a:ext cx="3474720" cy="2743200"/>
          </a:xfrm>
          <a:prstGeom prst="rect">
            <a:avLst/>
          </a:prstGeom>
          <a:noFill/>
          <a:ln/>
        </p:spPr>
        <p:txBody>
          <a:bodyPr wrap="square" rtlCol="0" anchor="ctr"/>
          <a:lstStyle/>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toupper(ch) / tolower(ch)</a:t>
            </a:r>
            <a:endParaRPr lang="en-US" sz="1400" dirty="0"/>
          </a:p>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Chuyển hoa/thường từng ký tự</a:t>
            </a:r>
            <a:endParaRPr lang="en-US" sz="1400" dirty="0"/>
          </a:p>
          <a:p>
            <a:pPr marL="0" indent="0">
              <a:lnSpc>
                <a:spcPct val="125000"/>
              </a:lnSpc>
              <a:buNone/>
            </a:pPr>
            <a:endParaRPr lang="en-US" sz="1400" dirty="0"/>
          </a:p>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isalpha(ch) → là chữ cái?</a:t>
            </a:r>
            <a:endParaRPr lang="en-US" sz="1400" dirty="0"/>
          </a:p>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isdigit(ch) → là chữ số?</a:t>
            </a:r>
            <a:endParaRPr lang="en-US" sz="1400" dirty="0"/>
          </a:p>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isspace(ch) → là khoảng trắng?</a:t>
            </a:r>
            <a:endParaRPr lang="en-US" sz="1400" dirty="0"/>
          </a:p>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isupper(ch) / islower(ch)</a:t>
            </a:r>
            <a:endParaRPr lang="en-US" sz="1400" dirty="0"/>
          </a:p>
        </p:txBody>
      </p:sp>
      <p:sp>
        <p:nvSpPr>
          <p:cNvPr id="13" name="Shape 11"/>
          <p:cNvSpPr/>
          <p:nvPr/>
        </p:nvSpPr>
        <p:spPr>
          <a:xfrm>
            <a:off x="4663440" y="1234440"/>
            <a:ext cx="4023360" cy="1463040"/>
          </a:xfrm>
          <a:prstGeom prst="rect">
            <a:avLst/>
          </a:prstGeom>
          <a:solidFill>
            <a:srgbClr val="E8F5E9"/>
          </a:solidFill>
          <a:ln/>
          <a:effectLst>
            <a:outerShdw blurRad="50800" dist="25400" dir="8100000" algn="bl" rotWithShape="0">
              <a:srgbClr val="000000">
                <a:alpha val="10000"/>
              </a:srgbClr>
            </a:outerShdw>
          </a:effectLst>
        </p:spPr>
      </p:sp>
      <p:sp>
        <p:nvSpPr>
          <p:cNvPr id="14" name="Shape 12"/>
          <p:cNvSpPr/>
          <p:nvPr/>
        </p:nvSpPr>
        <p:spPr>
          <a:xfrm>
            <a:off x="4663440" y="1234440"/>
            <a:ext cx="54864" cy="1463040"/>
          </a:xfrm>
          <a:prstGeom prst="rect">
            <a:avLst/>
          </a:prstGeom>
          <a:solidFill>
            <a:srgbClr val="2E7D32"/>
          </a:solidFill>
          <a:ln/>
        </p:spPr>
      </p:sp>
      <p:sp>
        <p:nvSpPr>
          <p:cNvPr id="15" name="Text 13"/>
          <p:cNvSpPr/>
          <p:nvPr/>
        </p:nvSpPr>
        <p:spPr>
          <a:xfrm>
            <a:off x="4864608" y="1344168"/>
            <a:ext cx="3657600" cy="365760"/>
          </a:xfrm>
          <a:prstGeom prst="rect">
            <a:avLst/>
          </a:prstGeom>
          <a:noFill/>
          <a:ln/>
        </p:spPr>
        <p:txBody>
          <a:bodyPr wrap="square" rtlCol="0" anchor="ctr"/>
          <a:lstStyle/>
          <a:p>
            <a:pPr marL="0" indent="0">
              <a:buNone/>
            </a:pPr>
            <a:r>
              <a:rPr lang="en-US" sz="1300" b="1" dirty="0">
                <a:solidFill>
                  <a:srgbClr val="2E7D32"/>
                </a:solidFill>
                <a:latin typeface="Georgia" pitchFamily="34" charset="0"/>
                <a:ea typeface="Georgia" pitchFamily="34" charset="-122"/>
                <a:cs typeface="Georgia" pitchFamily="34" charset="-120"/>
              </a:rPr>
              <a:t>stdlib.h — Chuỗi → Số</a:t>
            </a:r>
            <a:endParaRPr lang="en-US" sz="1300" dirty="0"/>
          </a:p>
        </p:txBody>
      </p:sp>
      <p:sp>
        <p:nvSpPr>
          <p:cNvPr id="16" name="Text 14"/>
          <p:cNvSpPr/>
          <p:nvPr/>
        </p:nvSpPr>
        <p:spPr>
          <a:xfrm>
            <a:off x="4864608" y="1737360"/>
            <a:ext cx="3657600" cy="822960"/>
          </a:xfrm>
          <a:prstGeom prst="rect">
            <a:avLst/>
          </a:prstGeom>
          <a:noFill/>
          <a:ln/>
        </p:spPr>
        <p:txBody>
          <a:bodyPr wrap="square" rtlCol="0" anchor="ctr"/>
          <a:lstStyle/>
          <a:p>
            <a:pPr marL="0" indent="0">
              <a:lnSpc>
                <a:spcPct val="125000"/>
              </a:lnSpc>
              <a:buNone/>
            </a:pPr>
            <a:r>
              <a:rPr lang="en-US" sz="1000" dirty="0">
                <a:solidFill>
                  <a:srgbClr val="212121"/>
                </a:solidFill>
                <a:latin typeface="Calibri" pitchFamily="34" charset="0"/>
                <a:ea typeface="Calibri" pitchFamily="34" charset="-122"/>
                <a:cs typeface="Calibri" pitchFamily="34" charset="-120"/>
              </a:rPr>
              <a:t>atoi(str) → int</a:t>
            </a:r>
            <a:endParaRPr lang="en-US" sz="1000" dirty="0"/>
          </a:p>
          <a:p>
            <a:pPr marL="0" indent="0">
              <a:lnSpc>
                <a:spcPct val="125000"/>
              </a:lnSpc>
              <a:buNone/>
            </a:pPr>
            <a:r>
              <a:rPr lang="en-US" sz="1000" dirty="0">
                <a:solidFill>
                  <a:srgbClr val="212121"/>
                </a:solidFill>
                <a:latin typeface="Calibri" pitchFamily="34" charset="0"/>
                <a:ea typeface="Calibri" pitchFamily="34" charset="-122"/>
                <a:cs typeface="Calibri" pitchFamily="34" charset="-120"/>
              </a:rPr>
              <a:t>atol(str) → long</a:t>
            </a:r>
            <a:endParaRPr lang="en-US" sz="1000" dirty="0"/>
          </a:p>
          <a:p>
            <a:pPr marL="0" indent="0">
              <a:lnSpc>
                <a:spcPct val="125000"/>
              </a:lnSpc>
              <a:buNone/>
            </a:pPr>
            <a:r>
              <a:rPr lang="en-US" sz="1000" dirty="0">
                <a:solidFill>
                  <a:srgbClr val="212121"/>
                </a:solidFill>
                <a:latin typeface="Calibri" pitchFamily="34" charset="0"/>
                <a:ea typeface="Calibri" pitchFamily="34" charset="-122"/>
                <a:cs typeface="Calibri" pitchFamily="34" charset="-120"/>
              </a:rPr>
              <a:t>atof(str) → double</a:t>
            </a:r>
            <a:endParaRPr lang="en-US" sz="1000" dirty="0"/>
          </a:p>
          <a:p>
            <a:pPr marL="0" indent="0">
              <a:lnSpc>
                <a:spcPct val="125000"/>
              </a:lnSpc>
              <a:buNone/>
            </a:pPr>
            <a:endParaRPr lang="en-US" sz="1000" dirty="0"/>
          </a:p>
          <a:p>
            <a:pPr marL="0" indent="0">
              <a:lnSpc>
                <a:spcPct val="125000"/>
              </a:lnSpc>
              <a:buNone/>
            </a:pPr>
            <a:r>
              <a:rPr lang="en-US" sz="1000" dirty="0">
                <a:solidFill>
                  <a:srgbClr val="212121"/>
                </a:solidFill>
                <a:latin typeface="Calibri" pitchFamily="34" charset="0"/>
                <a:ea typeface="Calibri" pitchFamily="34" charset="-122"/>
                <a:cs typeface="Calibri" pitchFamily="34" charset="-120"/>
              </a:rPr>
              <a:t>VD: atoi("123") = 123</a:t>
            </a:r>
            <a:endParaRPr lang="en-US" sz="1000" dirty="0"/>
          </a:p>
        </p:txBody>
      </p:sp>
      <p:sp>
        <p:nvSpPr>
          <p:cNvPr id="17" name="Shape 15"/>
          <p:cNvSpPr/>
          <p:nvPr/>
        </p:nvSpPr>
        <p:spPr>
          <a:xfrm>
            <a:off x="4663440" y="2926080"/>
            <a:ext cx="4023360" cy="1691640"/>
          </a:xfrm>
          <a:prstGeom prst="rect">
            <a:avLst/>
          </a:prstGeom>
          <a:solidFill>
            <a:srgbClr val="FFF3E0"/>
          </a:solidFill>
          <a:ln/>
          <a:effectLst>
            <a:outerShdw blurRad="50800" dist="25400" dir="8100000" algn="bl" rotWithShape="0">
              <a:srgbClr val="000000">
                <a:alpha val="10000"/>
              </a:srgbClr>
            </a:outerShdw>
          </a:effectLst>
        </p:spPr>
      </p:sp>
      <p:sp>
        <p:nvSpPr>
          <p:cNvPr id="18" name="Shape 16"/>
          <p:cNvSpPr/>
          <p:nvPr/>
        </p:nvSpPr>
        <p:spPr>
          <a:xfrm>
            <a:off x="4663440" y="2926080"/>
            <a:ext cx="54864" cy="1691640"/>
          </a:xfrm>
          <a:prstGeom prst="rect">
            <a:avLst/>
          </a:prstGeom>
          <a:solidFill>
            <a:srgbClr val="E65100"/>
          </a:solidFill>
          <a:ln/>
        </p:spPr>
      </p:sp>
      <p:sp>
        <p:nvSpPr>
          <p:cNvPr id="19" name="Text 17"/>
          <p:cNvSpPr/>
          <p:nvPr/>
        </p:nvSpPr>
        <p:spPr>
          <a:xfrm>
            <a:off x="4864608" y="3035808"/>
            <a:ext cx="3657600" cy="365760"/>
          </a:xfrm>
          <a:prstGeom prst="rect">
            <a:avLst/>
          </a:prstGeom>
          <a:noFill/>
          <a:ln/>
        </p:spPr>
        <p:txBody>
          <a:bodyPr wrap="square" rtlCol="0" anchor="ctr"/>
          <a:lstStyle/>
          <a:p>
            <a:pPr marL="0" indent="0">
              <a:buNone/>
            </a:pPr>
            <a:r>
              <a:rPr lang="en-US" sz="1300" b="1" dirty="0">
                <a:solidFill>
                  <a:srgbClr val="E65100"/>
                </a:solidFill>
                <a:latin typeface="Georgia" pitchFamily="34" charset="0"/>
                <a:ea typeface="Georgia" pitchFamily="34" charset="-122"/>
                <a:cs typeface="Georgia" pitchFamily="34" charset="-120"/>
              </a:rPr>
              <a:t>string.h bổ sung</a:t>
            </a:r>
            <a:endParaRPr lang="en-US" sz="1300" dirty="0"/>
          </a:p>
        </p:txBody>
      </p:sp>
      <p:sp>
        <p:nvSpPr>
          <p:cNvPr id="20" name="Text 18"/>
          <p:cNvSpPr/>
          <p:nvPr/>
        </p:nvSpPr>
        <p:spPr>
          <a:xfrm>
            <a:off x="4864608" y="3429000"/>
            <a:ext cx="3657600" cy="1051560"/>
          </a:xfrm>
          <a:prstGeom prst="rect">
            <a:avLst/>
          </a:prstGeom>
          <a:noFill/>
          <a:ln/>
        </p:spPr>
        <p:txBody>
          <a:bodyPr wrap="square" rtlCol="0" anchor="ctr"/>
          <a:lstStyle/>
          <a:p>
            <a:pPr marL="0" indent="0">
              <a:lnSpc>
                <a:spcPct val="125000"/>
              </a:lnSpc>
              <a:buNone/>
            </a:pPr>
            <a:r>
              <a:rPr lang="en-US" sz="1000" dirty="0">
                <a:solidFill>
                  <a:srgbClr val="212121"/>
                </a:solidFill>
                <a:latin typeface="Calibri" pitchFamily="34" charset="0"/>
                <a:ea typeface="Calibri" pitchFamily="34" charset="-122"/>
                <a:cs typeface="Calibri" pitchFamily="34" charset="-120"/>
              </a:rPr>
              <a:t>strlwr(str) / strupr(str)</a:t>
            </a:r>
            <a:endParaRPr lang="en-US" sz="1000" dirty="0"/>
          </a:p>
          <a:p>
            <a:pPr marL="0" indent="0">
              <a:lnSpc>
                <a:spcPct val="125000"/>
              </a:lnSpc>
              <a:buNone/>
            </a:pPr>
            <a:r>
              <a:rPr lang="en-US" sz="1000" dirty="0">
                <a:solidFill>
                  <a:srgbClr val="212121"/>
                </a:solidFill>
                <a:latin typeface="Calibri" pitchFamily="34" charset="0"/>
                <a:ea typeface="Calibri" pitchFamily="34" charset="-122"/>
                <a:cs typeface="Calibri" pitchFamily="34" charset="-120"/>
              </a:rPr>
              <a:t>Chuyển chuỗi hoa/thường</a:t>
            </a:r>
            <a:endParaRPr lang="en-US" sz="1000" dirty="0"/>
          </a:p>
          <a:p>
            <a:pPr marL="0" indent="0">
              <a:lnSpc>
                <a:spcPct val="125000"/>
              </a:lnSpc>
              <a:buNone/>
            </a:pPr>
            <a:endParaRPr lang="en-US" sz="1000" dirty="0"/>
          </a:p>
          <a:p>
            <a:pPr marL="0" indent="0">
              <a:lnSpc>
                <a:spcPct val="125000"/>
              </a:lnSpc>
              <a:buNone/>
            </a:pPr>
            <a:r>
              <a:rPr lang="en-US" sz="1000" dirty="0">
                <a:solidFill>
                  <a:srgbClr val="212121"/>
                </a:solidFill>
                <a:latin typeface="Calibri" pitchFamily="34" charset="0"/>
                <a:ea typeface="Calibri" pitchFamily="34" charset="-122"/>
                <a:cs typeface="Calibri" pitchFamily="34" charset="-120"/>
              </a:rPr>
              <a:t>strrev(str) → đảo ngược chuỗi</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55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457200" y="914400"/>
            <a:ext cx="8229600" cy="1097280"/>
          </a:xfrm>
          <a:prstGeom prst="rect">
            <a:avLst/>
          </a:prstGeom>
          <a:noFill/>
          <a:ln/>
        </p:spPr>
        <p:txBody>
          <a:bodyPr wrap="square" rtlCol="0" anchor="ctr"/>
          <a:lstStyle/>
          <a:p>
            <a:pPr marL="0" indent="0" algn="ctr">
              <a:buNone/>
            </a:pPr>
            <a:r>
              <a:rPr lang="en-US" sz="7200" b="1" dirty="0">
                <a:solidFill>
                  <a:srgbClr val="F9A825"/>
                </a:solidFill>
                <a:latin typeface="Georgia" pitchFamily="34" charset="0"/>
                <a:ea typeface="Georgia" pitchFamily="34" charset="-122"/>
                <a:cs typeface="Georgia" pitchFamily="34" charset="-120"/>
              </a:rPr>
              <a:t>05</a:t>
            </a:r>
            <a:endParaRPr lang="en-US" sz="7200" dirty="0"/>
          </a:p>
        </p:txBody>
      </p:sp>
      <p:sp>
        <p:nvSpPr>
          <p:cNvPr id="4" name="Shape 2"/>
          <p:cNvSpPr/>
          <p:nvPr/>
        </p:nvSpPr>
        <p:spPr>
          <a:xfrm>
            <a:off x="3200400" y="2103120"/>
            <a:ext cx="2743200" cy="27432"/>
          </a:xfrm>
          <a:prstGeom prst="rect">
            <a:avLst/>
          </a:prstGeom>
          <a:solidFill>
            <a:srgbClr val="F9A825"/>
          </a:solidFill>
          <a:ln/>
        </p:spPr>
      </p:sp>
      <p:sp>
        <p:nvSpPr>
          <p:cNvPr id="5" name="Text 3"/>
          <p:cNvSpPr/>
          <p:nvPr/>
        </p:nvSpPr>
        <p:spPr>
          <a:xfrm>
            <a:off x="457200" y="2286000"/>
            <a:ext cx="8229600" cy="914400"/>
          </a:xfrm>
          <a:prstGeom prst="rect">
            <a:avLst/>
          </a:prstGeom>
          <a:noFill/>
          <a:ln/>
        </p:spPr>
        <p:txBody>
          <a:bodyPr wrap="square" rtlCol="0" anchor="ctr"/>
          <a:lstStyle/>
          <a:p>
            <a:pPr marL="0" indent="0" algn="ctr">
              <a:buNone/>
            </a:pPr>
            <a:r>
              <a:rPr lang="en-US" sz="2600" b="1" kern="0" spc="300" dirty="0">
                <a:solidFill>
                  <a:srgbClr val="FFFFFF"/>
                </a:solidFill>
                <a:latin typeface="Georgia" pitchFamily="34" charset="0"/>
                <a:ea typeface="Georgia" pitchFamily="34" charset="-122"/>
                <a:cs typeface="Georgia" pitchFamily="34" charset="-120"/>
              </a:rPr>
              <a:t>THỰC HÀNH &amp; CẦU NỐI</a:t>
            </a:r>
            <a:endParaRPr lang="en-US" sz="2600" dirty="0"/>
          </a:p>
        </p:txBody>
      </p:sp>
      <p:sp>
        <p:nvSpPr>
          <p:cNvPr id="6" name="Text 4"/>
          <p:cNvSpPr/>
          <p:nvPr/>
        </p:nvSpPr>
        <p:spPr>
          <a:xfrm>
            <a:off x="914400" y="3291840"/>
            <a:ext cx="7315200" cy="548640"/>
          </a:xfrm>
          <a:prstGeom prst="rect">
            <a:avLst/>
          </a:prstGeom>
          <a:noFill/>
          <a:ln/>
        </p:spPr>
        <p:txBody>
          <a:bodyPr wrap="square" rtlCol="0" anchor="ctr"/>
          <a:lstStyle/>
          <a:p>
            <a:pPr marL="0" indent="0" algn="ctr">
              <a:buNone/>
            </a:pPr>
            <a:r>
              <a:rPr lang="en-US" sz="1300" i="1" dirty="0">
                <a:solidFill>
                  <a:srgbClr val="AAAAAA"/>
                </a:solidFill>
                <a:latin typeface="Calibri" pitchFamily="34" charset="0"/>
                <a:ea typeface="Calibri" pitchFamily="34" charset="-122"/>
                <a:cs typeface="Calibri" pitchFamily="34" charset="-120"/>
              </a:rPr>
              <a:t>Lab 3 mức + Tổng kết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V: THỰC HÀNH</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19</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Lab 1: Thực Hành Cơ Bản (Bắt buộc — 15 phút)</a:t>
            </a:r>
            <a:endParaRPr lang="en-US" sz="2200" dirty="0"/>
          </a:p>
        </p:txBody>
      </p:sp>
      <p:sp>
        <p:nvSpPr>
          <p:cNvPr id="9" name="Shape 7"/>
          <p:cNvSpPr/>
          <p:nvPr/>
        </p:nvSpPr>
        <p:spPr>
          <a:xfrm>
            <a:off x="457200" y="1234440"/>
            <a:ext cx="8229600" cy="914400"/>
          </a:xfrm>
          <a:prstGeom prst="rect">
            <a:avLst/>
          </a:prstGeom>
          <a:solidFill>
            <a:srgbClr val="F5F6FA"/>
          </a:solidFill>
          <a:ln/>
          <a:effectLst>
            <a:outerShdw blurRad="50800" dist="25400" dir="8100000" algn="bl" rotWithShape="0">
              <a:srgbClr val="000000">
                <a:alpha val="10000"/>
              </a:srgbClr>
            </a:outerShdw>
          </a:effectLst>
        </p:spPr>
      </p:sp>
      <p:sp>
        <p:nvSpPr>
          <p:cNvPr id="10" name="Shape 8"/>
          <p:cNvSpPr/>
          <p:nvPr/>
        </p:nvSpPr>
        <p:spPr>
          <a:xfrm>
            <a:off x="457200" y="1234440"/>
            <a:ext cx="54864" cy="914400"/>
          </a:xfrm>
          <a:prstGeom prst="rect">
            <a:avLst/>
          </a:prstGeom>
          <a:solidFill>
            <a:srgbClr val="1565C0"/>
          </a:solidFill>
          <a:ln/>
        </p:spPr>
      </p:sp>
      <p:sp>
        <p:nvSpPr>
          <p:cNvPr id="11" name="Shape 9"/>
          <p:cNvSpPr/>
          <p:nvPr/>
        </p:nvSpPr>
        <p:spPr>
          <a:xfrm>
            <a:off x="640080" y="1499616"/>
            <a:ext cx="384048" cy="384048"/>
          </a:xfrm>
          <a:prstGeom prst="ellipse">
            <a:avLst/>
          </a:prstGeom>
          <a:solidFill>
            <a:srgbClr val="1565C0"/>
          </a:solidFill>
          <a:ln/>
        </p:spPr>
      </p:sp>
      <p:sp>
        <p:nvSpPr>
          <p:cNvPr id="12" name="Text 10"/>
          <p:cNvSpPr/>
          <p:nvPr/>
        </p:nvSpPr>
        <p:spPr>
          <a:xfrm>
            <a:off x="640080" y="1499616"/>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1143000" y="1280160"/>
            <a:ext cx="3200400" cy="365760"/>
          </a:xfrm>
          <a:prstGeom prst="rect">
            <a:avLst/>
          </a:prstGeom>
          <a:noFill/>
          <a:ln/>
        </p:spPr>
        <p:txBody>
          <a:bodyPr wrap="square" rtlCol="0" anchor="ctr"/>
          <a:lstStyle/>
          <a:p>
            <a:pPr marL="0" indent="0">
              <a:buNone/>
            </a:pPr>
            <a:r>
              <a:rPr lang="en-US" sz="1300" b="1" dirty="0">
                <a:solidFill>
                  <a:srgbClr val="1565C0"/>
                </a:solidFill>
                <a:latin typeface="Georgia" pitchFamily="34" charset="0"/>
                <a:ea typeface="Georgia" pitchFamily="34" charset="-122"/>
                <a:cs typeface="Georgia" pitchFamily="34" charset="-120"/>
              </a:rPr>
              <a:t>Tính strlen thủ công</a:t>
            </a:r>
            <a:endParaRPr lang="en-US" sz="1300" dirty="0"/>
          </a:p>
        </p:txBody>
      </p:sp>
      <p:sp>
        <p:nvSpPr>
          <p:cNvPr id="14" name="Text 12"/>
          <p:cNvSpPr/>
          <p:nvPr/>
        </p:nvSpPr>
        <p:spPr>
          <a:xfrm>
            <a:off x="1143000" y="1645920"/>
            <a:ext cx="7132320" cy="45720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Viết hàm tính độ dài chuỗi KHÔNG dùng strlen — duyệt bằng while đến '\0'</a:t>
            </a:r>
            <a:endParaRPr lang="en-US" sz="1100" dirty="0"/>
          </a:p>
        </p:txBody>
      </p:sp>
      <p:sp>
        <p:nvSpPr>
          <p:cNvPr id="15" name="Shape 13"/>
          <p:cNvSpPr/>
          <p:nvPr/>
        </p:nvSpPr>
        <p:spPr>
          <a:xfrm>
            <a:off x="457200" y="2331720"/>
            <a:ext cx="8229600" cy="914400"/>
          </a:xfrm>
          <a:prstGeom prst="rect">
            <a:avLst/>
          </a:prstGeom>
          <a:solidFill>
            <a:srgbClr val="F5F6FA"/>
          </a:solidFill>
          <a:ln/>
          <a:effectLst>
            <a:outerShdw blurRad="50800" dist="25400" dir="8100000" algn="bl" rotWithShape="0">
              <a:srgbClr val="000000">
                <a:alpha val="10000"/>
              </a:srgbClr>
            </a:outerShdw>
          </a:effectLst>
        </p:spPr>
      </p:sp>
      <p:sp>
        <p:nvSpPr>
          <p:cNvPr id="16" name="Shape 14"/>
          <p:cNvSpPr/>
          <p:nvPr/>
        </p:nvSpPr>
        <p:spPr>
          <a:xfrm>
            <a:off x="457200" y="2331720"/>
            <a:ext cx="54864" cy="914400"/>
          </a:xfrm>
          <a:prstGeom prst="rect">
            <a:avLst/>
          </a:prstGeom>
          <a:solidFill>
            <a:srgbClr val="2E7D32"/>
          </a:solidFill>
          <a:ln/>
        </p:spPr>
      </p:sp>
      <p:sp>
        <p:nvSpPr>
          <p:cNvPr id="17" name="Shape 15"/>
          <p:cNvSpPr/>
          <p:nvPr/>
        </p:nvSpPr>
        <p:spPr>
          <a:xfrm>
            <a:off x="640080" y="2596896"/>
            <a:ext cx="384048" cy="384048"/>
          </a:xfrm>
          <a:prstGeom prst="ellipse">
            <a:avLst/>
          </a:prstGeom>
          <a:solidFill>
            <a:srgbClr val="2E7D32"/>
          </a:solidFill>
          <a:ln/>
        </p:spPr>
      </p:sp>
      <p:sp>
        <p:nvSpPr>
          <p:cNvPr id="18" name="Text 16"/>
          <p:cNvSpPr/>
          <p:nvPr/>
        </p:nvSpPr>
        <p:spPr>
          <a:xfrm>
            <a:off x="640080" y="2596896"/>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7"/>
          <p:cNvSpPr/>
          <p:nvPr/>
        </p:nvSpPr>
        <p:spPr>
          <a:xfrm>
            <a:off x="1143000" y="2377440"/>
            <a:ext cx="3200400" cy="365760"/>
          </a:xfrm>
          <a:prstGeom prst="rect">
            <a:avLst/>
          </a:prstGeom>
          <a:noFill/>
          <a:ln/>
        </p:spPr>
        <p:txBody>
          <a:bodyPr wrap="square" rtlCol="0" anchor="ctr"/>
          <a:lstStyle/>
          <a:p>
            <a:pPr marL="0" indent="0">
              <a:buNone/>
            </a:pPr>
            <a:r>
              <a:rPr lang="en-US" sz="1300" b="1" dirty="0">
                <a:solidFill>
                  <a:srgbClr val="2E7D32"/>
                </a:solidFill>
                <a:latin typeface="Georgia" pitchFamily="34" charset="0"/>
                <a:ea typeface="Georgia" pitchFamily="34" charset="-122"/>
                <a:cs typeface="Georgia" pitchFamily="34" charset="-120"/>
              </a:rPr>
              <a:t>Tách ký tự</a:t>
            </a:r>
            <a:endParaRPr lang="en-US" sz="1300" dirty="0"/>
          </a:p>
        </p:txBody>
      </p:sp>
      <p:sp>
        <p:nvSpPr>
          <p:cNvPr id="20" name="Text 18"/>
          <p:cNvSpPr/>
          <p:nvPr/>
        </p:nvSpPr>
        <p:spPr>
          <a:xfrm>
            <a:off x="1143000" y="2743200"/>
            <a:ext cx="7132320" cy="45720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Nhập chuỗi, in ra từng ký tự trên mỗi dòng — duyệt mảng char</a:t>
            </a:r>
            <a:endParaRPr lang="en-US" sz="1100" dirty="0"/>
          </a:p>
        </p:txBody>
      </p:sp>
      <p:sp>
        <p:nvSpPr>
          <p:cNvPr id="21" name="Shape 19"/>
          <p:cNvSpPr/>
          <p:nvPr/>
        </p:nvSpPr>
        <p:spPr>
          <a:xfrm>
            <a:off x="457200" y="3429000"/>
            <a:ext cx="8229600" cy="914400"/>
          </a:xfrm>
          <a:prstGeom prst="rect">
            <a:avLst/>
          </a:prstGeom>
          <a:solidFill>
            <a:srgbClr val="F5F6FA"/>
          </a:solidFill>
          <a:ln/>
          <a:effectLst>
            <a:outerShdw blurRad="50800" dist="25400" dir="8100000" algn="bl" rotWithShape="0">
              <a:srgbClr val="000000">
                <a:alpha val="10000"/>
              </a:srgbClr>
            </a:outerShdw>
          </a:effectLst>
        </p:spPr>
      </p:sp>
      <p:sp>
        <p:nvSpPr>
          <p:cNvPr id="22" name="Shape 20"/>
          <p:cNvSpPr/>
          <p:nvPr/>
        </p:nvSpPr>
        <p:spPr>
          <a:xfrm>
            <a:off x="457200" y="3429000"/>
            <a:ext cx="54864" cy="914400"/>
          </a:xfrm>
          <a:prstGeom prst="rect">
            <a:avLst/>
          </a:prstGeom>
          <a:solidFill>
            <a:srgbClr val="E65100"/>
          </a:solidFill>
          <a:ln/>
        </p:spPr>
      </p:sp>
      <p:sp>
        <p:nvSpPr>
          <p:cNvPr id="23" name="Shape 21"/>
          <p:cNvSpPr/>
          <p:nvPr/>
        </p:nvSpPr>
        <p:spPr>
          <a:xfrm>
            <a:off x="640080" y="3694176"/>
            <a:ext cx="384048" cy="384048"/>
          </a:xfrm>
          <a:prstGeom prst="ellipse">
            <a:avLst/>
          </a:prstGeom>
          <a:solidFill>
            <a:srgbClr val="E65100"/>
          </a:solidFill>
          <a:ln/>
        </p:spPr>
      </p:sp>
      <p:sp>
        <p:nvSpPr>
          <p:cNvPr id="24" name="Text 22"/>
          <p:cNvSpPr/>
          <p:nvPr/>
        </p:nvSpPr>
        <p:spPr>
          <a:xfrm>
            <a:off x="640080" y="3694176"/>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5" name="Text 23"/>
          <p:cNvSpPr/>
          <p:nvPr/>
        </p:nvSpPr>
        <p:spPr>
          <a:xfrm>
            <a:off x="1143000" y="3474720"/>
            <a:ext cx="3200400" cy="365760"/>
          </a:xfrm>
          <a:prstGeom prst="rect">
            <a:avLst/>
          </a:prstGeom>
          <a:noFill/>
          <a:ln/>
        </p:spPr>
        <p:txBody>
          <a:bodyPr wrap="square" rtlCol="0" anchor="ctr"/>
          <a:lstStyle/>
          <a:p>
            <a:pPr marL="0" indent="0">
              <a:buNone/>
            </a:pPr>
            <a:r>
              <a:rPr lang="en-US" sz="1300" b="1" dirty="0">
                <a:solidFill>
                  <a:srgbClr val="E65100"/>
                </a:solidFill>
                <a:latin typeface="Georgia" pitchFamily="34" charset="0"/>
                <a:ea typeface="Georgia" pitchFamily="34" charset="-122"/>
                <a:cs typeface="Georgia" pitchFamily="34" charset="-120"/>
              </a:rPr>
              <a:t>In ngược chuỗi</a:t>
            </a:r>
            <a:endParaRPr lang="en-US" sz="1300" dirty="0"/>
          </a:p>
        </p:txBody>
      </p:sp>
      <p:sp>
        <p:nvSpPr>
          <p:cNvPr id="26" name="Text 24"/>
          <p:cNvSpPr/>
          <p:nvPr/>
        </p:nvSpPr>
        <p:spPr>
          <a:xfrm>
            <a:off x="1143000" y="3840480"/>
            <a:ext cx="7132320" cy="45720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Nhập chuỗi, in ra theo chiều ngược lại — dùng strlen + vòng for đi ngược</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V: THỰC HÀNH</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20</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Lab 2 (Nâng Cao) &amp; Lab 3 (Thử Thách)</a:t>
            </a:r>
            <a:endParaRPr lang="en-US" sz="2200" dirty="0"/>
          </a:p>
        </p:txBody>
      </p:sp>
      <p:sp>
        <p:nvSpPr>
          <p:cNvPr id="9" name="Shape 7"/>
          <p:cNvSpPr/>
          <p:nvPr/>
        </p:nvSpPr>
        <p:spPr>
          <a:xfrm>
            <a:off x="457200" y="1234440"/>
            <a:ext cx="8229600" cy="320040"/>
          </a:xfrm>
          <a:prstGeom prst="rect">
            <a:avLst/>
          </a:prstGeom>
          <a:solidFill>
            <a:srgbClr val="2E7D32"/>
          </a:solidFill>
          <a:ln/>
        </p:spPr>
      </p:sp>
      <p:sp>
        <p:nvSpPr>
          <p:cNvPr id="10" name="Text 8"/>
          <p:cNvSpPr/>
          <p:nvPr/>
        </p:nvSpPr>
        <p:spPr>
          <a:xfrm>
            <a:off x="594360" y="1243584"/>
            <a:ext cx="7955280" cy="301752"/>
          </a:xfrm>
          <a:prstGeom prst="rect">
            <a:avLst/>
          </a:prstGeom>
          <a:noFill/>
          <a:ln/>
        </p:spPr>
        <p:txBody>
          <a:bodyPr wrap="square"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LAB 2 — NÂNG CAO (Khuyến khích — 20 phút)</a:t>
            </a:r>
            <a:endParaRPr lang="en-US" sz="1200" dirty="0"/>
          </a:p>
        </p:txBody>
      </p:sp>
      <p:sp>
        <p:nvSpPr>
          <p:cNvPr id="11" name="Text 9"/>
          <p:cNvSpPr/>
          <p:nvPr/>
        </p:nvSpPr>
        <p:spPr>
          <a:xfrm>
            <a:off x="731520" y="1600200"/>
            <a:ext cx="7680960" cy="27432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Bài 4: Chuyển chuỗi hoa ↔ thường (dùng toupper/tolower)</a:t>
            </a:r>
            <a:endParaRPr lang="en-US" sz="1100" dirty="0"/>
          </a:p>
        </p:txBody>
      </p:sp>
      <p:sp>
        <p:nvSpPr>
          <p:cNvPr id="12" name="Text 10"/>
          <p:cNvSpPr/>
          <p:nvPr/>
        </p:nvSpPr>
        <p:spPr>
          <a:xfrm>
            <a:off x="731520" y="1892808"/>
            <a:ext cx="7680960" cy="27432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Bài 5: Đếm số từ trong chuỗi (đếm khoảng trắng + 1)</a:t>
            </a:r>
            <a:endParaRPr lang="en-US" sz="1100" dirty="0"/>
          </a:p>
        </p:txBody>
      </p:sp>
      <p:sp>
        <p:nvSpPr>
          <p:cNvPr id="13" name="Text 11"/>
          <p:cNvSpPr/>
          <p:nvPr/>
        </p:nvSpPr>
        <p:spPr>
          <a:xfrm>
            <a:off x="731520" y="2185416"/>
            <a:ext cx="7680960" cy="27432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Bài 6: So sánh 2 chuỗi KHÔNG dùng strcmp (duyệt từng ký tự)</a:t>
            </a:r>
            <a:endParaRPr lang="en-US" sz="1100" dirty="0"/>
          </a:p>
        </p:txBody>
      </p:sp>
      <p:sp>
        <p:nvSpPr>
          <p:cNvPr id="14" name="Shape 12"/>
          <p:cNvSpPr/>
          <p:nvPr/>
        </p:nvSpPr>
        <p:spPr>
          <a:xfrm>
            <a:off x="457200" y="2606040"/>
            <a:ext cx="8229600" cy="320040"/>
          </a:xfrm>
          <a:prstGeom prst="rect">
            <a:avLst/>
          </a:prstGeom>
          <a:solidFill>
            <a:srgbClr val="C62828"/>
          </a:solidFill>
          <a:ln/>
        </p:spPr>
      </p:sp>
      <p:sp>
        <p:nvSpPr>
          <p:cNvPr id="15" name="Text 13"/>
          <p:cNvSpPr/>
          <p:nvPr/>
        </p:nvSpPr>
        <p:spPr>
          <a:xfrm>
            <a:off x="594360" y="2615184"/>
            <a:ext cx="7955280" cy="301752"/>
          </a:xfrm>
          <a:prstGeom prst="rect">
            <a:avLst/>
          </a:prstGeom>
          <a:noFill/>
          <a:ln/>
        </p:spPr>
        <p:txBody>
          <a:bodyPr wrap="square"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LAB 3 — THỬ THÁCH (Optional — Cộng điểm thưởng!)</a:t>
            </a:r>
            <a:endParaRPr lang="en-US" sz="1200" dirty="0"/>
          </a:p>
        </p:txBody>
      </p:sp>
      <p:sp>
        <p:nvSpPr>
          <p:cNvPr id="16" name="Text 14"/>
          <p:cNvSpPr/>
          <p:nvPr/>
        </p:nvSpPr>
        <p:spPr>
          <a:xfrm>
            <a:off x="731520" y="2971800"/>
            <a:ext cx="7680960" cy="27432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Bài 7: Tìm ký tự xuất hiện nhiều nhất (mảng đếm tần suất ASCII)</a:t>
            </a:r>
            <a:endParaRPr lang="en-US" sz="1100" dirty="0"/>
          </a:p>
        </p:txBody>
      </p:sp>
      <p:sp>
        <p:nvSpPr>
          <p:cNvPr id="17" name="Text 15"/>
          <p:cNvSpPr/>
          <p:nvPr/>
        </p:nvSpPr>
        <p:spPr>
          <a:xfrm>
            <a:off x="731520" y="3264408"/>
            <a:ext cx="7680960" cy="27432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Bài 8: Sắp xếp ký tự theo thứ tự ABC (Bubble Sort trên mảng char)</a:t>
            </a:r>
            <a:endParaRPr lang="en-US" sz="1100" dirty="0"/>
          </a:p>
        </p:txBody>
      </p:sp>
      <p:sp>
        <p:nvSpPr>
          <p:cNvPr id="18" name="Text 16"/>
          <p:cNvSpPr/>
          <p:nvPr/>
        </p:nvSpPr>
        <p:spPr>
          <a:xfrm>
            <a:off x="731520" y="3557016"/>
            <a:ext cx="7680960" cy="27432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Bài 9: Tìm từ dài nhất và ngắn nhất trong chuỗi</a:t>
            </a:r>
            <a:endParaRPr lang="en-US" sz="1100" dirty="0"/>
          </a:p>
        </p:txBody>
      </p:sp>
      <p:sp>
        <p:nvSpPr>
          <p:cNvPr id="19" name="Shape 17"/>
          <p:cNvSpPr/>
          <p:nvPr/>
        </p:nvSpPr>
        <p:spPr>
          <a:xfrm>
            <a:off x="457200" y="3977640"/>
            <a:ext cx="8229600" cy="548640"/>
          </a:xfrm>
          <a:prstGeom prst="rect">
            <a:avLst/>
          </a:prstGeom>
          <a:solidFill>
            <a:srgbClr val="E3F2FD"/>
          </a:solidFill>
          <a:ln/>
          <a:effectLst>
            <a:outerShdw blurRad="38100" dist="12700" dir="8100000" algn="bl" rotWithShape="0">
              <a:srgbClr val="000000">
                <a:alpha val="8000"/>
              </a:srgbClr>
            </a:outerShdw>
          </a:effectLst>
        </p:spPr>
      </p:sp>
      <p:sp>
        <p:nvSpPr>
          <p:cNvPr id="20" name="Shape 18"/>
          <p:cNvSpPr/>
          <p:nvPr/>
        </p:nvSpPr>
        <p:spPr>
          <a:xfrm>
            <a:off x="457200" y="3977640"/>
            <a:ext cx="54864" cy="548640"/>
          </a:xfrm>
          <a:prstGeom prst="rect">
            <a:avLst/>
          </a:prstGeom>
          <a:solidFill>
            <a:srgbClr val="1565C0"/>
          </a:solidFill>
          <a:ln/>
        </p:spPr>
      </p:sp>
      <p:sp>
        <p:nvSpPr>
          <p:cNvPr id="21" name="Text 19"/>
          <p:cNvSpPr/>
          <p:nvPr/>
        </p:nvSpPr>
        <p:spPr>
          <a:xfrm>
            <a:off x="640080" y="4023360"/>
            <a:ext cx="7863840" cy="457200"/>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Bài tập về nhà: Bài đề nghị 1-7 trong ebook (phần 7.7) — nộp trước buổi sau</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V: TỔNG KẾT</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21</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Bản Đồ Chương 7 — Mọi Thứ Cần Nhớ</a:t>
            </a:r>
            <a:endParaRPr lang="en-US" sz="2200" dirty="0"/>
          </a:p>
        </p:txBody>
      </p:sp>
      <p:sp>
        <p:nvSpPr>
          <p:cNvPr id="9" name="Shape 7"/>
          <p:cNvSpPr/>
          <p:nvPr/>
        </p:nvSpPr>
        <p:spPr>
          <a:xfrm>
            <a:off x="457200" y="1234440"/>
            <a:ext cx="8229600" cy="457200"/>
          </a:xfrm>
          <a:prstGeom prst="rect">
            <a:avLst/>
          </a:prstGeom>
          <a:solidFill>
            <a:srgbClr val="1B2558"/>
          </a:solidFill>
          <a:ln/>
        </p:spPr>
      </p:sp>
      <p:sp>
        <p:nvSpPr>
          <p:cNvPr id="10" name="Text 8"/>
          <p:cNvSpPr/>
          <p:nvPr/>
        </p:nvSpPr>
        <p:spPr>
          <a:xfrm>
            <a:off x="594360" y="1280160"/>
            <a:ext cx="795528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Chuỗi = Mảng char + '\0'     |     Nhập: fgets (an toàn)     |     Xử lý: Đo - Sánh - Nối - Chép - Tìm</a:t>
            </a:r>
            <a:endParaRPr lang="en-US" sz="1100" dirty="0"/>
          </a:p>
        </p:txBody>
      </p:sp>
      <p:sp>
        <p:nvSpPr>
          <p:cNvPr id="11" name="Shape 9"/>
          <p:cNvSpPr/>
          <p:nvPr/>
        </p:nvSpPr>
        <p:spPr>
          <a:xfrm>
            <a:off x="457200" y="1828800"/>
            <a:ext cx="8229600" cy="320040"/>
          </a:xfrm>
          <a:prstGeom prst="rect">
            <a:avLst/>
          </a:prstGeom>
          <a:solidFill>
            <a:srgbClr val="C62828"/>
          </a:solidFill>
          <a:ln/>
        </p:spPr>
      </p:sp>
      <p:sp>
        <p:nvSpPr>
          <p:cNvPr id="12" name="Text 10"/>
          <p:cNvSpPr/>
          <p:nvPr/>
        </p:nvSpPr>
        <p:spPr>
          <a:xfrm>
            <a:off x="594360" y="1847088"/>
            <a:ext cx="7955280" cy="283464"/>
          </a:xfrm>
          <a:prstGeom prst="rect">
            <a:avLst/>
          </a:prstGeom>
          <a:noFill/>
          <a:ln/>
        </p:spPr>
        <p:txBody>
          <a:bodyPr wrap="square"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5 LỖI KINH ĐIỂN CẦN TRÁNH</a:t>
            </a:r>
            <a:endParaRPr lang="en-US" sz="1200" dirty="0"/>
          </a:p>
        </p:txBody>
      </p:sp>
      <p:sp>
        <p:nvSpPr>
          <p:cNvPr id="13" name="Shape 11"/>
          <p:cNvSpPr/>
          <p:nvPr/>
        </p:nvSpPr>
        <p:spPr>
          <a:xfrm>
            <a:off x="457200" y="2240280"/>
            <a:ext cx="8229600" cy="384048"/>
          </a:xfrm>
          <a:prstGeom prst="rect">
            <a:avLst/>
          </a:prstGeom>
          <a:solidFill>
            <a:srgbClr val="FFEBEE"/>
          </a:solidFill>
          <a:ln/>
          <a:effectLst>
            <a:outerShdw blurRad="38100" dist="12700" dir="8100000" algn="bl" rotWithShape="0">
              <a:srgbClr val="000000">
                <a:alpha val="8000"/>
              </a:srgbClr>
            </a:outerShdw>
          </a:effectLst>
        </p:spPr>
      </p:sp>
      <p:sp>
        <p:nvSpPr>
          <p:cNvPr id="14" name="Shape 12"/>
          <p:cNvSpPr/>
          <p:nvPr/>
        </p:nvSpPr>
        <p:spPr>
          <a:xfrm>
            <a:off x="594360" y="2240280"/>
            <a:ext cx="384048" cy="384048"/>
          </a:xfrm>
          <a:prstGeom prst="ellipse">
            <a:avLst/>
          </a:prstGeom>
          <a:solidFill>
            <a:srgbClr val="C62828"/>
          </a:solidFill>
          <a:ln/>
        </p:spPr>
      </p:sp>
      <p:sp>
        <p:nvSpPr>
          <p:cNvPr id="15" name="Text 13"/>
          <p:cNvSpPr/>
          <p:nvPr/>
        </p:nvSpPr>
        <p:spPr>
          <a:xfrm>
            <a:off x="594360" y="224028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6" name="Text 14"/>
          <p:cNvSpPr/>
          <p:nvPr/>
        </p:nvSpPr>
        <p:spPr>
          <a:xfrm>
            <a:off x="1097280" y="2258568"/>
            <a:ext cx="7406640" cy="347472"/>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Quên '\0' khi khai báo thủ công → buffer overflow</a:t>
            </a:r>
            <a:endParaRPr lang="en-US" sz="1100" dirty="0"/>
          </a:p>
        </p:txBody>
      </p:sp>
      <p:sp>
        <p:nvSpPr>
          <p:cNvPr id="17" name="Shape 15"/>
          <p:cNvSpPr/>
          <p:nvPr/>
        </p:nvSpPr>
        <p:spPr>
          <a:xfrm>
            <a:off x="457200" y="2679192"/>
            <a:ext cx="8229600" cy="384048"/>
          </a:xfrm>
          <a:prstGeom prst="rect">
            <a:avLst/>
          </a:prstGeom>
          <a:solidFill>
            <a:srgbClr val="F5F6FA"/>
          </a:solidFill>
          <a:ln/>
          <a:effectLst>
            <a:outerShdw blurRad="38100" dist="12700" dir="8100000" algn="bl" rotWithShape="0">
              <a:srgbClr val="000000">
                <a:alpha val="8000"/>
              </a:srgbClr>
            </a:outerShdw>
          </a:effectLst>
        </p:spPr>
      </p:sp>
      <p:sp>
        <p:nvSpPr>
          <p:cNvPr id="18" name="Shape 16"/>
          <p:cNvSpPr/>
          <p:nvPr/>
        </p:nvSpPr>
        <p:spPr>
          <a:xfrm>
            <a:off x="594360" y="2679192"/>
            <a:ext cx="384048" cy="384048"/>
          </a:xfrm>
          <a:prstGeom prst="ellipse">
            <a:avLst/>
          </a:prstGeom>
          <a:solidFill>
            <a:srgbClr val="E65100"/>
          </a:solidFill>
          <a:ln/>
        </p:spPr>
      </p:sp>
      <p:sp>
        <p:nvSpPr>
          <p:cNvPr id="19" name="Text 17"/>
          <p:cNvSpPr/>
          <p:nvPr/>
        </p:nvSpPr>
        <p:spPr>
          <a:xfrm>
            <a:off x="594360" y="2679192"/>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0" name="Text 18"/>
          <p:cNvSpPr/>
          <p:nvPr/>
        </p:nvSpPr>
        <p:spPr>
          <a:xfrm>
            <a:off x="1097280" y="2697480"/>
            <a:ext cx="7406640" cy="347472"/>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Dùng == thay vì strcmp() để so sánh chuỗi</a:t>
            </a:r>
            <a:endParaRPr lang="en-US" sz="1100" dirty="0"/>
          </a:p>
        </p:txBody>
      </p:sp>
      <p:sp>
        <p:nvSpPr>
          <p:cNvPr id="21" name="Shape 19"/>
          <p:cNvSpPr/>
          <p:nvPr/>
        </p:nvSpPr>
        <p:spPr>
          <a:xfrm>
            <a:off x="457200" y="3118104"/>
            <a:ext cx="8229600" cy="384048"/>
          </a:xfrm>
          <a:prstGeom prst="rect">
            <a:avLst/>
          </a:prstGeom>
          <a:solidFill>
            <a:srgbClr val="FFEBEE"/>
          </a:solidFill>
          <a:ln/>
          <a:effectLst>
            <a:outerShdw blurRad="38100" dist="12700" dir="8100000" algn="bl" rotWithShape="0">
              <a:srgbClr val="000000">
                <a:alpha val="8000"/>
              </a:srgbClr>
            </a:outerShdw>
          </a:effectLst>
        </p:spPr>
      </p:sp>
      <p:sp>
        <p:nvSpPr>
          <p:cNvPr id="22" name="Shape 20"/>
          <p:cNvSpPr/>
          <p:nvPr/>
        </p:nvSpPr>
        <p:spPr>
          <a:xfrm>
            <a:off x="594360" y="3118104"/>
            <a:ext cx="384048" cy="384048"/>
          </a:xfrm>
          <a:prstGeom prst="ellipse">
            <a:avLst/>
          </a:prstGeom>
          <a:solidFill>
            <a:srgbClr val="E65100"/>
          </a:solidFill>
          <a:ln/>
        </p:spPr>
      </p:sp>
      <p:sp>
        <p:nvSpPr>
          <p:cNvPr id="23" name="Text 21"/>
          <p:cNvSpPr/>
          <p:nvPr/>
        </p:nvSpPr>
        <p:spPr>
          <a:xfrm>
            <a:off x="594360" y="3118104"/>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2"/>
          <p:cNvSpPr/>
          <p:nvPr/>
        </p:nvSpPr>
        <p:spPr>
          <a:xfrm>
            <a:off x="1097280" y="3136392"/>
            <a:ext cx="7406640" cy="347472"/>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Dùng = thay vì strcpy() để gán chuỗi</a:t>
            </a:r>
            <a:endParaRPr lang="en-US" sz="1100" dirty="0"/>
          </a:p>
        </p:txBody>
      </p:sp>
      <p:sp>
        <p:nvSpPr>
          <p:cNvPr id="25" name="Shape 23"/>
          <p:cNvSpPr/>
          <p:nvPr/>
        </p:nvSpPr>
        <p:spPr>
          <a:xfrm>
            <a:off x="457200" y="3557016"/>
            <a:ext cx="8229600" cy="384048"/>
          </a:xfrm>
          <a:prstGeom prst="rect">
            <a:avLst/>
          </a:prstGeom>
          <a:solidFill>
            <a:srgbClr val="F5F6FA"/>
          </a:solidFill>
          <a:ln/>
          <a:effectLst>
            <a:outerShdw blurRad="38100" dist="12700" dir="8100000" algn="bl" rotWithShape="0">
              <a:srgbClr val="000000">
                <a:alpha val="8000"/>
              </a:srgbClr>
            </a:outerShdw>
          </a:effectLst>
        </p:spPr>
      </p:sp>
      <p:sp>
        <p:nvSpPr>
          <p:cNvPr id="26" name="Shape 24"/>
          <p:cNvSpPr/>
          <p:nvPr/>
        </p:nvSpPr>
        <p:spPr>
          <a:xfrm>
            <a:off x="594360" y="3557016"/>
            <a:ext cx="384048" cy="384048"/>
          </a:xfrm>
          <a:prstGeom prst="ellipse">
            <a:avLst/>
          </a:prstGeom>
          <a:solidFill>
            <a:srgbClr val="1565C0"/>
          </a:solidFill>
          <a:ln/>
        </p:spPr>
      </p:sp>
      <p:sp>
        <p:nvSpPr>
          <p:cNvPr id="27" name="Text 25"/>
          <p:cNvSpPr/>
          <p:nvPr/>
        </p:nvSpPr>
        <p:spPr>
          <a:xfrm>
            <a:off x="594360" y="3557016"/>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1097280" y="3575304"/>
            <a:ext cx="7406640" cy="347472"/>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Mảng đích không đủ chỗ khi gọi strcat/strcpy</a:t>
            </a:r>
            <a:endParaRPr lang="en-US" sz="1100" dirty="0"/>
          </a:p>
        </p:txBody>
      </p:sp>
      <p:sp>
        <p:nvSpPr>
          <p:cNvPr id="29" name="Shape 27"/>
          <p:cNvSpPr/>
          <p:nvPr/>
        </p:nvSpPr>
        <p:spPr>
          <a:xfrm>
            <a:off x="457200" y="3995928"/>
            <a:ext cx="8229600" cy="384048"/>
          </a:xfrm>
          <a:prstGeom prst="rect">
            <a:avLst/>
          </a:prstGeom>
          <a:solidFill>
            <a:srgbClr val="FFEBEE"/>
          </a:solidFill>
          <a:ln/>
          <a:effectLst>
            <a:outerShdw blurRad="38100" dist="12700" dir="8100000" algn="bl" rotWithShape="0">
              <a:srgbClr val="000000">
                <a:alpha val="8000"/>
              </a:srgbClr>
            </a:outerShdw>
          </a:effectLst>
        </p:spPr>
      </p:sp>
      <p:sp>
        <p:nvSpPr>
          <p:cNvPr id="30" name="Shape 28"/>
          <p:cNvSpPr/>
          <p:nvPr/>
        </p:nvSpPr>
        <p:spPr>
          <a:xfrm>
            <a:off x="594360" y="3995928"/>
            <a:ext cx="384048" cy="384048"/>
          </a:xfrm>
          <a:prstGeom prst="ellipse">
            <a:avLst/>
          </a:prstGeom>
          <a:solidFill>
            <a:srgbClr val="1B2558"/>
          </a:solidFill>
          <a:ln/>
        </p:spPr>
      </p:sp>
      <p:sp>
        <p:nvSpPr>
          <p:cNvPr id="31" name="Text 29"/>
          <p:cNvSpPr/>
          <p:nvPr/>
        </p:nvSpPr>
        <p:spPr>
          <a:xfrm>
            <a:off x="594360" y="3995928"/>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p:nvPr/>
        </p:nvSpPr>
        <p:spPr>
          <a:xfrm>
            <a:off x="1097280" y="4014216"/>
            <a:ext cx="7406640" cy="347472"/>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Dùng gets() — đã bị loại bỏ, phải dùng fgets()</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2558"/>
          </a:solidFill>
          <a:ln/>
        </p:spPr>
      </p:sp>
      <p:sp>
        <p:nvSpPr>
          <p:cNvPr id="3" name="Text 1"/>
          <p:cNvSpPr/>
          <p:nvPr/>
        </p:nvSpPr>
        <p:spPr>
          <a:xfrm>
            <a:off x="457200" y="45720"/>
            <a:ext cx="6400800" cy="457200"/>
          </a:xfrm>
          <a:prstGeom prst="rect">
            <a:avLst/>
          </a:prstGeom>
          <a:noFill/>
          <a:ln/>
        </p:spPr>
        <p:txBody>
          <a:bodyPr wrap="square" rtlCol="0" anchor="ctr"/>
          <a:lstStyle/>
          <a:p>
            <a:pPr marL="0" indent="0">
              <a:buNone/>
            </a:pPr>
            <a:r>
              <a:rPr lang="en-US" sz="1300" b="1" kern="0" spc="200" dirty="0">
                <a:solidFill>
                  <a:srgbClr val="FFFFFF"/>
                </a:solidFill>
                <a:latin typeface="Georgia" pitchFamily="34" charset="0"/>
                <a:ea typeface="Georgia" pitchFamily="34" charset="-122"/>
                <a:cs typeface="Georgia" pitchFamily="34" charset="-120"/>
              </a:rPr>
              <a:t>PHẦN V: CẦU NỐI</a:t>
            </a:r>
            <a:endParaRPr lang="en-US" sz="1300" dirty="0"/>
          </a:p>
        </p:txBody>
      </p:sp>
      <p:sp>
        <p:nvSpPr>
          <p:cNvPr id="4" name="Text 2"/>
          <p:cNvSpPr/>
          <p:nvPr/>
        </p:nvSpPr>
        <p:spPr>
          <a:xfrm>
            <a:off x="5029200" y="45720"/>
            <a:ext cx="3840480" cy="457200"/>
          </a:xfrm>
          <a:prstGeom prst="rect">
            <a:avLst/>
          </a:prstGeom>
          <a:noFill/>
          <a:ln/>
        </p:spPr>
        <p:txBody>
          <a:bodyPr wrap="square" rtlCol="0" anchor="ctr"/>
          <a:lstStyle/>
          <a:p>
            <a:pPr marL="0" indent="0" algn="r">
              <a:buNone/>
            </a:pPr>
            <a:r>
              <a:rPr lang="en-US" sz="800" dirty="0">
                <a:solidFill>
                  <a:srgbClr val="AAAAAA"/>
                </a:solidFill>
                <a:latin typeface="Calibri" pitchFamily="34" charset="0"/>
                <a:ea typeface="Calibri" pitchFamily="34" charset="-122"/>
                <a:cs typeface="Calibri" pitchFamily="34" charset="-120"/>
              </a:rPr>
              <a:t>Cơ sở lập trình (ITS318) — Chương 7</a:t>
            </a:r>
            <a:endParaRPr lang="en-US" sz="800" dirty="0"/>
          </a:p>
        </p:txBody>
      </p:sp>
      <p:sp>
        <p:nvSpPr>
          <p:cNvPr id="5" name="Shape 3"/>
          <p:cNvSpPr/>
          <p:nvPr/>
        </p:nvSpPr>
        <p:spPr>
          <a:xfrm>
            <a:off x="0" y="4800600"/>
            <a:ext cx="9144000" cy="342900"/>
          </a:xfrm>
          <a:prstGeom prst="rect">
            <a:avLst/>
          </a:prstGeom>
          <a:solidFill>
            <a:srgbClr val="1B2558"/>
          </a:solidFill>
          <a:ln/>
        </p:spPr>
      </p:sp>
      <p:sp>
        <p:nvSpPr>
          <p:cNvPr id="6" name="Text 4"/>
          <p:cNvSpPr/>
          <p:nvPr/>
        </p:nvSpPr>
        <p:spPr>
          <a:xfrm>
            <a:off x="8229600" y="4818888"/>
            <a:ext cx="73152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22</a:t>
            </a:r>
            <a:endParaRPr lang="en-US" sz="1000" dirty="0"/>
          </a:p>
        </p:txBody>
      </p:sp>
      <p:sp>
        <p:nvSpPr>
          <p:cNvPr id="7" name="Text 5"/>
          <p:cNvSpPr/>
          <p:nvPr/>
        </p:nvSpPr>
        <p:spPr>
          <a:xfrm>
            <a:off x="457200" y="4818888"/>
            <a:ext cx="2743200" cy="301752"/>
          </a:xfrm>
          <a:prstGeom prst="rect">
            <a:avLst/>
          </a:prstGeom>
          <a:noFill/>
          <a:ln/>
        </p:spPr>
        <p:txBody>
          <a:bodyPr wrap="square" rtlCol="0" anchor="ctr"/>
          <a:lstStyle/>
          <a:p>
            <a:r>
              <a:rPr lang="en-US" sz="800" dirty="0">
                <a:solidFill>
                  <a:srgbClr val="AAAAAA"/>
                </a:solidFill>
                <a:latin typeface="Calibri" pitchFamily="34" charset="0"/>
                <a:ea typeface="Calibri" pitchFamily="34" charset="-122"/>
                <a:cs typeface="Calibri" pitchFamily="34" charset="-120"/>
              </a:rPr>
              <a:t>Giảng viên</a:t>
            </a:r>
            <a:r>
              <a:rPr lang="en-US" sz="800">
                <a:solidFill>
                  <a:srgbClr val="AAAAAA"/>
                </a:solidFill>
                <a:latin typeface="Calibri" pitchFamily="34" charset="0"/>
                <a:ea typeface="Calibri" pitchFamily="34" charset="-122"/>
                <a:cs typeface="Calibri" pitchFamily="34" charset="-120"/>
              </a:rPr>
              <a:t>: Phó Hải Đăng</a:t>
            </a:r>
            <a:endParaRPr lang="en-US" sz="800" dirty="0"/>
          </a:p>
        </p:txBody>
      </p:sp>
      <p:sp>
        <p:nvSpPr>
          <p:cNvPr id="8" name="Text 6"/>
          <p:cNvSpPr/>
          <p:nvPr/>
        </p:nvSpPr>
        <p:spPr>
          <a:xfrm>
            <a:off x="457200" y="640080"/>
            <a:ext cx="8229600" cy="502920"/>
          </a:xfrm>
          <a:prstGeom prst="rect">
            <a:avLst/>
          </a:prstGeom>
          <a:noFill/>
          <a:ln/>
        </p:spPr>
        <p:txBody>
          <a:bodyPr wrap="square" rtlCol="0" anchor="ctr"/>
          <a:lstStyle/>
          <a:p>
            <a:pPr marL="0" indent="0">
              <a:buNone/>
            </a:pPr>
            <a:r>
              <a:rPr lang="en-US" sz="2200" b="1" dirty="0">
                <a:solidFill>
                  <a:srgbClr val="C62828"/>
                </a:solidFill>
                <a:latin typeface="Georgia" pitchFamily="34" charset="0"/>
                <a:ea typeface="Georgia" pitchFamily="34" charset="-122"/>
                <a:cs typeface="Georgia" pitchFamily="34" charset="-120"/>
              </a:rPr>
              <a:t>Từ Chuỗi Đơn Lẻ Đến "Bộ Dữ Liệu" Hoàn Chỉnh</a:t>
            </a:r>
            <a:endParaRPr lang="en-US" sz="2200" dirty="0"/>
          </a:p>
        </p:txBody>
      </p:sp>
      <p:sp>
        <p:nvSpPr>
          <p:cNvPr id="9" name="Shape 7"/>
          <p:cNvSpPr/>
          <p:nvPr/>
        </p:nvSpPr>
        <p:spPr>
          <a:xfrm>
            <a:off x="457200" y="1234440"/>
            <a:ext cx="3931920" cy="3383280"/>
          </a:xfrm>
          <a:prstGeom prst="rect">
            <a:avLst/>
          </a:prstGeom>
          <a:solidFill>
            <a:srgbClr val="E3F2FD"/>
          </a:solidFill>
          <a:ln/>
          <a:effectLst>
            <a:outerShdw blurRad="50800" dist="25400" dir="8100000" algn="bl" rotWithShape="0">
              <a:srgbClr val="000000">
                <a:alpha val="10000"/>
              </a:srgbClr>
            </a:outerShdw>
          </a:effectLst>
        </p:spPr>
      </p:sp>
      <p:sp>
        <p:nvSpPr>
          <p:cNvPr id="10" name="Shape 8"/>
          <p:cNvSpPr/>
          <p:nvPr/>
        </p:nvSpPr>
        <p:spPr>
          <a:xfrm>
            <a:off x="457200" y="1234440"/>
            <a:ext cx="54864" cy="3383280"/>
          </a:xfrm>
          <a:prstGeom prst="rect">
            <a:avLst/>
          </a:prstGeom>
          <a:solidFill>
            <a:srgbClr val="1565C0"/>
          </a:solidFill>
          <a:ln/>
        </p:spPr>
      </p:sp>
      <p:sp>
        <p:nvSpPr>
          <p:cNvPr id="11" name="Text 9"/>
          <p:cNvSpPr/>
          <p:nvPr/>
        </p:nvSpPr>
        <p:spPr>
          <a:xfrm>
            <a:off x="658368" y="1344168"/>
            <a:ext cx="3566160" cy="365760"/>
          </a:xfrm>
          <a:prstGeom prst="rect">
            <a:avLst/>
          </a:prstGeom>
          <a:noFill/>
          <a:ln/>
        </p:spPr>
        <p:txBody>
          <a:bodyPr wrap="square" rtlCol="0" anchor="ctr"/>
          <a:lstStyle/>
          <a:p>
            <a:pPr marL="0" indent="0">
              <a:buNone/>
            </a:pPr>
            <a:r>
              <a:rPr lang="en-US" sz="1300" b="1" dirty="0">
                <a:solidFill>
                  <a:srgbClr val="1565C0"/>
                </a:solidFill>
                <a:latin typeface="Georgia" pitchFamily="34" charset="0"/>
                <a:ea typeface="Georgia" pitchFamily="34" charset="-122"/>
                <a:cs typeface="Georgia" pitchFamily="34" charset="-120"/>
              </a:rPr>
              <a:t>HÔM NAY — Chương 7</a:t>
            </a:r>
            <a:endParaRPr lang="en-US" sz="1300" dirty="0"/>
          </a:p>
        </p:txBody>
      </p:sp>
      <p:sp>
        <p:nvSpPr>
          <p:cNvPr id="12" name="Text 10"/>
          <p:cNvSpPr/>
          <p:nvPr/>
        </p:nvSpPr>
        <p:spPr>
          <a:xfrm>
            <a:off x="658368" y="1737360"/>
            <a:ext cx="3566160" cy="2743200"/>
          </a:xfrm>
          <a:prstGeom prst="rect">
            <a:avLst/>
          </a:prstGeom>
          <a:noFill/>
          <a:ln/>
        </p:spPr>
        <p:txBody>
          <a:bodyPr wrap="square" rtlCol="0" anchor="ctr"/>
          <a:lstStyle/>
          <a:p>
            <a:pPr marL="0" indent="0">
              <a:lnSpc>
                <a:spcPct val="125000"/>
              </a:lnSpc>
              <a:buNone/>
            </a:pPr>
            <a:r>
              <a:rPr lang="en-US" sz="1600" dirty="0">
                <a:solidFill>
                  <a:srgbClr val="212121"/>
                </a:solidFill>
                <a:latin typeface="Calibri" pitchFamily="34" charset="0"/>
                <a:ea typeface="Calibri" pitchFamily="34" charset="-122"/>
                <a:cs typeface="Calibri" pitchFamily="34" charset="-120"/>
              </a:rPr>
              <a:t>Lưu trữ và xử lý MỘT thông tin dạng chữ:</a:t>
            </a:r>
            <a:endParaRPr lang="en-US" sz="1600" dirty="0"/>
          </a:p>
          <a:p>
            <a:pPr marL="0" indent="0">
              <a:lnSpc>
                <a:spcPct val="125000"/>
              </a:lnSpc>
              <a:buNone/>
            </a:pPr>
            <a:endParaRPr lang="en-US" sz="1600" dirty="0"/>
          </a:p>
          <a:p>
            <a:pPr marL="0" indent="0">
              <a:lnSpc>
                <a:spcPct val="125000"/>
              </a:lnSpc>
              <a:buNone/>
            </a:pPr>
            <a:r>
              <a:rPr lang="en-US" sz="1600" dirty="0">
                <a:solidFill>
                  <a:srgbClr val="212121"/>
                </a:solidFill>
                <a:latin typeface="Calibri" pitchFamily="34" charset="0"/>
                <a:ea typeface="Calibri" pitchFamily="34" charset="-122"/>
                <a:cs typeface="Calibri" pitchFamily="34" charset="-120"/>
              </a:rPr>
              <a:t>char ten[30] = "Nguyen Van A";</a:t>
            </a:r>
            <a:endParaRPr lang="en-US" sz="1600" dirty="0"/>
          </a:p>
          <a:p>
            <a:pPr marL="0" indent="0">
              <a:lnSpc>
                <a:spcPct val="125000"/>
              </a:lnSpc>
              <a:buNone/>
            </a:pPr>
            <a:r>
              <a:rPr lang="en-US" sz="1600" dirty="0">
                <a:solidFill>
                  <a:srgbClr val="212121"/>
                </a:solidFill>
                <a:latin typeface="Calibri" pitchFamily="34" charset="0"/>
                <a:ea typeface="Calibri" pitchFamily="34" charset="-122"/>
                <a:cs typeface="Calibri" pitchFamily="34" charset="-120"/>
              </a:rPr>
              <a:t>int tuoi = 20;</a:t>
            </a:r>
            <a:endParaRPr lang="en-US" sz="1600" dirty="0"/>
          </a:p>
          <a:p>
            <a:pPr marL="0" indent="0">
              <a:lnSpc>
                <a:spcPct val="125000"/>
              </a:lnSpc>
              <a:buNone/>
            </a:pPr>
            <a:r>
              <a:rPr lang="en-US" sz="1600" dirty="0">
                <a:solidFill>
                  <a:srgbClr val="212121"/>
                </a:solidFill>
                <a:latin typeface="Calibri" pitchFamily="34" charset="0"/>
                <a:ea typeface="Calibri" pitchFamily="34" charset="-122"/>
                <a:cs typeface="Calibri" pitchFamily="34" charset="-120"/>
              </a:rPr>
              <a:t>float diem = 8.5;</a:t>
            </a:r>
            <a:endParaRPr lang="en-US" sz="1600" dirty="0"/>
          </a:p>
          <a:p>
            <a:pPr marL="0" indent="0">
              <a:lnSpc>
                <a:spcPct val="125000"/>
              </a:lnSpc>
              <a:buNone/>
            </a:pPr>
            <a:endParaRPr lang="en-US" sz="1600" dirty="0"/>
          </a:p>
          <a:p>
            <a:pPr marL="0" indent="0">
              <a:lnSpc>
                <a:spcPct val="125000"/>
              </a:lnSpc>
              <a:buNone/>
            </a:pPr>
            <a:r>
              <a:rPr lang="en-US" sz="1600" dirty="0">
                <a:solidFill>
                  <a:srgbClr val="212121"/>
                </a:solidFill>
                <a:latin typeface="Calibri" pitchFamily="34" charset="0"/>
                <a:ea typeface="Calibri" pitchFamily="34" charset="-122"/>
                <a:cs typeface="Calibri" pitchFamily="34" charset="-120"/>
              </a:rPr>
              <a:t>→ Ba biến riêng lẻ, không liên kết</a:t>
            </a:r>
            <a:endParaRPr lang="en-US" sz="1600" dirty="0"/>
          </a:p>
        </p:txBody>
      </p:sp>
      <p:sp>
        <p:nvSpPr>
          <p:cNvPr id="13" name="Text 11"/>
          <p:cNvSpPr/>
          <p:nvPr/>
        </p:nvSpPr>
        <p:spPr>
          <a:xfrm>
            <a:off x="4389120" y="2651760"/>
            <a:ext cx="365760" cy="548640"/>
          </a:xfrm>
          <a:prstGeom prst="rect">
            <a:avLst/>
          </a:prstGeom>
          <a:noFill/>
          <a:ln/>
        </p:spPr>
        <p:txBody>
          <a:bodyPr wrap="square" rtlCol="0" anchor="ctr"/>
          <a:lstStyle/>
          <a:p>
            <a:pPr marL="0" indent="0" algn="ctr">
              <a:buNone/>
            </a:pPr>
            <a:r>
              <a:rPr lang="en-US" sz="2400" b="1" dirty="0">
                <a:solidFill>
                  <a:srgbClr val="1B2558"/>
                </a:solidFill>
                <a:latin typeface="Calibri" pitchFamily="34" charset="0"/>
                <a:ea typeface="Calibri" pitchFamily="34" charset="-122"/>
                <a:cs typeface="Calibri" pitchFamily="34" charset="-120"/>
              </a:rPr>
              <a:t>→</a:t>
            </a:r>
            <a:endParaRPr lang="en-US" sz="2400" dirty="0"/>
          </a:p>
        </p:txBody>
      </p:sp>
      <p:sp>
        <p:nvSpPr>
          <p:cNvPr id="14" name="Shape 12"/>
          <p:cNvSpPr/>
          <p:nvPr/>
        </p:nvSpPr>
        <p:spPr>
          <a:xfrm>
            <a:off x="4754880" y="1234440"/>
            <a:ext cx="3931920" cy="3383280"/>
          </a:xfrm>
          <a:prstGeom prst="rect">
            <a:avLst/>
          </a:prstGeom>
          <a:solidFill>
            <a:srgbClr val="E8F5E9"/>
          </a:solidFill>
          <a:ln/>
          <a:effectLst>
            <a:outerShdw blurRad="50800" dist="25400" dir="8100000" algn="bl" rotWithShape="0">
              <a:srgbClr val="000000">
                <a:alpha val="10000"/>
              </a:srgbClr>
            </a:outerShdw>
          </a:effectLst>
        </p:spPr>
      </p:sp>
      <p:sp>
        <p:nvSpPr>
          <p:cNvPr id="15" name="Shape 13"/>
          <p:cNvSpPr/>
          <p:nvPr/>
        </p:nvSpPr>
        <p:spPr>
          <a:xfrm>
            <a:off x="4754880" y="1234440"/>
            <a:ext cx="54864" cy="3383280"/>
          </a:xfrm>
          <a:prstGeom prst="rect">
            <a:avLst/>
          </a:prstGeom>
          <a:solidFill>
            <a:srgbClr val="2E7D32"/>
          </a:solidFill>
          <a:ln/>
        </p:spPr>
      </p:sp>
      <p:sp>
        <p:nvSpPr>
          <p:cNvPr id="16" name="Text 14"/>
          <p:cNvSpPr/>
          <p:nvPr/>
        </p:nvSpPr>
        <p:spPr>
          <a:xfrm>
            <a:off x="4956048" y="1344168"/>
            <a:ext cx="3566160" cy="365760"/>
          </a:xfrm>
          <a:prstGeom prst="rect">
            <a:avLst/>
          </a:prstGeom>
          <a:noFill/>
          <a:ln/>
        </p:spPr>
        <p:txBody>
          <a:bodyPr wrap="square" rtlCol="0" anchor="ctr"/>
          <a:lstStyle/>
          <a:p>
            <a:pPr marL="0" indent="0">
              <a:buNone/>
            </a:pPr>
            <a:r>
              <a:rPr lang="en-US" sz="1300" b="1" dirty="0">
                <a:solidFill>
                  <a:srgbClr val="2E7D32"/>
                </a:solidFill>
                <a:latin typeface="Georgia" pitchFamily="34" charset="0"/>
                <a:ea typeface="Georgia" pitchFamily="34" charset="-122"/>
                <a:cs typeface="Georgia" pitchFamily="34" charset="-120"/>
              </a:rPr>
              <a:t>SẮP TỚI — Chương 8: struct</a:t>
            </a:r>
            <a:endParaRPr lang="en-US" sz="1300" dirty="0"/>
          </a:p>
        </p:txBody>
      </p:sp>
      <p:sp>
        <p:nvSpPr>
          <p:cNvPr id="17" name="Text 15"/>
          <p:cNvSpPr/>
          <p:nvPr/>
        </p:nvSpPr>
        <p:spPr>
          <a:xfrm>
            <a:off x="4956048" y="1737360"/>
            <a:ext cx="3566160" cy="2743200"/>
          </a:xfrm>
          <a:prstGeom prst="rect">
            <a:avLst/>
          </a:prstGeom>
          <a:noFill/>
          <a:ln/>
        </p:spPr>
        <p:txBody>
          <a:bodyPr wrap="square" rtlCol="0" anchor="ctr"/>
          <a:lstStyle/>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Gom tất cả vào MỘT biến duy nhất:</a:t>
            </a:r>
            <a:endParaRPr lang="en-US" sz="1400" dirty="0"/>
          </a:p>
          <a:p>
            <a:pPr marL="0" indent="0">
              <a:lnSpc>
                <a:spcPct val="125000"/>
              </a:lnSpc>
              <a:buNone/>
            </a:pPr>
            <a:endParaRPr lang="en-US" sz="1400" dirty="0"/>
          </a:p>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struct SinhVien {</a:t>
            </a:r>
            <a:endParaRPr lang="en-US" sz="1400" dirty="0"/>
          </a:p>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  char ten[30];</a:t>
            </a:r>
            <a:endParaRPr lang="en-US" sz="1400" dirty="0"/>
          </a:p>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  int tuoi;</a:t>
            </a:r>
            <a:endParaRPr lang="en-US" sz="1400" dirty="0"/>
          </a:p>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  float diem;</a:t>
            </a:r>
            <a:endParaRPr lang="en-US" sz="1400" dirty="0"/>
          </a:p>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a:t>
            </a:r>
            <a:endParaRPr lang="en-US" sz="1400" dirty="0"/>
          </a:p>
          <a:p>
            <a:pPr marL="0" indent="0">
              <a:lnSpc>
                <a:spcPct val="125000"/>
              </a:lnSpc>
              <a:buNone/>
            </a:pPr>
            <a:endParaRPr lang="en-US" sz="1400" dirty="0"/>
          </a:p>
          <a:p>
            <a:pPr marL="0" indent="0">
              <a:lnSpc>
                <a:spcPct val="125000"/>
              </a:lnSpc>
              <a:buNone/>
            </a:pPr>
            <a:r>
              <a:rPr lang="en-US" sz="1400" dirty="0">
                <a:solidFill>
                  <a:srgbClr val="212121"/>
                </a:solidFill>
                <a:latin typeface="Calibri" pitchFamily="34" charset="0"/>
                <a:ea typeface="Calibri" pitchFamily="34" charset="-122"/>
                <a:cs typeface="Calibri" pitchFamily="34" charset="-120"/>
              </a:rPr>
              <a:t>→ Kiểu dữ liệu tùy chỉnh!</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55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457200" y="1097280"/>
            <a:ext cx="8229600" cy="1280160"/>
          </a:xfrm>
          <a:prstGeom prst="rect">
            <a:avLst/>
          </a:prstGeom>
          <a:noFill/>
          <a:ln/>
        </p:spPr>
        <p:txBody>
          <a:bodyPr wrap="square" rtlCol="0" anchor="ctr"/>
          <a:lstStyle/>
          <a:p>
            <a:pPr marL="0" indent="0" algn="ctr">
              <a:lnSpc>
                <a:spcPct val="140000"/>
              </a:lnSpc>
              <a:buNone/>
            </a:pPr>
            <a:r>
              <a:rPr lang="en-US" sz="2600" b="1" dirty="0">
                <a:solidFill>
                  <a:srgbClr val="FFFFFF"/>
                </a:solidFill>
                <a:latin typeface="Georgia" pitchFamily="34" charset="0"/>
                <a:ea typeface="Georgia" pitchFamily="34" charset="-122"/>
                <a:cs typeface="Georgia" pitchFamily="34" charset="-120"/>
              </a:rPr>
              <a:t>CHUỖI = MẢNG CHAR + '\0'</a:t>
            </a:r>
            <a:endParaRPr lang="en-US" sz="2600" dirty="0"/>
          </a:p>
          <a:p>
            <a:pPr marL="0" indent="0" algn="ctr">
              <a:lnSpc>
                <a:spcPct val="140000"/>
              </a:lnSpc>
              <a:buNone/>
            </a:pPr>
            <a:r>
              <a:rPr lang="en-US" sz="2600" b="1" dirty="0">
                <a:solidFill>
                  <a:srgbClr val="FFFFFF"/>
                </a:solidFill>
                <a:latin typeface="Georgia" pitchFamily="34" charset="0"/>
                <a:ea typeface="Georgia" pitchFamily="34" charset="-122"/>
                <a:cs typeface="Georgia" pitchFamily="34" charset="-120"/>
              </a:rPr>
              <a:t>THƯ VIỆN STRING.H LÀ CHÌA KHÓA</a:t>
            </a:r>
            <a:endParaRPr lang="en-US" sz="2600" dirty="0"/>
          </a:p>
        </p:txBody>
      </p:sp>
      <p:sp>
        <p:nvSpPr>
          <p:cNvPr id="4" name="Shape 2"/>
          <p:cNvSpPr/>
          <p:nvPr/>
        </p:nvSpPr>
        <p:spPr>
          <a:xfrm>
            <a:off x="2743200" y="2560320"/>
            <a:ext cx="3657600" cy="27432"/>
          </a:xfrm>
          <a:prstGeom prst="rect">
            <a:avLst/>
          </a:prstGeom>
          <a:solidFill>
            <a:srgbClr val="F9A825"/>
          </a:solidFill>
          <a:ln/>
        </p:spPr>
      </p:sp>
      <p:sp>
        <p:nvSpPr>
          <p:cNvPr id="5" name="Text 3"/>
          <p:cNvSpPr/>
          <p:nvPr/>
        </p:nvSpPr>
        <p:spPr>
          <a:xfrm>
            <a:off x="457200" y="2834640"/>
            <a:ext cx="8229600" cy="822960"/>
          </a:xfrm>
          <a:prstGeom prst="rect">
            <a:avLst/>
          </a:prstGeom>
          <a:noFill/>
          <a:ln/>
        </p:spPr>
        <p:txBody>
          <a:bodyPr wrap="square" rtlCol="0" anchor="ctr"/>
          <a:lstStyle/>
          <a:p>
            <a:pPr marL="0" indent="0" algn="ctr">
              <a:lnSpc>
                <a:spcPct val="140000"/>
              </a:lnSpc>
              <a:buNone/>
            </a:pPr>
            <a:r>
              <a:rPr lang="en-US" sz="1600" i="1" dirty="0">
                <a:solidFill>
                  <a:srgbClr val="F9A825"/>
                </a:solidFill>
                <a:latin typeface="Calibri" pitchFamily="34" charset="0"/>
                <a:ea typeface="Calibri" pitchFamily="34" charset="-122"/>
                <a:cs typeface="Calibri" pitchFamily="34" charset="-120"/>
              </a:rPr>
              <a:t>Hẹn gặp lại lớp mình ở Chương 8</a:t>
            </a:r>
            <a:endParaRPr lang="en-US" sz="1600" dirty="0"/>
          </a:p>
          <a:p>
            <a:pPr marL="0" indent="0" algn="ctr">
              <a:lnSpc>
                <a:spcPct val="140000"/>
              </a:lnSpc>
              <a:buNone/>
            </a:pPr>
            <a:r>
              <a:rPr lang="en-US" sz="1600" i="1" dirty="0">
                <a:solidFill>
                  <a:srgbClr val="F9A825"/>
                </a:solidFill>
                <a:latin typeface="Calibri" pitchFamily="34" charset="0"/>
                <a:ea typeface="Calibri" pitchFamily="34" charset="-122"/>
                <a:cs typeface="Calibri" pitchFamily="34" charset="-120"/>
              </a:rPr>
              <a:t>Kiểu Cấu Trúc (struct)!</a:t>
            </a:r>
            <a:endParaRPr lang="en-US" sz="1600" dirty="0"/>
          </a:p>
        </p:txBody>
      </p:sp>
      <p:sp>
        <p:nvSpPr>
          <p:cNvPr id="6" name="Text 4"/>
          <p:cNvSpPr/>
          <p:nvPr/>
        </p:nvSpPr>
        <p:spPr>
          <a:xfrm>
            <a:off x="457200" y="3840480"/>
            <a:ext cx="8229600" cy="320040"/>
          </a:xfrm>
          <a:prstGeom prst="rect">
            <a:avLst/>
          </a:prstGeom>
          <a:noFill/>
          <a:ln/>
        </p:spPr>
        <p:txBody>
          <a:bodyPr wrap="square" rtlCol="0" anchor="ctr"/>
          <a:lstStyle/>
          <a:p>
            <a:pPr algn="ctr"/>
            <a:r>
              <a:rPr lang="en-US" sz="1400" b="1" dirty="0">
                <a:solidFill>
                  <a:srgbClr val="FFFFFF"/>
                </a:solidFill>
                <a:latin typeface="Calibri" pitchFamily="34" charset="0"/>
                <a:ea typeface="Calibri" pitchFamily="34" charset="-122"/>
                <a:cs typeface="Calibri" pitchFamily="34" charset="-120"/>
              </a:rPr>
              <a:t>Giảng viên</a:t>
            </a:r>
            <a:r>
              <a:rPr lang="en-US" sz="1400" b="1">
                <a:solidFill>
                  <a:srgbClr val="FFFFFF"/>
                </a:solidFill>
                <a:latin typeface="Calibri" pitchFamily="34" charset="0"/>
                <a:ea typeface="Calibri" pitchFamily="34" charset="-122"/>
                <a:cs typeface="Calibri" pitchFamily="34" charset="-120"/>
              </a:rPr>
              <a:t>: Phó Hải Đăng</a:t>
            </a:r>
            <a:endParaRPr lang="en-US" sz="1400" dirty="0"/>
          </a:p>
        </p:txBody>
      </p:sp>
      <p:sp>
        <p:nvSpPr>
          <p:cNvPr id="7" name="Shape 5"/>
          <p:cNvSpPr/>
          <p:nvPr/>
        </p:nvSpPr>
        <p:spPr>
          <a:xfrm>
            <a:off x="0" y="4617720"/>
            <a:ext cx="9144000" cy="525780"/>
          </a:xfrm>
          <a:prstGeom prst="rect">
            <a:avLst/>
          </a:prstGeom>
          <a:solidFill>
            <a:srgbClr val="111A40"/>
          </a:solidFill>
          <a:ln/>
        </p:spPr>
      </p:sp>
      <p:sp>
        <p:nvSpPr>
          <p:cNvPr id="8" name="Text 6"/>
          <p:cNvSpPr/>
          <p:nvPr/>
        </p:nvSpPr>
        <p:spPr>
          <a:xfrm>
            <a:off x="457200" y="4663440"/>
            <a:ext cx="8229600" cy="411480"/>
          </a:xfrm>
          <a:prstGeom prst="rect">
            <a:avLst/>
          </a:prstGeom>
          <a:noFill/>
          <a:ln/>
        </p:spPr>
        <p:txBody>
          <a:bodyPr wrap="square" rtlCol="0" anchor="ctr"/>
          <a:lstStyle/>
          <a:p>
            <a:pPr marL="0" indent="0" algn="ctr">
              <a:buNone/>
            </a:pPr>
            <a:r>
              <a:rPr lang="en-US" sz="1000" dirty="0">
                <a:solidFill>
                  <a:srgbClr val="888888"/>
                </a:solidFill>
                <a:latin typeface="Calibri" pitchFamily="34" charset="0"/>
                <a:ea typeface="Calibri" pitchFamily="34" charset="-122"/>
                <a:cs typeface="Calibri" pitchFamily="34" charset="-120"/>
              </a:rPr>
              <a:t>Khoa Hệ thống thông tin quản lý  |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4324</Words>
  <Application>Microsoft Office PowerPoint</Application>
  <PresentationFormat>On-screen Show (16:9)</PresentationFormat>
  <Paragraphs>460</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7: KIỂU CHUỖI KÝ TỰ</dc:title>
  <dc:subject>PptxGenJS Presentation</dc:subject>
  <dc:creator>Giảng viên: Đăng</dc:creator>
  <cp:lastModifiedBy>Dell XPS 9370</cp:lastModifiedBy>
  <cp:revision>12</cp:revision>
  <dcterms:created xsi:type="dcterms:W3CDTF">2026-06-27T11:28:25Z</dcterms:created>
  <dcterms:modified xsi:type="dcterms:W3CDTF">2026-06-28T10:29:05Z</dcterms:modified>
</cp:coreProperties>
</file>